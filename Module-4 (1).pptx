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9144000"/>
  <p:notesSz cx="6858000" cy="9144000"/>
  <p:embeddedFontLst>
    <p:embeddedFont>
      <p:font typeface="Roboto"/>
      <p:regular r:id="rId52"/>
      <p:bold r:id="rId53"/>
      <p:italic r:id="rId54"/>
      <p:boldItalic r:id="rId55"/>
    </p:embeddedFont>
    <p:embeddedFont>
      <p:font typeface="Nunito"/>
      <p:regular r:id="rId56"/>
      <p:bold r:id="rId57"/>
      <p:italic r:id="rId58"/>
      <p:boldItalic r:id="rId59"/>
    </p:embeddedFont>
    <p:embeddedFont>
      <p:font typeface="Oswald"/>
      <p:regular r:id="rId60"/>
      <p:bold r:id="rId61"/>
    </p:embeddedFont>
    <p:embeddedFont>
      <p:font typeface="Century Gothic"/>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66" roundtripDataSignature="AMtx7mhfk9B2yOaITvQcuu20f06R0L91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D0EA8F-781D-44B6-A3E9-48BEDCEB77DF}">
  <a:tblStyle styleId="{D3D0EA8F-781D-44B6-A3E9-48BEDCEB77D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enturyGothic-regular.fntdata"/><Relationship Id="rId61" Type="http://schemas.openxmlformats.org/officeDocument/2006/relationships/font" Target="fonts/Oswald-bold.fntdata"/><Relationship Id="rId20" Type="http://schemas.openxmlformats.org/officeDocument/2006/relationships/slide" Target="slides/slide14.xml"/><Relationship Id="rId64" Type="http://schemas.openxmlformats.org/officeDocument/2006/relationships/font" Target="fonts/CenturyGothic-italic.fntdata"/><Relationship Id="rId63" Type="http://schemas.openxmlformats.org/officeDocument/2006/relationships/font" Target="fonts/CenturyGothic-bold.fntdata"/><Relationship Id="rId22" Type="http://schemas.openxmlformats.org/officeDocument/2006/relationships/slide" Target="slides/slide16.xml"/><Relationship Id="rId66" Type="http://customschemas.google.com/relationships/presentationmetadata" Target="metadata"/><Relationship Id="rId21" Type="http://schemas.openxmlformats.org/officeDocument/2006/relationships/slide" Target="slides/slide15.xml"/><Relationship Id="rId65" Type="http://schemas.openxmlformats.org/officeDocument/2006/relationships/font" Target="fonts/CenturyGothic-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swald-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5.xml"/><Relationship Id="rId55" Type="http://schemas.openxmlformats.org/officeDocument/2006/relationships/font" Target="fonts/Roboto-boldItalic.fntdata"/><Relationship Id="rId10" Type="http://schemas.openxmlformats.org/officeDocument/2006/relationships/slide" Target="slides/slide4.xml"/><Relationship Id="rId54" Type="http://schemas.openxmlformats.org/officeDocument/2006/relationships/font" Target="fonts/Roboto-italic.fntdata"/><Relationship Id="rId13" Type="http://schemas.openxmlformats.org/officeDocument/2006/relationships/slide" Target="slides/slide7.xml"/><Relationship Id="rId57" Type="http://schemas.openxmlformats.org/officeDocument/2006/relationships/font" Target="fonts/Nunito-bold.fntdata"/><Relationship Id="rId12" Type="http://schemas.openxmlformats.org/officeDocument/2006/relationships/slide" Target="slides/slide6.xml"/><Relationship Id="rId56" Type="http://schemas.openxmlformats.org/officeDocument/2006/relationships/font" Target="fonts/Nunito-regular.fntdata"/><Relationship Id="rId15" Type="http://schemas.openxmlformats.org/officeDocument/2006/relationships/slide" Target="slides/slide9.xml"/><Relationship Id="rId59" Type="http://schemas.openxmlformats.org/officeDocument/2006/relationships/font" Target="fonts/Nunito-boldItalic.fntdata"/><Relationship Id="rId14" Type="http://schemas.openxmlformats.org/officeDocument/2006/relationships/slide" Target="slides/slide8.xml"/><Relationship Id="rId58" Type="http://schemas.openxmlformats.org/officeDocument/2006/relationships/font" Target="fonts/Nuni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360a5a6ccf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360a5a6cc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360a5a6ccf_2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360a5a6ccf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360a5a6ccf_2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360a5a6ccf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360a5a6ccf_2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360a5a6ccf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60a5a6ccf_2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360a5a6ccf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360a5a6ccf_2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360a5a6ccf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360a5a6ccf_2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360a5a6ccf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360a5a6ccf_2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360a5a6ccf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360a5a6ccf_2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360a5a6ccf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c1e31685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c1e3168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363da3e35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363da3e3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363da3e35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363da3e35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363da3e35d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363da3e35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363da3e35d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363da3e35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363da3e35d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363da3e35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363da3e35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363da3e35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363da3e35d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363da3e35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363da3e35d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363da3e35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363da3e35d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363da3e35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363da3e35d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363da3e35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363da3e35d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363da3e35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363da3e35d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363da3e35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363da3e35d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363da3e35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363da3e35d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363da3e35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363da3e35d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363da3e35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363da3e35d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363da3e35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363da3e35d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363da3e35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363da3e35d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363da3e35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363da3e35d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363da3e35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3a9ba1101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3a9ba110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3a9ba11011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3a9ba1101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3a9ba1101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3a9ba1101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3a9ba1101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3a9ba110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3a9ba11011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3a9ba1101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3a9ba11011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3a9ba1101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3a9ba11011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3a9ba1101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3a9ba1101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3a9ba1101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3a9ba11011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3a9ba1101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3a9ba11011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3a9ba1101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3a9ba11011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3a9ba1101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3a9ba11011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3a9ba1101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3a9ba11011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3a9ba1101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grpSp>
        <p:nvGrpSpPr>
          <p:cNvPr id="54" name="Google Shape;54;p5"/>
          <p:cNvGrpSpPr/>
          <p:nvPr/>
        </p:nvGrpSpPr>
        <p:grpSpPr>
          <a:xfrm>
            <a:off x="-644959" y="0"/>
            <a:ext cx="10458653" cy="7117071"/>
            <a:chOff x="-644959" y="0"/>
            <a:chExt cx="10458653" cy="7117071"/>
          </a:xfrm>
        </p:grpSpPr>
        <p:grpSp>
          <p:nvGrpSpPr>
            <p:cNvPr id="55" name="Google Shape;55;p5"/>
            <p:cNvGrpSpPr/>
            <p:nvPr/>
          </p:nvGrpSpPr>
          <p:grpSpPr>
            <a:xfrm>
              <a:off x="0" y="0"/>
              <a:ext cx="9144000" cy="6858000"/>
              <a:chOff x="0" y="0"/>
              <a:chExt cx="9144000" cy="6858000"/>
            </a:xfrm>
          </p:grpSpPr>
          <p:grpSp>
            <p:nvGrpSpPr>
              <p:cNvPr id="56" name="Google Shape;56;p5"/>
              <p:cNvGrpSpPr/>
              <p:nvPr/>
            </p:nvGrpSpPr>
            <p:grpSpPr>
              <a:xfrm>
                <a:off x="0" y="0"/>
                <a:ext cx="2514600" cy="6858000"/>
                <a:chOff x="0" y="0"/>
                <a:chExt cx="2514600" cy="6858000"/>
              </a:xfrm>
            </p:grpSpPr>
            <p:sp>
              <p:nvSpPr>
                <p:cNvPr id="57" name="Google Shape;57;p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8" name="Google Shape;58;p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9" name="Google Shape;59;p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0" name="Google Shape;60;p5"/>
              <p:cNvGrpSpPr/>
              <p:nvPr/>
            </p:nvGrpSpPr>
            <p:grpSpPr>
              <a:xfrm>
                <a:off x="422910" y="0"/>
                <a:ext cx="2514600" cy="6858000"/>
                <a:chOff x="0" y="0"/>
                <a:chExt cx="2514600" cy="6858000"/>
              </a:xfrm>
            </p:grpSpPr>
            <p:sp>
              <p:nvSpPr>
                <p:cNvPr id="61" name="Google Shape;61;p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4" name="Google Shape;64;p5"/>
              <p:cNvGrpSpPr/>
              <p:nvPr/>
            </p:nvGrpSpPr>
            <p:grpSpPr>
              <a:xfrm rot="10800000">
                <a:off x="6629400" y="0"/>
                <a:ext cx="2514600" cy="6858000"/>
                <a:chOff x="0" y="0"/>
                <a:chExt cx="2514600" cy="6858000"/>
              </a:xfrm>
            </p:grpSpPr>
            <p:sp>
              <p:nvSpPr>
                <p:cNvPr id="65" name="Google Shape;65;p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6" name="Google Shape;66;p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7" name="Google Shape;67;p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68" name="Google Shape;68;p5"/>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9" name="Google Shape;69;p5"/>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0" name="Google Shape;70;p5"/>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1" name="Google Shape;71;p5"/>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2" name="Google Shape;72;p5"/>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3" name="Google Shape;73;p5"/>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4" name="Google Shape;74;p5"/>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5" name="Google Shape;75;p5"/>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6" name="Google Shape;76;p5"/>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7" name="Google Shape;77;p5"/>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8" name="Google Shape;78;p5"/>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9" name="Google Shape;79;p5"/>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0" name="Google Shape;80;p5"/>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5"/>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2" name="Google Shape;82;p5"/>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3" name="Google Shape;83;p5"/>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5"/>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5"/>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5"/>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5"/>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5"/>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5"/>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5"/>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5"/>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5"/>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93" name="Google Shape;93;p5"/>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5"/>
          <p:cNvSpPr/>
          <p:nvPr/>
        </p:nvSpPr>
        <p:spPr>
          <a:xfrm>
            <a:off x="4649096" y="-21511"/>
            <a:ext cx="3505200" cy="23128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5"/>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368"/>
              <a:buNone/>
              <a:defRPr sz="1800">
                <a:solidFill>
                  <a:srgbClr val="424242"/>
                </a:solidFill>
              </a:defRPr>
            </a:lvl1pPr>
            <a:lvl2pPr lvl="1" algn="ctr">
              <a:spcBef>
                <a:spcPts val="440"/>
              </a:spcBef>
              <a:spcAft>
                <a:spcPts val="0"/>
              </a:spcAft>
              <a:buSzPts val="1672"/>
              <a:buNone/>
              <a:defRPr>
                <a:solidFill>
                  <a:srgbClr val="888888"/>
                </a:solidFill>
              </a:defRPr>
            </a:lvl2pPr>
            <a:lvl3pPr lvl="2" algn="ctr">
              <a:spcBef>
                <a:spcPts val="400"/>
              </a:spcBef>
              <a:spcAft>
                <a:spcPts val="0"/>
              </a:spcAft>
              <a:buSzPts val="1520"/>
              <a:buNone/>
              <a:defRPr>
                <a:solidFill>
                  <a:srgbClr val="888888"/>
                </a:solidFill>
              </a:defRPr>
            </a:lvl3pPr>
            <a:lvl4pPr lvl="3" algn="ctr">
              <a:spcBef>
                <a:spcPts val="360"/>
              </a:spcBef>
              <a:spcAft>
                <a:spcPts val="0"/>
              </a:spcAft>
              <a:buSzPts val="1368"/>
              <a:buNone/>
              <a:defRPr>
                <a:solidFill>
                  <a:srgbClr val="888888"/>
                </a:solidFill>
              </a:defRPr>
            </a:lvl4pPr>
            <a:lvl5pPr lvl="4" algn="ctr">
              <a:spcBef>
                <a:spcPts val="320"/>
              </a:spcBef>
              <a:spcAft>
                <a:spcPts val="0"/>
              </a:spcAft>
              <a:buSzPts val="1216"/>
              <a:buNone/>
              <a:defRPr>
                <a:solidFill>
                  <a:srgbClr val="888888"/>
                </a:solidFill>
              </a:defRPr>
            </a:lvl5pPr>
            <a:lvl6pPr lvl="5" algn="ctr">
              <a:spcBef>
                <a:spcPts val="280"/>
              </a:spcBef>
              <a:spcAft>
                <a:spcPts val="0"/>
              </a:spcAft>
              <a:buSzPts val="1064"/>
              <a:buNone/>
              <a:defRPr>
                <a:solidFill>
                  <a:srgbClr val="888888"/>
                </a:solidFill>
              </a:defRPr>
            </a:lvl6pPr>
            <a:lvl7pPr lvl="6" algn="ctr">
              <a:spcBef>
                <a:spcPts val="280"/>
              </a:spcBef>
              <a:spcAft>
                <a:spcPts val="0"/>
              </a:spcAft>
              <a:buSzPts val="1064"/>
              <a:buNone/>
              <a:defRPr>
                <a:solidFill>
                  <a:srgbClr val="888888"/>
                </a:solidFill>
              </a:defRPr>
            </a:lvl7pPr>
            <a:lvl8pPr lvl="7" algn="ctr">
              <a:spcBef>
                <a:spcPts val="280"/>
              </a:spcBef>
              <a:spcAft>
                <a:spcPts val="0"/>
              </a:spcAft>
              <a:buSzPts val="1064"/>
              <a:buNone/>
              <a:defRPr>
                <a:solidFill>
                  <a:srgbClr val="888888"/>
                </a:solidFill>
              </a:defRPr>
            </a:lvl8pPr>
            <a:lvl9pPr lvl="8" algn="ctr">
              <a:spcBef>
                <a:spcPts val="280"/>
              </a:spcBef>
              <a:spcAft>
                <a:spcPts val="0"/>
              </a:spcAft>
              <a:buSzPts val="1064"/>
              <a:buNone/>
              <a:defRPr>
                <a:solidFill>
                  <a:srgbClr val="888888"/>
                </a:solidFill>
              </a:defRPr>
            </a:lvl9pPr>
          </a:lstStyle>
          <a:p/>
        </p:txBody>
      </p:sp>
      <p:sp>
        <p:nvSpPr>
          <p:cNvPr id="97" name="Google Shape;97;p5"/>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5"/>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Century Gothic"/>
                <a:ea typeface="Century Gothic"/>
                <a:cs typeface="Century Gothic"/>
                <a:sym typeface="Century Gothic"/>
              </a:defRPr>
            </a:lvl1pPr>
            <a:lvl2pPr indent="0" lvl="1" marL="0" algn="l">
              <a:spcBef>
                <a:spcPts val="0"/>
              </a:spcBef>
              <a:buNone/>
              <a:defRPr b="0" i="0" sz="1200" u="none" cap="none" strike="noStrike">
                <a:solidFill>
                  <a:schemeClr val="accent1"/>
                </a:solidFill>
                <a:latin typeface="Century Gothic"/>
                <a:ea typeface="Century Gothic"/>
                <a:cs typeface="Century Gothic"/>
                <a:sym typeface="Century Gothic"/>
              </a:defRPr>
            </a:lvl2pPr>
            <a:lvl3pPr indent="0" lvl="2" marL="0" algn="l">
              <a:spcBef>
                <a:spcPts val="0"/>
              </a:spcBef>
              <a:buNone/>
              <a:defRPr b="0" i="0" sz="1200" u="none" cap="none" strike="noStrike">
                <a:solidFill>
                  <a:schemeClr val="accent1"/>
                </a:solidFill>
                <a:latin typeface="Century Gothic"/>
                <a:ea typeface="Century Gothic"/>
                <a:cs typeface="Century Gothic"/>
                <a:sym typeface="Century Gothic"/>
              </a:defRPr>
            </a:lvl3pPr>
            <a:lvl4pPr indent="0" lvl="3" marL="0" algn="l">
              <a:spcBef>
                <a:spcPts val="0"/>
              </a:spcBef>
              <a:buNone/>
              <a:defRPr b="0" i="0" sz="1200" u="none" cap="none" strike="noStrike">
                <a:solidFill>
                  <a:schemeClr val="accent1"/>
                </a:solidFill>
                <a:latin typeface="Century Gothic"/>
                <a:ea typeface="Century Gothic"/>
                <a:cs typeface="Century Gothic"/>
                <a:sym typeface="Century Gothic"/>
              </a:defRPr>
            </a:lvl4pPr>
            <a:lvl5pPr indent="0" lvl="4" marL="0" algn="l">
              <a:spcBef>
                <a:spcPts val="0"/>
              </a:spcBef>
              <a:buNone/>
              <a:defRPr b="0" i="0" sz="1200" u="none" cap="none" strike="noStrike">
                <a:solidFill>
                  <a:schemeClr val="accent1"/>
                </a:solidFill>
                <a:latin typeface="Century Gothic"/>
                <a:ea typeface="Century Gothic"/>
                <a:cs typeface="Century Gothic"/>
                <a:sym typeface="Century Gothic"/>
              </a:defRPr>
            </a:lvl5pPr>
            <a:lvl6pPr indent="0" lvl="5" marL="0" algn="l">
              <a:spcBef>
                <a:spcPts val="0"/>
              </a:spcBef>
              <a:buNone/>
              <a:defRPr b="0" i="0" sz="1200" u="none" cap="none" strike="noStrike">
                <a:solidFill>
                  <a:schemeClr val="accent1"/>
                </a:solidFill>
                <a:latin typeface="Century Gothic"/>
                <a:ea typeface="Century Gothic"/>
                <a:cs typeface="Century Gothic"/>
                <a:sym typeface="Century Gothic"/>
              </a:defRPr>
            </a:lvl6pPr>
            <a:lvl7pPr indent="0" lvl="6" marL="0" algn="l">
              <a:spcBef>
                <a:spcPts val="0"/>
              </a:spcBef>
              <a:buNone/>
              <a:defRPr b="0" i="0" sz="1200" u="none" cap="none" strike="noStrike">
                <a:solidFill>
                  <a:schemeClr val="accent1"/>
                </a:solidFill>
                <a:latin typeface="Century Gothic"/>
                <a:ea typeface="Century Gothic"/>
                <a:cs typeface="Century Gothic"/>
                <a:sym typeface="Century Gothic"/>
              </a:defRPr>
            </a:lvl7pPr>
            <a:lvl8pPr indent="0" lvl="7" marL="0" algn="l">
              <a:spcBef>
                <a:spcPts val="0"/>
              </a:spcBef>
              <a:buNone/>
              <a:defRPr b="0" i="0" sz="1200" u="none" cap="none" strike="noStrike">
                <a:solidFill>
                  <a:schemeClr val="accent1"/>
                </a:solidFill>
                <a:latin typeface="Century Gothic"/>
                <a:ea typeface="Century Gothic"/>
                <a:cs typeface="Century Gothic"/>
                <a:sym typeface="Century Gothic"/>
              </a:defRPr>
            </a:lvl8pPr>
            <a:lvl9pPr indent="0" lvl="8" marL="0" algn="l">
              <a:spcBef>
                <a:spcPts val="0"/>
              </a:spcBef>
              <a:buNone/>
              <a:defRPr b="0" i="0" sz="1200" u="none" cap="none" strike="noStrike">
                <a:solidFill>
                  <a:schemeClr val="accen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
        <p:nvSpPr>
          <p:cNvPr id="101" name="Google Shape;101;p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6"/>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05" name="Google Shape;105;p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7"/>
          <p:cNvSpPr txBox="1"/>
          <p:nvPr>
            <p:ph type="title"/>
          </p:nvPr>
        </p:nvSpPr>
        <p:spPr>
          <a:xfrm>
            <a:off x="1258645" y="2900829"/>
            <a:ext cx="6637468"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7"/>
          <p:cNvSpPr txBox="1"/>
          <p:nvPr>
            <p:ph idx="1" type="body"/>
          </p:nvPr>
        </p:nvSpPr>
        <p:spPr>
          <a:xfrm>
            <a:off x="1258645" y="4267200"/>
            <a:ext cx="6637467" cy="1520413"/>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20"/>
              <a:buNone/>
              <a:defRPr sz="2000">
                <a:solidFill>
                  <a:srgbClr val="888888"/>
                </a:solidFill>
              </a:defRPr>
            </a:lvl1pPr>
            <a:lvl2pPr indent="-228600" lvl="1" marL="914400" algn="l">
              <a:spcBef>
                <a:spcPts val="360"/>
              </a:spcBef>
              <a:spcAft>
                <a:spcPts val="0"/>
              </a:spcAft>
              <a:buSzPts val="1368"/>
              <a:buNone/>
              <a:defRPr sz="1800">
                <a:solidFill>
                  <a:srgbClr val="888888"/>
                </a:solidFill>
              </a:defRPr>
            </a:lvl2pPr>
            <a:lvl3pPr indent="-228600" lvl="2" marL="1371600" algn="l">
              <a:spcBef>
                <a:spcPts val="320"/>
              </a:spcBef>
              <a:spcAft>
                <a:spcPts val="0"/>
              </a:spcAft>
              <a:buSzPts val="1216"/>
              <a:buNone/>
              <a:defRPr sz="1600">
                <a:solidFill>
                  <a:srgbClr val="888888"/>
                </a:solidFill>
              </a:defRPr>
            </a:lvl3pPr>
            <a:lvl4pPr indent="-228600" lvl="3" marL="1828800" algn="l">
              <a:spcBef>
                <a:spcPts val="280"/>
              </a:spcBef>
              <a:spcAft>
                <a:spcPts val="0"/>
              </a:spcAft>
              <a:buSzPts val="1064"/>
              <a:buNone/>
              <a:defRPr sz="1400">
                <a:solidFill>
                  <a:srgbClr val="888888"/>
                </a:solidFill>
              </a:defRPr>
            </a:lvl4pPr>
            <a:lvl5pPr indent="-228600" lvl="4" marL="2286000" algn="l">
              <a:spcBef>
                <a:spcPts val="280"/>
              </a:spcBef>
              <a:spcAft>
                <a:spcPts val="0"/>
              </a:spcAft>
              <a:buSzPts val="1064"/>
              <a:buNone/>
              <a:defRPr sz="1400">
                <a:solidFill>
                  <a:srgbClr val="888888"/>
                </a:solidFill>
              </a:defRPr>
            </a:lvl5pPr>
            <a:lvl6pPr indent="-228600" lvl="5" marL="2743200" algn="l">
              <a:spcBef>
                <a:spcPts val="280"/>
              </a:spcBef>
              <a:spcAft>
                <a:spcPts val="0"/>
              </a:spcAft>
              <a:buSzPts val="1064"/>
              <a:buNone/>
              <a:defRPr sz="1400">
                <a:solidFill>
                  <a:srgbClr val="888888"/>
                </a:solidFill>
              </a:defRPr>
            </a:lvl6pPr>
            <a:lvl7pPr indent="-228600" lvl="6" marL="3200400" algn="l">
              <a:spcBef>
                <a:spcPts val="280"/>
              </a:spcBef>
              <a:spcAft>
                <a:spcPts val="0"/>
              </a:spcAft>
              <a:buSzPts val="1064"/>
              <a:buNone/>
              <a:defRPr sz="1400">
                <a:solidFill>
                  <a:srgbClr val="888888"/>
                </a:solidFill>
              </a:defRPr>
            </a:lvl7pPr>
            <a:lvl8pPr indent="-228600" lvl="7" marL="3657600" algn="l">
              <a:spcBef>
                <a:spcPts val="280"/>
              </a:spcBef>
              <a:spcAft>
                <a:spcPts val="0"/>
              </a:spcAft>
              <a:buSzPts val="1064"/>
              <a:buNone/>
              <a:defRPr sz="1400">
                <a:solidFill>
                  <a:srgbClr val="888888"/>
                </a:solidFill>
              </a:defRPr>
            </a:lvl8pPr>
            <a:lvl9pPr indent="-228600" lvl="8" marL="4114800" algn="l">
              <a:spcBef>
                <a:spcPts val="280"/>
              </a:spcBef>
              <a:spcAft>
                <a:spcPts val="0"/>
              </a:spcAft>
              <a:buSzPts val="1064"/>
              <a:buNone/>
              <a:defRPr sz="1400">
                <a:solidFill>
                  <a:srgbClr val="888888"/>
                </a:solidFill>
              </a:defRPr>
            </a:lvl9pPr>
          </a:lstStyle>
          <a:p/>
        </p:txBody>
      </p:sp>
      <p:sp>
        <p:nvSpPr>
          <p:cNvPr id="111" name="Google Shape;111;p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8"/>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19" name="Google Shape;119;p8"/>
          <p:cNvSpPr txBox="1"/>
          <p:nvPr>
            <p:ph idx="1" type="body"/>
          </p:nvPr>
        </p:nvSpPr>
        <p:spPr>
          <a:xfrm>
            <a:off x="1042416" y="2313432"/>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20" name="Google Shape;120;p8"/>
          <p:cNvSpPr txBox="1"/>
          <p:nvPr>
            <p:ph idx="2" type="body"/>
          </p:nvPr>
        </p:nvSpPr>
        <p:spPr>
          <a:xfrm>
            <a:off x="4645152" y="2313431"/>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9"/>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9"/>
          <p:cNvSpPr txBox="1"/>
          <p:nvPr>
            <p:ph idx="1" type="body"/>
          </p:nvPr>
        </p:nvSpPr>
        <p:spPr>
          <a:xfrm>
            <a:off x="1412111" y="2316009"/>
            <a:ext cx="305714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24" name="Google Shape;124;p9"/>
          <p:cNvSpPr txBox="1"/>
          <p:nvPr>
            <p:ph idx="2" type="body"/>
          </p:nvPr>
        </p:nvSpPr>
        <p:spPr>
          <a:xfrm>
            <a:off x="1041721"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25" name="Google Shape;125;p9"/>
          <p:cNvSpPr txBox="1"/>
          <p:nvPr>
            <p:ph idx="3" type="body"/>
          </p:nvPr>
        </p:nvSpPr>
        <p:spPr>
          <a:xfrm>
            <a:off x="5011837" y="2316010"/>
            <a:ext cx="30557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26" name="Google Shape;126;p9"/>
          <p:cNvSpPr txBox="1"/>
          <p:nvPr>
            <p:ph idx="4" type="body"/>
          </p:nvPr>
        </p:nvSpPr>
        <p:spPr>
          <a:xfrm>
            <a:off x="4645152"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27" name="Google Shape;127;p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10"/>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5" name="Shape 135"/>
        <p:cNvGrpSpPr/>
        <p:nvPr/>
      </p:nvGrpSpPr>
      <p:grpSpPr>
        <a:xfrm>
          <a:off x="0" y="0"/>
          <a:ext cx="0" cy="0"/>
          <a:chOff x="0" y="0"/>
          <a:chExt cx="0" cy="0"/>
        </a:xfrm>
      </p:grpSpPr>
      <p:sp>
        <p:nvSpPr>
          <p:cNvPr id="136" name="Google Shape;136;p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grpSp>
        <p:nvGrpSpPr>
          <p:cNvPr id="140" name="Google Shape;140;p12"/>
          <p:cNvGrpSpPr/>
          <p:nvPr/>
        </p:nvGrpSpPr>
        <p:grpSpPr>
          <a:xfrm>
            <a:off x="-644959" y="0"/>
            <a:ext cx="10458653" cy="7117071"/>
            <a:chOff x="-644959" y="0"/>
            <a:chExt cx="10458653" cy="7117071"/>
          </a:xfrm>
        </p:grpSpPr>
        <p:grpSp>
          <p:nvGrpSpPr>
            <p:cNvPr id="141" name="Google Shape;141;p12"/>
            <p:cNvGrpSpPr/>
            <p:nvPr/>
          </p:nvGrpSpPr>
          <p:grpSpPr>
            <a:xfrm>
              <a:off x="0" y="0"/>
              <a:ext cx="9144000" cy="6858000"/>
              <a:chOff x="0" y="0"/>
              <a:chExt cx="9144000" cy="6858000"/>
            </a:xfrm>
          </p:grpSpPr>
          <p:grpSp>
            <p:nvGrpSpPr>
              <p:cNvPr id="142" name="Google Shape;142;p12"/>
              <p:cNvGrpSpPr/>
              <p:nvPr/>
            </p:nvGrpSpPr>
            <p:grpSpPr>
              <a:xfrm>
                <a:off x="0" y="0"/>
                <a:ext cx="2514600" cy="6858000"/>
                <a:chOff x="0" y="0"/>
                <a:chExt cx="2514600" cy="6858000"/>
              </a:xfrm>
            </p:grpSpPr>
            <p:sp>
              <p:nvSpPr>
                <p:cNvPr id="143" name="Google Shape;143;p1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4" name="Google Shape;144;p1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5" name="Google Shape;145;p1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46" name="Google Shape;146;p12"/>
              <p:cNvGrpSpPr/>
              <p:nvPr/>
            </p:nvGrpSpPr>
            <p:grpSpPr>
              <a:xfrm>
                <a:off x="422910" y="0"/>
                <a:ext cx="2514600" cy="6858000"/>
                <a:chOff x="0" y="0"/>
                <a:chExt cx="2514600" cy="6858000"/>
              </a:xfrm>
            </p:grpSpPr>
            <p:sp>
              <p:nvSpPr>
                <p:cNvPr id="147" name="Google Shape;147;p1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8" name="Google Shape;148;p1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9" name="Google Shape;149;p1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50" name="Google Shape;150;p12"/>
              <p:cNvGrpSpPr/>
              <p:nvPr/>
            </p:nvGrpSpPr>
            <p:grpSpPr>
              <a:xfrm rot="10800000">
                <a:off x="6629400" y="0"/>
                <a:ext cx="2514600" cy="6858000"/>
                <a:chOff x="0" y="0"/>
                <a:chExt cx="2514600" cy="6858000"/>
              </a:xfrm>
            </p:grpSpPr>
            <p:sp>
              <p:nvSpPr>
                <p:cNvPr id="151" name="Google Shape;151;p1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2" name="Google Shape;152;p1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3" name="Google Shape;153;p1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54" name="Google Shape;154;p12"/>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5" name="Google Shape;155;p12"/>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6" name="Google Shape;156;p12"/>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57" name="Google Shape;157;p12"/>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58" name="Google Shape;158;p12"/>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59" name="Google Shape;159;p12"/>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60" name="Google Shape;160;p12"/>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61" name="Google Shape;161;p12"/>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62" name="Google Shape;162;p12"/>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3" name="Google Shape;163;p12"/>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4" name="Google Shape;164;p12"/>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5" name="Google Shape;165;p12"/>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6" name="Google Shape;166;p12"/>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7" name="Google Shape;167;p12"/>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8" name="Google Shape;168;p12"/>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9" name="Google Shape;169;p12"/>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0" name="Google Shape;170;p12"/>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1" name="Google Shape;171;p12"/>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2" name="Google Shape;172;p12"/>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3" name="Google Shape;173;p12"/>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4" name="Google Shape;174;p12"/>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5" name="Google Shape;175;p12"/>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6" name="Google Shape;176;p12"/>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7" name="Google Shape;177;p12"/>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8" name="Google Shape;178;p12"/>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79" name="Google Shape;179;p12"/>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0" name="Google Shape;180;p12"/>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1" name="Google Shape;181;p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83" name="Google Shape;183;p12"/>
          <p:cNvSpPr/>
          <p:nvPr/>
        </p:nvSpPr>
        <p:spPr>
          <a:xfrm>
            <a:off x="905571" y="601883"/>
            <a:ext cx="3562257" cy="5648445"/>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4" name="Google Shape;184;p12"/>
          <p:cNvSpPr txBox="1"/>
          <p:nvPr>
            <p:ph idx="1" type="body"/>
          </p:nvPr>
        </p:nvSpPr>
        <p:spPr>
          <a:xfrm>
            <a:off x="1145894" y="856527"/>
            <a:ext cx="3090440" cy="5150734"/>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34772" lvl="1" marL="914400" algn="l">
              <a:spcBef>
                <a:spcPts val="440"/>
              </a:spcBef>
              <a:spcAft>
                <a:spcPts val="0"/>
              </a:spcAft>
              <a:buSzPts val="1672"/>
              <a:buChar char="🞇"/>
              <a:defRPr sz="2200"/>
            </a:lvl2pPr>
            <a:lvl3pPr indent="-325119" lvl="2" marL="1371600" algn="l">
              <a:spcBef>
                <a:spcPts val="400"/>
              </a:spcBef>
              <a:spcAft>
                <a:spcPts val="0"/>
              </a:spcAft>
              <a:buSzPts val="1520"/>
              <a:buChar char="🞇"/>
              <a:defRPr sz="2000"/>
            </a:lvl3pPr>
            <a:lvl4pPr indent="-315467" lvl="3" marL="1828800" algn="l">
              <a:spcBef>
                <a:spcPts val="360"/>
              </a:spcBef>
              <a:spcAft>
                <a:spcPts val="0"/>
              </a:spcAft>
              <a:buSzPts val="1368"/>
              <a:buChar char="🞇"/>
              <a:defRPr sz="1800"/>
            </a:lvl4pPr>
            <a:lvl5pPr indent="-305816" lvl="4" marL="2286000" algn="l">
              <a:spcBef>
                <a:spcPts val="320"/>
              </a:spcBef>
              <a:spcAft>
                <a:spcPts val="0"/>
              </a:spcAft>
              <a:buSzPts val="1216"/>
              <a:buChar char="🞇"/>
              <a:defRPr sz="1600"/>
            </a:lvl5pPr>
            <a:lvl6pPr indent="-325120" lvl="5" marL="2743200" algn="l">
              <a:spcBef>
                <a:spcPts val="400"/>
              </a:spcBef>
              <a:spcAft>
                <a:spcPts val="0"/>
              </a:spcAft>
              <a:buSzPts val="1520"/>
              <a:buChar char="🞇"/>
              <a:defRPr sz="2000"/>
            </a:lvl6pPr>
            <a:lvl7pPr indent="-325120" lvl="6" marL="3200400" algn="l">
              <a:spcBef>
                <a:spcPts val="400"/>
              </a:spcBef>
              <a:spcAft>
                <a:spcPts val="0"/>
              </a:spcAft>
              <a:buSzPts val="1520"/>
              <a:buChar char="🞇"/>
              <a:defRPr sz="2000"/>
            </a:lvl7pPr>
            <a:lvl8pPr indent="-325120" lvl="7" marL="3657600" algn="l">
              <a:spcBef>
                <a:spcPts val="400"/>
              </a:spcBef>
              <a:spcAft>
                <a:spcPts val="0"/>
              </a:spcAft>
              <a:buSzPts val="1520"/>
              <a:buChar char="🞇"/>
              <a:defRPr sz="2000"/>
            </a:lvl8pPr>
            <a:lvl9pPr indent="-325120" lvl="8" marL="4114800" algn="l">
              <a:spcBef>
                <a:spcPts val="400"/>
              </a:spcBef>
              <a:spcAft>
                <a:spcPts val="0"/>
              </a:spcAft>
              <a:buSzPts val="1520"/>
              <a:buChar char="🞇"/>
              <a:defRPr sz="2000"/>
            </a:lvl9pPr>
          </a:lstStyle>
          <a:p/>
        </p:txBody>
      </p:sp>
      <p:sp>
        <p:nvSpPr>
          <p:cNvPr id="185" name="Google Shape;185;p12"/>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6" name="Google Shape;186;p12"/>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2"/>
          <p:cNvSpPr txBox="1"/>
          <p:nvPr>
            <p:ph type="title"/>
          </p:nvPr>
        </p:nvSpPr>
        <p:spPr>
          <a:xfrm>
            <a:off x="4739833" y="2657434"/>
            <a:ext cx="3304572" cy="146315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2"/>
          <p:cNvSpPr txBox="1"/>
          <p:nvPr>
            <p:ph idx="2" type="body"/>
          </p:nvPr>
        </p:nvSpPr>
        <p:spPr>
          <a:xfrm>
            <a:off x="4736592" y="4136994"/>
            <a:ext cx="3298784" cy="1517904"/>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9" name="Shape 189"/>
        <p:cNvGrpSpPr/>
        <p:nvPr/>
      </p:nvGrpSpPr>
      <p:grpSpPr>
        <a:xfrm>
          <a:off x="0" y="0"/>
          <a:ext cx="0" cy="0"/>
          <a:chOff x="0" y="0"/>
          <a:chExt cx="0" cy="0"/>
        </a:xfrm>
      </p:grpSpPr>
      <p:grpSp>
        <p:nvGrpSpPr>
          <p:cNvPr id="190" name="Google Shape;190;p13"/>
          <p:cNvGrpSpPr/>
          <p:nvPr/>
        </p:nvGrpSpPr>
        <p:grpSpPr>
          <a:xfrm>
            <a:off x="-644959" y="0"/>
            <a:ext cx="10458653" cy="7117071"/>
            <a:chOff x="-644959" y="0"/>
            <a:chExt cx="10458653" cy="7117071"/>
          </a:xfrm>
        </p:grpSpPr>
        <p:grpSp>
          <p:nvGrpSpPr>
            <p:cNvPr id="191" name="Google Shape;191;p13"/>
            <p:cNvGrpSpPr/>
            <p:nvPr/>
          </p:nvGrpSpPr>
          <p:grpSpPr>
            <a:xfrm>
              <a:off x="0" y="0"/>
              <a:ext cx="9144000" cy="6858000"/>
              <a:chOff x="0" y="0"/>
              <a:chExt cx="9144000" cy="6858000"/>
            </a:xfrm>
          </p:grpSpPr>
          <p:grpSp>
            <p:nvGrpSpPr>
              <p:cNvPr id="192" name="Google Shape;192;p13"/>
              <p:cNvGrpSpPr/>
              <p:nvPr/>
            </p:nvGrpSpPr>
            <p:grpSpPr>
              <a:xfrm>
                <a:off x="0" y="0"/>
                <a:ext cx="2514600" cy="6858000"/>
                <a:chOff x="0" y="0"/>
                <a:chExt cx="2514600" cy="6858000"/>
              </a:xfrm>
            </p:grpSpPr>
            <p:sp>
              <p:nvSpPr>
                <p:cNvPr id="193" name="Google Shape;193;p13"/>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4" name="Google Shape;194;p13"/>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5" name="Google Shape;195;p13"/>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96" name="Google Shape;196;p13"/>
              <p:cNvGrpSpPr/>
              <p:nvPr/>
            </p:nvGrpSpPr>
            <p:grpSpPr>
              <a:xfrm>
                <a:off x="422910" y="0"/>
                <a:ext cx="2514600" cy="6858000"/>
                <a:chOff x="0" y="0"/>
                <a:chExt cx="2514600" cy="6858000"/>
              </a:xfrm>
            </p:grpSpPr>
            <p:sp>
              <p:nvSpPr>
                <p:cNvPr id="197" name="Google Shape;197;p13"/>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8" name="Google Shape;198;p13"/>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9" name="Google Shape;199;p13"/>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200" name="Google Shape;200;p13"/>
              <p:cNvGrpSpPr/>
              <p:nvPr/>
            </p:nvGrpSpPr>
            <p:grpSpPr>
              <a:xfrm rot="10800000">
                <a:off x="6629400" y="0"/>
                <a:ext cx="2514600" cy="6858000"/>
                <a:chOff x="0" y="0"/>
                <a:chExt cx="2514600" cy="6858000"/>
              </a:xfrm>
            </p:grpSpPr>
            <p:sp>
              <p:nvSpPr>
                <p:cNvPr id="201" name="Google Shape;201;p13"/>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02" name="Google Shape;202;p13"/>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03" name="Google Shape;203;p13"/>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04" name="Google Shape;204;p13"/>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05" name="Google Shape;205;p13"/>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06" name="Google Shape;206;p13"/>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07" name="Google Shape;207;p13"/>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08" name="Google Shape;208;p13"/>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09" name="Google Shape;209;p13"/>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10" name="Google Shape;210;p13"/>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11" name="Google Shape;211;p13"/>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12" name="Google Shape;212;p13"/>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3" name="Google Shape;213;p13"/>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4" name="Google Shape;214;p13"/>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5" name="Google Shape;215;p13"/>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6" name="Google Shape;216;p13"/>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7" name="Google Shape;217;p13"/>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8" name="Google Shape;218;p13"/>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9" name="Google Shape;219;p13"/>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0" name="Google Shape;220;p13"/>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1" name="Google Shape;221;p13"/>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2" name="Google Shape;222;p13"/>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3" name="Google Shape;223;p13"/>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4" name="Google Shape;224;p13"/>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5" name="Google Shape;225;p13"/>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6" name="Google Shape;226;p13"/>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7" name="Google Shape;227;p13"/>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8" name="Google Shape;228;p13"/>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29" name="Google Shape;229;p13"/>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0" name="Google Shape;230;p13"/>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1" name="Google Shape;231;p13"/>
          <p:cNvSpPr/>
          <p:nvPr/>
        </p:nvSpPr>
        <p:spPr>
          <a:xfrm>
            <a:off x="905571" y="601883"/>
            <a:ext cx="3562257" cy="5648445"/>
          </a:xfrm>
          <a:prstGeom prst="rect">
            <a:avLst/>
          </a:prstGeom>
          <a:solidFill>
            <a:srgbClr val="FFFFFF"/>
          </a:solidFill>
          <a:ln cap="flat" cmpd="sng" w="9525">
            <a:solidFill>
              <a:srgbClr val="1E1E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2" name="Google Shape;232;p13"/>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3" name="Google Shape;233;p13"/>
          <p:cNvSpPr txBox="1"/>
          <p:nvPr>
            <p:ph type="title"/>
          </p:nvPr>
        </p:nvSpPr>
        <p:spPr>
          <a:xfrm>
            <a:off x="4734424" y="2660904"/>
            <a:ext cx="3300984" cy="146304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13"/>
          <p:cNvSpPr/>
          <p:nvPr>
            <p:ph idx="2" type="pic"/>
          </p:nvPr>
        </p:nvSpPr>
        <p:spPr>
          <a:xfrm>
            <a:off x="1005208" y="693795"/>
            <a:ext cx="3359623" cy="5468112"/>
          </a:xfrm>
          <a:prstGeom prst="rect">
            <a:avLst/>
          </a:prstGeom>
          <a:noFill/>
          <a:ln>
            <a:noFill/>
          </a:ln>
        </p:spPr>
      </p:sp>
      <p:sp>
        <p:nvSpPr>
          <p:cNvPr id="235" name="Google Shape;235;p13"/>
          <p:cNvSpPr txBox="1"/>
          <p:nvPr>
            <p:ph idx="1" type="body"/>
          </p:nvPr>
        </p:nvSpPr>
        <p:spPr>
          <a:xfrm>
            <a:off x="4734630" y="4133088"/>
            <a:ext cx="3300573" cy="151956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
        <p:nvSpPr>
          <p:cNvPr id="236" name="Google Shape;236;p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13"/>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1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4"/>
          <p:cNvSpPr txBox="1"/>
          <p:nvPr>
            <p:ph idx="1" type="body"/>
          </p:nvPr>
        </p:nvSpPr>
        <p:spPr>
          <a:xfrm rot="5400000">
            <a:off x="2677662" y="689482"/>
            <a:ext cx="3508977" cy="677731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2" name="Google Shape;242;p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15"/>
          <p:cNvSpPr txBox="1"/>
          <p:nvPr>
            <p:ph type="title"/>
          </p:nvPr>
        </p:nvSpPr>
        <p:spPr>
          <a:xfrm rot="5400000">
            <a:off x="4981455" y="2678093"/>
            <a:ext cx="4780344" cy="14844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5"/>
          <p:cNvSpPr txBox="1"/>
          <p:nvPr>
            <p:ph idx="1" type="body"/>
          </p:nvPr>
        </p:nvSpPr>
        <p:spPr>
          <a:xfrm rot="5400000">
            <a:off x="1374976" y="708467"/>
            <a:ext cx="4780344" cy="5423704"/>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8" name="Google Shape;248;p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1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1F15E"/>
            </a:gs>
            <a:gs pos="62000">
              <a:srgbClr val="90BA3F"/>
            </a:gs>
            <a:gs pos="100000">
              <a:srgbClr val="7FA03E"/>
            </a:gs>
          </a:gsLst>
          <a:lin ang="5400000" scaled="0"/>
        </a:gradFill>
      </p:bgPr>
    </p:bg>
    <p:spTree>
      <p:nvGrpSpPr>
        <p:cNvPr id="5" name="Shape 5"/>
        <p:cNvGrpSpPr/>
        <p:nvPr/>
      </p:nvGrpSpPr>
      <p:grpSpPr>
        <a:xfrm>
          <a:off x="0" y="0"/>
          <a:ext cx="0" cy="0"/>
          <a:chOff x="0" y="0"/>
          <a:chExt cx="0" cy="0"/>
        </a:xfrm>
      </p:grpSpPr>
      <p:grpSp>
        <p:nvGrpSpPr>
          <p:cNvPr id="6" name="Google Shape;6;p4"/>
          <p:cNvGrpSpPr/>
          <p:nvPr/>
        </p:nvGrpSpPr>
        <p:grpSpPr>
          <a:xfrm>
            <a:off x="-567355" y="0"/>
            <a:ext cx="10458653" cy="7117071"/>
            <a:chOff x="-644959" y="0"/>
            <a:chExt cx="10458653" cy="7117071"/>
          </a:xfrm>
        </p:grpSpPr>
        <p:grpSp>
          <p:nvGrpSpPr>
            <p:cNvPr id="7" name="Google Shape;7;p4"/>
            <p:cNvGrpSpPr/>
            <p:nvPr/>
          </p:nvGrpSpPr>
          <p:grpSpPr>
            <a:xfrm>
              <a:off x="0" y="0"/>
              <a:ext cx="9144000" cy="6858000"/>
              <a:chOff x="0" y="0"/>
              <a:chExt cx="9144000" cy="6858000"/>
            </a:xfrm>
          </p:grpSpPr>
          <p:grpSp>
            <p:nvGrpSpPr>
              <p:cNvPr id="8" name="Google Shape;8;p4"/>
              <p:cNvGrpSpPr/>
              <p:nvPr/>
            </p:nvGrpSpPr>
            <p:grpSpPr>
              <a:xfrm>
                <a:off x="0" y="0"/>
                <a:ext cx="2514600" cy="6858000"/>
                <a:chOff x="0" y="0"/>
                <a:chExt cx="2514600" cy="6858000"/>
              </a:xfrm>
            </p:grpSpPr>
            <p:sp>
              <p:nvSpPr>
                <p:cNvPr id="9" name="Google Shape;9;p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0" name="Google Shape;10;p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1" name="Google Shape;11;p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2" name="Google Shape;12;p4"/>
              <p:cNvGrpSpPr/>
              <p:nvPr/>
            </p:nvGrpSpPr>
            <p:grpSpPr>
              <a:xfrm>
                <a:off x="422910" y="0"/>
                <a:ext cx="2514600" cy="6858000"/>
                <a:chOff x="0" y="0"/>
                <a:chExt cx="2514600" cy="6858000"/>
              </a:xfrm>
            </p:grpSpPr>
            <p:sp>
              <p:nvSpPr>
                <p:cNvPr id="13" name="Google Shape;13;p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 name="Google Shape;14;p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 name="Google Shape;15;p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6" name="Google Shape;16;p4"/>
              <p:cNvGrpSpPr/>
              <p:nvPr/>
            </p:nvGrpSpPr>
            <p:grpSpPr>
              <a:xfrm rot="10800000">
                <a:off x="6629400" y="0"/>
                <a:ext cx="2514600" cy="6858000"/>
                <a:chOff x="0" y="0"/>
                <a:chExt cx="2514600" cy="6858000"/>
              </a:xfrm>
            </p:grpSpPr>
            <p:sp>
              <p:nvSpPr>
                <p:cNvPr id="17" name="Google Shape;17;p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 name="Google Shape;19;p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0" name="Google Shape;20;p4"/>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1" name="Google Shape;21;p4"/>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4"/>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3" name="Google Shape;23;p4"/>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4" name="Google Shape;24;p4"/>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5" name="Google Shape;25;p4"/>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6" name="Google Shape;26;p4"/>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7" name="Google Shape;27;p4"/>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4"/>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9" name="Google Shape;29;p4"/>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0" name="Google Shape;30;p4"/>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1" name="Google Shape;31;p4"/>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2" name="Google Shape;32;p4"/>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3" name="Google Shape;33;p4"/>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4"/>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4"/>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4"/>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4"/>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4"/>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9" name="Google Shape;39;p4"/>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0" name="Google Shape;40;p4"/>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1" name="Google Shape;41;p4"/>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2" name="Google Shape;42;p4"/>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4"/>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4"/>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45" name="Google Shape;45;p4"/>
          <p:cNvSpPr/>
          <p:nvPr/>
        </p:nvSpPr>
        <p:spPr>
          <a:xfrm>
            <a:off x="457200" y="333487"/>
            <a:ext cx="8229600" cy="6185647"/>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4"/>
          <p:cNvSpPr/>
          <p:nvPr/>
        </p:nvSpPr>
        <p:spPr>
          <a:xfrm>
            <a:off x="4561242" y="-21511"/>
            <a:ext cx="3679116" cy="699244"/>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7" name="Google Shape;47;p4"/>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8" name="Google Shape;48;p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accent1"/>
              </a:buClr>
              <a:buSzPts val="4000"/>
              <a:buFont typeface="Century Gothic"/>
              <a:buNone/>
              <a:defRPr b="0" i="0" sz="4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49" name="Google Shape;49;p4"/>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Century Gothic"/>
                <a:ea typeface="Century Gothic"/>
                <a:cs typeface="Century Gothic"/>
                <a:sym typeface="Century Gothic"/>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Century Gothic"/>
                <a:ea typeface="Century Gothic"/>
                <a:cs typeface="Century Gothic"/>
                <a:sym typeface="Century Gothic"/>
              </a:defRPr>
            </a:lvl2pPr>
            <a:lvl3pPr indent="-325119"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Century Gothic"/>
                <a:ea typeface="Century Gothic"/>
                <a:cs typeface="Century Gothic"/>
                <a:sym typeface="Century Gothic"/>
              </a:defRPr>
            </a:lvl3pPr>
            <a:lvl4pPr indent="-315467"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Century Gothic"/>
                <a:ea typeface="Century Gothic"/>
                <a:cs typeface="Century Gothic"/>
                <a:sym typeface="Century Gothic"/>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Century Gothic"/>
                <a:ea typeface="Century Gothic"/>
                <a:cs typeface="Century Gothic"/>
                <a:sym typeface="Century Gothic"/>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9pPr>
          </a:lstStyle>
          <a:p/>
        </p:txBody>
      </p:sp>
      <p:sp>
        <p:nvSpPr>
          <p:cNvPr id="50" name="Google Shape;50;p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1" name="Google Shape;51;p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2" name="Google Shape;52;p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FEFEFE"/>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FEFEFE"/>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FEFEFE"/>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FEFEFE"/>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FEFEFE"/>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FEFEFE"/>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FEFEFE"/>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FEFEFE"/>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microsoft.com/en-us/dotnet/api/system.web.httpcookie.-ctor?view=netframework-4.8#system-web-httpcookie-ctor(system-string)" TargetMode="External"/><Relationship Id="rId4" Type="http://schemas.openxmlformats.org/officeDocument/2006/relationships/hyperlink" Target="https://docs.microsoft.com/en-us/dotnet/api/system.web.httpcookie.-ctor?view=netframework-4.8#system-web-httpcookie-ctor(system-string-system-st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microsoft.com/en-us/dotnet/api/system.web.httpcookie.domain?view=netframework-4.8#system-web-httpcookie-domain" TargetMode="External"/><Relationship Id="rId4" Type="http://schemas.openxmlformats.org/officeDocument/2006/relationships/hyperlink" Target="https://docs.microsoft.com/en-us/dotnet/api/system.web.httpcookie.expires?view=netframework-4.8#system-web-httpcookie-expires" TargetMode="External"/><Relationship Id="rId11" Type="http://schemas.openxmlformats.org/officeDocument/2006/relationships/hyperlink" Target="https://docs.microsoft.com/en-us/dotnet/api/system.web.httpcookie.value?view=netframework-4.8#system-web-httpcookie-value" TargetMode="External"/><Relationship Id="rId10" Type="http://schemas.openxmlformats.org/officeDocument/2006/relationships/hyperlink" Target="https://docs.microsoft.com/en-us/dotnet/api/system.web.httpcookie.path?view=netframework-4.8#system-web-httpcookie-path" TargetMode="External"/><Relationship Id="rId12" Type="http://schemas.openxmlformats.org/officeDocument/2006/relationships/hyperlink" Target="https://docs.microsoft.com/en-us/dotnet/api/system.web.httpcookie.values?view=netframework-4.8#system-web-httpcookie-values" TargetMode="External"/><Relationship Id="rId9" Type="http://schemas.openxmlformats.org/officeDocument/2006/relationships/hyperlink" Target="https://docs.microsoft.com/en-us/dotnet/api/system.web.httpcookie.name?view=netframework-4.8#system-web-httpcookie-name" TargetMode="External"/><Relationship Id="rId5" Type="http://schemas.openxmlformats.org/officeDocument/2006/relationships/hyperlink" Target="https://docs.microsoft.com/en-us/dotnet/api/system.web.httpcookie.haskeys?view=netframework-4.8#system-web-httpcookie-haskeys" TargetMode="External"/><Relationship Id="rId6" Type="http://schemas.openxmlformats.org/officeDocument/2006/relationships/hyperlink" Target="https://docs.microsoft.com/en-us/dotnet/api/system.web.httpcookie.httponly?view=netframework-4.8#system-web-httpcookie-httponly" TargetMode="External"/><Relationship Id="rId7" Type="http://schemas.openxmlformats.org/officeDocument/2006/relationships/hyperlink" Target="https://docs.microsoft.com/en-us/dotnet/api/system.web.httpcookie.item?view=netframework-4.8#system-web-httpcookie-item(system-string)" TargetMode="External"/><Relationship Id="rId8" Type="http://schemas.openxmlformats.org/officeDocument/2006/relationships/hyperlink" Target="https://docs.microsoft.com/en-us/dotnet/api/system.web.httpcookie.values?view=netframework-4.8#system-web-httpcookie-valu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codingfusion.com/Asp--Net" TargetMode="External"/><Relationship Id="rId4" Type="http://schemas.openxmlformats.org/officeDocument/2006/relationships/hyperlink" Target="http://www.codingfusion.com/Cookies" TargetMode="External"/><Relationship Id="rId5" Type="http://schemas.openxmlformats.org/officeDocument/2006/relationships/hyperlink" Target="http://www.codingfusion.com/Post/Cookies-in-asp-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
          <p:cNvSpPr txBox="1"/>
          <p:nvPr>
            <p:ph type="ctrTitle"/>
          </p:nvPr>
        </p:nvSpPr>
        <p:spPr>
          <a:xfrm>
            <a:off x="4733365" y="2708476"/>
            <a:ext cx="3313355" cy="308272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Times New Roman"/>
              <a:buNone/>
            </a:pPr>
            <a:r>
              <a:rPr lang="en-IN">
                <a:latin typeface="Times New Roman"/>
                <a:ea typeface="Times New Roman"/>
                <a:cs typeface="Times New Roman"/>
                <a:sym typeface="Times New Roman"/>
              </a:rPr>
              <a:t>Module-4 Session Management</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
          <p:cNvSpPr txBox="1"/>
          <p:nvPr>
            <p:ph type="title"/>
          </p:nvPr>
        </p:nvSpPr>
        <p:spPr>
          <a:xfrm>
            <a:off x="533400" y="457200"/>
            <a:ext cx="80772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Times New Roman"/>
              <a:buNone/>
            </a:pPr>
            <a:r>
              <a:rPr b="1" lang="en-IN">
                <a:latin typeface="Times New Roman"/>
                <a:ea typeface="Times New Roman"/>
                <a:cs typeface="Times New Roman"/>
                <a:sym typeface="Times New Roman"/>
              </a:rPr>
              <a:t>State Management</a:t>
            </a:r>
            <a:endParaRPr b="1">
              <a:latin typeface="Times New Roman"/>
              <a:ea typeface="Times New Roman"/>
              <a:cs typeface="Times New Roman"/>
              <a:sym typeface="Times New Roman"/>
            </a:endParaRPr>
          </a:p>
        </p:txBody>
      </p:sp>
      <p:sp>
        <p:nvSpPr>
          <p:cNvPr id="261" name="Google Shape;261;p2"/>
          <p:cNvSpPr txBox="1"/>
          <p:nvPr>
            <p:ph idx="1" type="body"/>
          </p:nvPr>
        </p:nvSpPr>
        <p:spPr>
          <a:xfrm>
            <a:off x="609600" y="1524000"/>
            <a:ext cx="7924800" cy="4876800"/>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lang="en-IN">
                <a:latin typeface="Times New Roman"/>
                <a:ea typeface="Times New Roman"/>
                <a:cs typeface="Times New Roman"/>
                <a:sym typeface="Times New Roman"/>
              </a:rPr>
              <a:t>Requirement of state management</a:t>
            </a:r>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1) All web applications are stateless</a:t>
            </a:r>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2) All user can send the request to the web server but web server don’t know about request coming from same user or different user.</a:t>
            </a:r>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3) Using state management techniques we identify each user uniquely on same web page.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
          <p:cNvSpPr txBox="1"/>
          <p:nvPr>
            <p:ph type="title"/>
          </p:nvPr>
        </p:nvSpPr>
        <p:spPr>
          <a:xfrm>
            <a:off x="533400" y="457200"/>
            <a:ext cx="81534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Times New Roman"/>
              <a:buNone/>
            </a:pPr>
            <a:r>
              <a:rPr b="1" lang="en-IN">
                <a:latin typeface="Times New Roman"/>
                <a:ea typeface="Times New Roman"/>
                <a:cs typeface="Times New Roman"/>
                <a:sym typeface="Times New Roman"/>
              </a:rPr>
              <a:t>Session Management</a:t>
            </a:r>
            <a:endParaRPr/>
          </a:p>
        </p:txBody>
      </p:sp>
      <p:sp>
        <p:nvSpPr>
          <p:cNvPr id="267" name="Google Shape;267;p3"/>
          <p:cNvSpPr txBox="1"/>
          <p:nvPr>
            <p:ph idx="1" type="body"/>
          </p:nvPr>
        </p:nvSpPr>
        <p:spPr>
          <a:xfrm>
            <a:off x="457200" y="1371600"/>
            <a:ext cx="8077200" cy="5105400"/>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lang="en-IN">
                <a:latin typeface="Times New Roman"/>
                <a:ea typeface="Times New Roman"/>
                <a:cs typeface="Times New Roman"/>
                <a:sym typeface="Times New Roman"/>
              </a:rPr>
              <a:t>Client Side State Management </a:t>
            </a:r>
            <a:endParaRPr b="1">
              <a:latin typeface="Times New Roman"/>
              <a:ea typeface="Times New Roman"/>
              <a:cs typeface="Times New Roman"/>
              <a:sym typeface="Times New Roman"/>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View State,</a:t>
            </a:r>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Query String, </a:t>
            </a:r>
            <a:endParaRPr>
              <a:latin typeface="Times New Roman"/>
              <a:ea typeface="Times New Roman"/>
              <a:cs typeface="Times New Roman"/>
              <a:sym typeface="Times New Roman"/>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Cookie, </a:t>
            </a:r>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Hidden Fields </a:t>
            </a:r>
            <a:endParaRPr/>
          </a:p>
          <a:p>
            <a:pPr indent="-274319" lvl="0" marL="342900" rtl="0" algn="l">
              <a:spcBef>
                <a:spcPts val="480"/>
              </a:spcBef>
              <a:spcAft>
                <a:spcPts val="0"/>
              </a:spcAft>
              <a:buSzPts val="1824"/>
              <a:buChar char="🞇"/>
            </a:pPr>
            <a:r>
              <a:rPr b="1" lang="en-IN">
                <a:latin typeface="Times New Roman"/>
                <a:ea typeface="Times New Roman"/>
                <a:cs typeface="Times New Roman"/>
                <a:sym typeface="Times New Roman"/>
              </a:rPr>
              <a:t>Server Side State Management </a:t>
            </a:r>
            <a:endParaRPr b="1">
              <a:latin typeface="Times New Roman"/>
              <a:ea typeface="Times New Roman"/>
              <a:cs typeface="Times New Roman"/>
              <a:sym typeface="Times New Roman"/>
            </a:endParaRPr>
          </a:p>
          <a:p>
            <a:pPr indent="0" lvl="0" marL="68580" rtl="0" algn="l">
              <a:spcBef>
                <a:spcPts val="480"/>
              </a:spcBef>
              <a:spcAft>
                <a:spcPts val="0"/>
              </a:spcAft>
              <a:buSzPts val="1824"/>
              <a:buNone/>
            </a:pPr>
            <a:r>
              <a:rPr lang="en-IN">
                <a:latin typeface="Times New Roman"/>
                <a:ea typeface="Times New Roman"/>
                <a:cs typeface="Times New Roman"/>
                <a:sym typeface="Times New Roman"/>
              </a:rPr>
              <a:t>Profiles, Session State, Application State, cache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1360a5a6ccf_2_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73" name="Google Shape;273;g1360a5a6ccf_2_0"/>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IN" sz="1800">
                <a:solidFill>
                  <a:srgbClr val="212121"/>
                </a:solidFill>
                <a:highlight>
                  <a:srgbClr val="FFFFFF"/>
                </a:highlight>
                <a:latin typeface="Arial"/>
                <a:ea typeface="Arial"/>
                <a:cs typeface="Arial"/>
                <a:sym typeface="Arial"/>
              </a:rPr>
              <a:t>A web application is stateless. That means that a new instance of a page is created every time when we make a request to the server to get the page and after the round trip our page has been lost immediately. It only happens because of one server, all the controls of the Web Page is created and after the round trip the server destroys all the instances. So to retain the values of the controls we use state management techniques.</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360a5a6ccf_2_6"/>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Font typeface="Arial"/>
              <a:buNone/>
            </a:pPr>
            <a:r>
              <a:rPr lang="en-IN" sz="1800">
                <a:solidFill>
                  <a:srgbClr val="212121"/>
                </a:solidFill>
                <a:highlight>
                  <a:srgbClr val="FFFFFF"/>
                </a:highlight>
                <a:latin typeface="Roboto"/>
                <a:ea typeface="Roboto"/>
                <a:cs typeface="Roboto"/>
                <a:sym typeface="Roboto"/>
              </a:rPr>
              <a:t>State Management Techniques</a:t>
            </a:r>
            <a:endParaRPr/>
          </a:p>
        </p:txBody>
      </p:sp>
      <p:sp>
        <p:nvSpPr>
          <p:cNvPr id="279" name="Google Shape;279;g1360a5a6ccf_2_6"/>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Font typeface="Arial"/>
              <a:buNone/>
            </a:pPr>
            <a:r>
              <a:t/>
            </a:r>
            <a:endParaRPr sz="1800">
              <a:solidFill>
                <a:srgbClr val="212121"/>
              </a:solidFill>
              <a:highlight>
                <a:srgbClr val="FFFFFF"/>
              </a:highlight>
              <a:latin typeface="Roboto"/>
              <a:ea typeface="Roboto"/>
              <a:cs typeface="Roboto"/>
              <a:sym typeface="Roboto"/>
            </a:endParaRPr>
          </a:p>
          <a:p>
            <a:pPr indent="0" lvl="0" marL="0" rtl="0" algn="l">
              <a:spcBef>
                <a:spcPts val="360"/>
              </a:spcBef>
              <a:spcAft>
                <a:spcPts val="0"/>
              </a:spcAft>
              <a:buNone/>
            </a:pPr>
            <a:r>
              <a:t/>
            </a:r>
            <a:endParaRPr/>
          </a:p>
        </p:txBody>
      </p:sp>
      <p:pic>
        <p:nvPicPr>
          <p:cNvPr id="280" name="Google Shape;280;g1360a5a6ccf_2_6"/>
          <p:cNvPicPr preferRelativeResize="0"/>
          <p:nvPr/>
        </p:nvPicPr>
        <p:blipFill>
          <a:blip r:embed="rId3">
            <a:alphaModFix/>
          </a:blip>
          <a:stretch>
            <a:fillRect/>
          </a:stretch>
        </p:blipFill>
        <p:spPr>
          <a:xfrm>
            <a:off x="1875975" y="2323650"/>
            <a:ext cx="4762500" cy="3638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1360a5a6ccf_2_13"/>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Font typeface="Arial"/>
              <a:buNone/>
            </a:pPr>
            <a:r>
              <a:rPr lang="en-IN" sz="2500">
                <a:solidFill>
                  <a:srgbClr val="212121"/>
                </a:solidFill>
                <a:highlight>
                  <a:srgbClr val="FFFFFF"/>
                </a:highlight>
                <a:latin typeface="Roboto"/>
                <a:ea typeface="Roboto"/>
                <a:cs typeface="Roboto"/>
                <a:sym typeface="Roboto"/>
              </a:rPr>
              <a:t>View State</a:t>
            </a:r>
            <a:endParaRPr/>
          </a:p>
        </p:txBody>
      </p:sp>
      <p:sp>
        <p:nvSpPr>
          <p:cNvPr id="286" name="Google Shape;286;g1360a5a6ccf_2_13"/>
          <p:cNvSpPr txBox="1"/>
          <p:nvPr>
            <p:ph idx="1" type="body"/>
          </p:nvPr>
        </p:nvSpPr>
        <p:spPr>
          <a:xfrm>
            <a:off x="1183342" y="2495102"/>
            <a:ext cx="6777300" cy="3509100"/>
          </a:xfrm>
          <a:prstGeom prst="rect">
            <a:avLst/>
          </a:prstGeom>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100"/>
              <a:buFont typeface="Arial"/>
              <a:buNone/>
            </a:pPr>
            <a:r>
              <a:t/>
            </a:r>
            <a:endParaRPr sz="2500">
              <a:solidFill>
                <a:srgbClr val="21212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IN" sz="1900">
                <a:solidFill>
                  <a:srgbClr val="212121"/>
                </a:solidFill>
                <a:highlight>
                  <a:srgbClr val="FFFFFF"/>
                </a:highlight>
                <a:latin typeface="Arial"/>
                <a:ea typeface="Arial"/>
                <a:cs typeface="Arial"/>
                <a:sym typeface="Arial"/>
              </a:rPr>
              <a:t> </a:t>
            </a:r>
            <a:endParaRPr sz="19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900">
                <a:solidFill>
                  <a:srgbClr val="212121"/>
                </a:solidFill>
                <a:highlight>
                  <a:srgbClr val="FFFFFF"/>
                </a:highlight>
                <a:latin typeface="Arial"/>
                <a:ea typeface="Arial"/>
                <a:cs typeface="Arial"/>
                <a:sym typeface="Arial"/>
              </a:rPr>
              <a:t>View State is the method to preserve the Value of the Page and Controls between round trips. It is a Page-Level State Management technique. View State is turned on by default and normally serializes the data in every control on the page regardless of whether it is actually used during a post-back.</a:t>
            </a:r>
            <a:endParaRPr sz="19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 </a:t>
            </a:r>
            <a:endParaRPr sz="1200">
              <a:solidFill>
                <a:srgbClr val="212121"/>
              </a:solidFill>
              <a:highlight>
                <a:srgbClr val="FFFFFF"/>
              </a:highlight>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360a5a6ccf_2_19"/>
          <p:cNvSpPr txBox="1"/>
          <p:nvPr/>
        </p:nvSpPr>
        <p:spPr>
          <a:xfrm>
            <a:off x="977300" y="1297450"/>
            <a:ext cx="7009800" cy="38196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None/>
            </a:pPr>
            <a:r>
              <a:rPr lang="en-IN" sz="2300">
                <a:solidFill>
                  <a:srgbClr val="212121"/>
                </a:solidFill>
                <a:highlight>
                  <a:srgbClr val="FFFFFF"/>
                </a:highlight>
                <a:latin typeface="Roboto"/>
                <a:ea typeface="Roboto"/>
                <a:cs typeface="Roboto"/>
                <a:sym typeface="Roboto"/>
              </a:rPr>
              <a:t>What is HiddenField?</a:t>
            </a:r>
            <a:endParaRPr sz="2300">
              <a:solidFill>
                <a:srgbClr val="21212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IN" sz="1700">
                <a:solidFill>
                  <a:srgbClr val="212121"/>
                </a:solidFill>
                <a:highlight>
                  <a:srgbClr val="FFFFFF"/>
                </a:highlight>
              </a:rPr>
              <a:t> </a:t>
            </a:r>
            <a:endParaRPr sz="1700">
              <a:solidFill>
                <a:srgbClr val="212121"/>
              </a:solidFill>
              <a:highlight>
                <a:srgbClr val="FFFFFF"/>
              </a:highlight>
            </a:endParaRPr>
          </a:p>
          <a:p>
            <a:pPr indent="0" lvl="0" marL="0" rtl="0" algn="l">
              <a:lnSpc>
                <a:spcPct val="115000"/>
              </a:lnSpc>
              <a:spcBef>
                <a:spcPts val="0"/>
              </a:spcBef>
              <a:spcAft>
                <a:spcPts val="0"/>
              </a:spcAft>
              <a:buNone/>
            </a:pPr>
            <a:r>
              <a:rPr lang="en-IN" sz="1700">
                <a:solidFill>
                  <a:srgbClr val="212121"/>
                </a:solidFill>
                <a:highlight>
                  <a:srgbClr val="FFFFFF"/>
                </a:highlight>
              </a:rPr>
              <a:t>HiddenField, as name implies, is hidden. This is non visual control in ASP.NET where you can save the value. This is one of the types of client-side state management tools. It stores the value between the roundtrip. Anyone can see HiddenField details by simply viewing the source of document.</a:t>
            </a:r>
            <a:endParaRPr sz="1700">
              <a:solidFill>
                <a:srgbClr val="212121"/>
              </a:solidFill>
              <a:highlight>
                <a:srgbClr val="FFFFFF"/>
              </a:highlight>
            </a:endParaRPr>
          </a:p>
          <a:p>
            <a:pPr indent="0" lvl="0" marL="0" rtl="0" algn="l">
              <a:lnSpc>
                <a:spcPct val="115000"/>
              </a:lnSpc>
              <a:spcBef>
                <a:spcPts val="0"/>
              </a:spcBef>
              <a:spcAft>
                <a:spcPts val="0"/>
              </a:spcAft>
              <a:buNone/>
            </a:pPr>
            <a:r>
              <a:t/>
            </a:r>
            <a:endParaRPr sz="1700">
              <a:solidFill>
                <a:srgbClr val="212121"/>
              </a:solidFill>
              <a:highlight>
                <a:srgbClr val="FFFFFF"/>
              </a:highlight>
            </a:endParaRPr>
          </a:p>
          <a:p>
            <a:pPr indent="0" lvl="0" marL="0" rtl="0" algn="l">
              <a:lnSpc>
                <a:spcPct val="115000"/>
              </a:lnSpc>
              <a:spcBef>
                <a:spcPts val="0"/>
              </a:spcBef>
              <a:spcAft>
                <a:spcPts val="0"/>
              </a:spcAft>
              <a:buNone/>
            </a:pPr>
            <a:r>
              <a:t/>
            </a:r>
            <a:endParaRPr sz="1700">
              <a:solidFill>
                <a:srgbClr val="212121"/>
              </a:solidFill>
              <a:highlight>
                <a:srgbClr val="FFFFFF"/>
              </a:highlight>
            </a:endParaRPr>
          </a:p>
          <a:p>
            <a:pPr indent="-336550" lvl="0" marL="787400" rtl="0" algn="l">
              <a:lnSpc>
                <a:spcPct val="112500"/>
              </a:lnSpc>
              <a:spcBef>
                <a:spcPts val="2200"/>
              </a:spcBef>
              <a:spcAft>
                <a:spcPts val="0"/>
              </a:spcAft>
              <a:buClr>
                <a:srgbClr val="5C5C5C"/>
              </a:buClr>
              <a:buSzPts val="1700"/>
              <a:buFont typeface="Courier New"/>
              <a:buChar char="●"/>
            </a:pPr>
            <a:r>
              <a:rPr lang="en-IN" sz="1700">
                <a:solidFill>
                  <a:schemeClr val="dk1"/>
                </a:solidFill>
                <a:highlight>
                  <a:srgbClr val="FFFFFF"/>
                </a:highlight>
                <a:latin typeface="Courier New"/>
                <a:ea typeface="Courier New"/>
                <a:cs typeface="Courier New"/>
                <a:sym typeface="Courier New"/>
              </a:rPr>
              <a:t>&lt;asp:HiddenFieldID=</a:t>
            </a:r>
            <a:r>
              <a:rPr lang="en-IN" sz="1700">
                <a:solidFill>
                  <a:srgbClr val="0000FF"/>
                </a:solidFill>
                <a:highlight>
                  <a:srgbClr val="FFFFFF"/>
                </a:highlight>
                <a:latin typeface="Courier New"/>
                <a:ea typeface="Courier New"/>
                <a:cs typeface="Courier New"/>
                <a:sym typeface="Courier New"/>
              </a:rPr>
              <a:t>"HiddenField1"</a:t>
            </a:r>
            <a:r>
              <a:rPr lang="en-IN" sz="1700">
                <a:solidFill>
                  <a:schemeClr val="dk1"/>
                </a:solidFill>
                <a:highlight>
                  <a:srgbClr val="FFFFFF"/>
                </a:highlight>
                <a:latin typeface="Courier New"/>
                <a:ea typeface="Courier New"/>
                <a:cs typeface="Courier New"/>
                <a:sym typeface="Courier New"/>
              </a:rPr>
              <a:t> runat=</a:t>
            </a:r>
            <a:r>
              <a:rPr lang="en-IN" sz="1700">
                <a:solidFill>
                  <a:srgbClr val="0000FF"/>
                </a:solidFill>
                <a:highlight>
                  <a:srgbClr val="FFFFFF"/>
                </a:highlight>
                <a:latin typeface="Courier New"/>
                <a:ea typeface="Courier New"/>
                <a:cs typeface="Courier New"/>
                <a:sym typeface="Courier New"/>
              </a:rPr>
              <a:t>"server"</a:t>
            </a:r>
            <a:r>
              <a:rPr lang="en-IN" sz="1700">
                <a:solidFill>
                  <a:schemeClr val="dk1"/>
                </a:solidFill>
                <a:highlight>
                  <a:srgbClr val="FFFFFF"/>
                </a:highlight>
                <a:latin typeface="Courier New"/>
                <a:ea typeface="Courier New"/>
                <a:cs typeface="Courier New"/>
                <a:sym typeface="Courier New"/>
              </a:rPr>
              <a:t> /&gt;  </a:t>
            </a:r>
            <a:endParaRPr sz="17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aphicFrame>
        <p:nvGraphicFramePr>
          <p:cNvPr id="296" name="Google Shape;296;g1360a5a6ccf_2_27"/>
          <p:cNvGraphicFramePr/>
          <p:nvPr/>
        </p:nvGraphicFramePr>
        <p:xfrm>
          <a:off x="699825" y="3052050"/>
          <a:ext cx="3000000" cy="3000000"/>
        </p:xfrm>
        <a:graphic>
          <a:graphicData uri="http://schemas.openxmlformats.org/drawingml/2006/table">
            <a:tbl>
              <a:tblPr>
                <a:solidFill>
                  <a:srgbClr val="FFFFFF"/>
                </a:solidFill>
                <a:tableStyleId>{D3D0EA8F-781D-44B6-A3E9-48BEDCEB77DF}</a:tableStyleId>
              </a:tblPr>
              <a:tblGrid>
                <a:gridCol w="1300150"/>
                <a:gridCol w="6444175"/>
              </a:tblGrid>
              <a:tr h="246025">
                <a:tc>
                  <a:txBody>
                    <a:bodyPr/>
                    <a:lstStyle/>
                    <a:p>
                      <a:pPr indent="0" lvl="0" marL="0" rtl="0" algn="l">
                        <a:lnSpc>
                          <a:spcPct val="115000"/>
                        </a:lnSpc>
                        <a:spcBef>
                          <a:spcPts val="0"/>
                        </a:spcBef>
                        <a:spcAft>
                          <a:spcPts val="0"/>
                        </a:spcAft>
                        <a:buNone/>
                      </a:pPr>
                      <a:r>
                        <a:rPr lang="en-IN" sz="1200">
                          <a:solidFill>
                            <a:srgbClr val="FFFFFF"/>
                          </a:solidFill>
                        </a:rPr>
                        <a:t>EVENT TYPE</a:t>
                      </a:r>
                      <a:endParaRPr sz="1200">
                        <a:solidFill>
                          <a:srgbClr val="FFFFFF"/>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FFFFFF"/>
                          </a:solidFill>
                        </a:rPr>
                        <a:t>DESCRIPTION</a:t>
                      </a:r>
                      <a:endParaRPr sz="1200">
                        <a:solidFill>
                          <a:srgbClr val="FFFFFF"/>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DataBinding</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Server Control binds to a data source.</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Disposed</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Server Control is released from the memory.</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Init</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Server Control is initialized.</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Load</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server control get loaded on the page.</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PreRender</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before Rendering the page.</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UnLoad</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Server Control is unloaded from memory.</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r h="246025">
                <a:tc>
                  <a:txBody>
                    <a:bodyPr/>
                    <a:lstStyle/>
                    <a:p>
                      <a:pPr indent="0" lvl="0" marL="0" rtl="0" algn="l">
                        <a:lnSpc>
                          <a:spcPct val="115000"/>
                        </a:lnSpc>
                        <a:spcBef>
                          <a:spcPts val="0"/>
                        </a:spcBef>
                        <a:spcAft>
                          <a:spcPts val="0"/>
                        </a:spcAft>
                        <a:buNone/>
                      </a:pPr>
                      <a:r>
                        <a:rPr lang="en-IN" sz="1200">
                          <a:solidFill>
                            <a:srgbClr val="333333"/>
                          </a:solidFill>
                        </a:rPr>
                        <a:t>ValueChanged</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c>
                  <a:txBody>
                    <a:bodyPr/>
                    <a:lstStyle/>
                    <a:p>
                      <a:pPr indent="0" lvl="0" marL="0" rtl="0" algn="l">
                        <a:lnSpc>
                          <a:spcPct val="115000"/>
                        </a:lnSpc>
                        <a:spcBef>
                          <a:spcPts val="0"/>
                        </a:spcBef>
                        <a:spcAft>
                          <a:spcPts val="0"/>
                        </a:spcAft>
                        <a:buNone/>
                      </a:pPr>
                      <a:r>
                        <a:rPr lang="en-IN" sz="1200">
                          <a:solidFill>
                            <a:srgbClr val="333333"/>
                          </a:solidFill>
                        </a:rPr>
                        <a:t>Occurs when the value gets changed between the round-trip (postback).</a:t>
                      </a:r>
                      <a:endParaRPr sz="1200">
                        <a:solidFill>
                          <a:srgbClr val="333333"/>
                        </a:solidFill>
                      </a:endParaRPr>
                    </a:p>
                  </a:txBody>
                  <a:tcPr marT="91425" marB="91425" marR="91425" marL="91425">
                    <a:lnL cap="flat" cmpd="sng" w="9525">
                      <a:solidFill>
                        <a:srgbClr val="ABABAB"/>
                      </a:solidFill>
                      <a:prstDash val="dash"/>
                      <a:round/>
                      <a:headEnd len="sm" w="sm" type="none"/>
                      <a:tailEnd len="sm" w="sm" type="none"/>
                    </a:lnL>
                    <a:lnR cap="flat" cmpd="sng" w="9525">
                      <a:solidFill>
                        <a:srgbClr val="ABABAB"/>
                      </a:solidFill>
                      <a:prstDash val="dash"/>
                      <a:round/>
                      <a:headEnd len="sm" w="sm" type="none"/>
                      <a:tailEnd len="sm" w="sm" type="none"/>
                    </a:lnR>
                    <a:lnT cap="flat" cmpd="sng" w="9525">
                      <a:solidFill>
                        <a:srgbClr val="ABABAB"/>
                      </a:solidFill>
                      <a:prstDash val="dash"/>
                      <a:round/>
                      <a:headEnd len="sm" w="sm" type="none"/>
                      <a:tailEnd len="sm" w="sm" type="none"/>
                    </a:lnT>
                    <a:lnB cap="flat" cmpd="sng" w="9525">
                      <a:solidFill>
                        <a:srgbClr val="ABABAB"/>
                      </a:solidFill>
                      <a:prstDash val="dash"/>
                      <a:round/>
                      <a:headEnd len="sm" w="sm" type="none"/>
                      <a:tailEnd len="sm" w="sm" type="none"/>
                    </a:lnB>
                  </a:tcPr>
                </a:tc>
              </a:tr>
            </a:tbl>
          </a:graphicData>
        </a:graphic>
      </p:graphicFrame>
      <p:sp>
        <p:nvSpPr>
          <p:cNvPr id="297" name="Google Shape;297;g1360a5a6ccf_2_27"/>
          <p:cNvSpPr txBox="1"/>
          <p:nvPr/>
        </p:nvSpPr>
        <p:spPr>
          <a:xfrm>
            <a:off x="539200" y="304800"/>
            <a:ext cx="7981200" cy="30000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IN" sz="1800">
                <a:solidFill>
                  <a:srgbClr val="212121"/>
                </a:solidFill>
                <a:highlight>
                  <a:srgbClr val="FFFFFF"/>
                </a:highlight>
                <a:latin typeface="Roboto"/>
                <a:ea typeface="Roboto"/>
                <a:cs typeface="Roboto"/>
                <a:sym typeface="Roboto"/>
              </a:rPr>
              <a:t>Events of HiddenFields</a:t>
            </a:r>
            <a:endParaRPr sz="1800">
              <a:solidFill>
                <a:srgbClr val="21212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IN" sz="1500">
                <a:solidFill>
                  <a:srgbClr val="212121"/>
                </a:solidFill>
                <a:highlight>
                  <a:srgbClr val="FFFFFF"/>
                </a:highlight>
              </a:rPr>
              <a:t> </a:t>
            </a:r>
            <a:endParaRPr sz="1500">
              <a:solidFill>
                <a:srgbClr val="212121"/>
              </a:solidFill>
              <a:highlight>
                <a:srgbClr val="FFFFFF"/>
              </a:highlight>
            </a:endParaRPr>
          </a:p>
          <a:p>
            <a:pPr indent="0" lvl="0" marL="0" rtl="0" algn="l">
              <a:lnSpc>
                <a:spcPct val="100000"/>
              </a:lnSpc>
              <a:spcBef>
                <a:spcPts val="0"/>
              </a:spcBef>
              <a:spcAft>
                <a:spcPts val="0"/>
              </a:spcAft>
              <a:buNone/>
            </a:pPr>
            <a:r>
              <a:rPr lang="en-IN" sz="1500">
                <a:solidFill>
                  <a:srgbClr val="212121"/>
                </a:solidFill>
                <a:highlight>
                  <a:srgbClr val="FFFFFF"/>
                </a:highlight>
              </a:rPr>
              <a:t>As a control, it should have events. HiddenFields has the following events.</a:t>
            </a:r>
            <a:endParaRPr sz="1500">
              <a:solidFill>
                <a:srgbClr val="212121"/>
              </a:solidFill>
              <a:highlight>
                <a:srgbClr val="FFFFFF"/>
              </a:highlight>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IN" sz="1500">
                <a:solidFill>
                  <a:srgbClr val="212121"/>
                </a:solidFill>
                <a:highlight>
                  <a:srgbClr val="FFFFFF"/>
                </a:highlight>
              </a:rPr>
              <a:t> ValueChanged event is server-side control. This event gets executed when the value of HiddenField gets changed between postback to the Server.</a:t>
            </a:r>
            <a:endParaRPr sz="1500">
              <a:solidFill>
                <a:srgbClr val="212121"/>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1360a5a6ccf_2_36"/>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IN" sz="3300">
                <a:solidFill>
                  <a:srgbClr val="212121"/>
                </a:solidFill>
                <a:highlight>
                  <a:srgbClr val="FFFFFF"/>
                </a:highlight>
                <a:latin typeface="Arial"/>
                <a:ea typeface="Arial"/>
                <a:cs typeface="Arial"/>
                <a:sym typeface="Arial"/>
              </a:rPr>
              <a:t>cookies</a:t>
            </a:r>
            <a:endParaRPr sz="6100"/>
          </a:p>
        </p:txBody>
      </p:sp>
      <p:sp>
        <p:nvSpPr>
          <p:cNvPr id="303" name="Google Shape;303;g1360a5a6ccf_2_36"/>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cookies is a small piece of information stored on the client machine. This file is located on client machines "C:\Document and Settings\Currently_Login user\Cookie" path.  Its is used to store user preference information like Username, Password,City and PhoneNo etc on client machines. We need to import namespace called  Systen.Web.HttpCookie before we use cookie.</a:t>
            </a:r>
            <a:endParaRPr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 </a:t>
            </a:r>
            <a:endParaRPr sz="1200">
              <a:solidFill>
                <a:srgbClr val="212121"/>
              </a:solidFill>
              <a:highlight>
                <a:srgbClr val="FFFFFF"/>
              </a:highlight>
              <a:latin typeface="Arial"/>
              <a:ea typeface="Arial"/>
              <a:cs typeface="Arial"/>
              <a:sym typeface="Arial"/>
            </a:endParaRPr>
          </a:p>
          <a:p>
            <a:pPr indent="0" lvl="0" marL="0" rtl="0" algn="l">
              <a:lnSpc>
                <a:spcPct val="110000"/>
              </a:lnSpc>
              <a:spcBef>
                <a:spcPts val="0"/>
              </a:spcBef>
              <a:spcAft>
                <a:spcPts val="0"/>
              </a:spcAft>
              <a:buClr>
                <a:schemeClr val="dk1"/>
              </a:buClr>
              <a:buSzPts val="1100"/>
              <a:buFont typeface="Arial"/>
              <a:buNone/>
            </a:pPr>
            <a:r>
              <a:rPr lang="en-IN" sz="1800">
                <a:solidFill>
                  <a:srgbClr val="212121"/>
                </a:solidFill>
                <a:highlight>
                  <a:srgbClr val="FFFFFF"/>
                </a:highlight>
                <a:latin typeface="Roboto"/>
                <a:ea typeface="Roboto"/>
                <a:cs typeface="Roboto"/>
                <a:sym typeface="Roboto"/>
              </a:rPr>
              <a:t>Type of Cookies</a:t>
            </a:r>
            <a:endParaRPr sz="1800">
              <a:solidFill>
                <a:srgbClr val="212121"/>
              </a:solidFill>
              <a:highlight>
                <a:srgbClr val="FFFFFF"/>
              </a:highlight>
              <a:latin typeface="Roboto"/>
              <a:ea typeface="Roboto"/>
              <a:cs typeface="Roboto"/>
              <a:sym typeface="Roboto"/>
            </a:endParaRPr>
          </a:p>
          <a:p>
            <a:pPr indent="-304800" lvl="0" marL="787400" rtl="0" algn="l">
              <a:lnSpc>
                <a:spcPct val="115000"/>
              </a:lnSpc>
              <a:spcBef>
                <a:spcPts val="1600"/>
              </a:spcBef>
              <a:spcAft>
                <a:spcPts val="0"/>
              </a:spcAft>
              <a:buClr>
                <a:srgbClr val="212121"/>
              </a:buClr>
              <a:buSzPts val="1200"/>
              <a:buFont typeface="Arial"/>
              <a:buAutoNum type="arabicPeriod"/>
            </a:pPr>
            <a:r>
              <a:rPr lang="en-IN" sz="1200">
                <a:solidFill>
                  <a:srgbClr val="212121"/>
                </a:solidFill>
                <a:highlight>
                  <a:srgbClr val="FFFFFF"/>
                </a:highlight>
                <a:latin typeface="Arial"/>
                <a:ea typeface="Arial"/>
                <a:cs typeface="Arial"/>
                <a:sym typeface="Arial"/>
              </a:rPr>
              <a:t>Persist Cookie - A cookie has not have expired time Which is called as Persist Cookie</a:t>
            </a:r>
            <a:endParaRPr sz="1200">
              <a:solidFill>
                <a:srgbClr val="212121"/>
              </a:solidFill>
              <a:highlight>
                <a:srgbClr val="FFFFFF"/>
              </a:highlight>
              <a:latin typeface="Arial"/>
              <a:ea typeface="Arial"/>
              <a:cs typeface="Arial"/>
              <a:sym typeface="Arial"/>
            </a:endParaRPr>
          </a:p>
          <a:p>
            <a:pPr indent="-304800" lvl="0" marL="787400" rtl="0" algn="l">
              <a:lnSpc>
                <a:spcPct val="115000"/>
              </a:lnSpc>
              <a:spcBef>
                <a:spcPts val="0"/>
              </a:spcBef>
              <a:spcAft>
                <a:spcPts val="0"/>
              </a:spcAft>
              <a:buClr>
                <a:srgbClr val="212121"/>
              </a:buClr>
              <a:buSzPts val="1200"/>
              <a:buFont typeface="Arial"/>
              <a:buAutoNum type="arabicPeriod"/>
            </a:pPr>
            <a:r>
              <a:rPr lang="en-IN" sz="1200">
                <a:solidFill>
                  <a:srgbClr val="212121"/>
                </a:solidFill>
                <a:highlight>
                  <a:srgbClr val="FFFFFF"/>
                </a:highlight>
                <a:latin typeface="Arial"/>
                <a:ea typeface="Arial"/>
                <a:cs typeface="Arial"/>
                <a:sym typeface="Arial"/>
              </a:rPr>
              <a:t>Non-Persist Cookie - A cookie has expired time Which is called as Non-Persist Cookie</a:t>
            </a:r>
            <a:endParaRPr sz="1200">
              <a:solidFill>
                <a:srgbClr val="212121"/>
              </a:solidFill>
              <a:highlight>
                <a:srgbClr val="FFFFFF"/>
              </a:highlight>
              <a:latin typeface="Arial"/>
              <a:ea typeface="Arial"/>
              <a:cs typeface="Arial"/>
              <a:sym typeface="Arial"/>
            </a:endParaRPr>
          </a:p>
          <a:p>
            <a:pPr indent="0" lvl="0" marL="0" rtl="0" algn="l">
              <a:lnSpc>
                <a:spcPct val="110000"/>
              </a:lnSpc>
              <a:spcBef>
                <a:spcPts val="1600"/>
              </a:spcBef>
              <a:spcAft>
                <a:spcPts val="0"/>
              </a:spcAft>
              <a:buClr>
                <a:schemeClr val="dk1"/>
              </a:buClr>
              <a:buSzPts val="1100"/>
              <a:buFont typeface="Arial"/>
              <a:buNone/>
            </a:pPr>
            <a:r>
              <a:rPr lang="en-IN" sz="1800">
                <a:solidFill>
                  <a:srgbClr val="212121"/>
                </a:solidFill>
                <a:highlight>
                  <a:srgbClr val="FFFFFF"/>
                </a:highlight>
                <a:latin typeface="Roboto"/>
                <a:ea typeface="Roboto"/>
                <a:cs typeface="Roboto"/>
                <a:sym typeface="Roboto"/>
              </a:rPr>
              <a:t>How to create a cookie?</a:t>
            </a:r>
            <a:endParaRPr sz="1800">
              <a:solidFill>
                <a:srgbClr val="21212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 </a:t>
            </a:r>
            <a:endParaRPr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It is really easy to create a cookie in the Asp.Net with help of Response object or HttpCookie</a:t>
            </a:r>
            <a:endParaRPr sz="1200">
              <a:solidFill>
                <a:srgbClr val="212121"/>
              </a:solidFill>
              <a:highlight>
                <a:srgbClr val="FFFFFF"/>
              </a:highlight>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360a5a6ccf_2_42"/>
          <p:cNvSpPr txBox="1"/>
          <p:nvPr>
            <p:ph idx="1" type="body"/>
          </p:nvPr>
        </p:nvSpPr>
        <p:spPr>
          <a:xfrm>
            <a:off x="1043500" y="1027850"/>
            <a:ext cx="7465800" cy="4804800"/>
          </a:xfrm>
          <a:prstGeom prst="rect">
            <a:avLst/>
          </a:prstGeom>
        </p:spPr>
        <p:txBody>
          <a:bodyPr anchorCtr="0" anchor="t" bIns="45700" lIns="91425" spcFirstLastPara="1" rIns="91425" wrap="square" tIns="45700">
            <a:normAutofit fontScale="70000" lnSpcReduction="20000"/>
          </a:bodyPr>
          <a:lstStyle/>
          <a:p>
            <a:pPr indent="0" lvl="0" marL="0" rtl="0" algn="l">
              <a:lnSpc>
                <a:spcPct val="110000"/>
              </a:lnSpc>
              <a:spcBef>
                <a:spcPts val="0"/>
              </a:spcBef>
              <a:spcAft>
                <a:spcPts val="0"/>
              </a:spcAft>
              <a:buClr>
                <a:schemeClr val="dk1"/>
              </a:buClr>
              <a:buSzPct val="44041"/>
              <a:buFont typeface="Arial"/>
              <a:buNone/>
            </a:pPr>
            <a:r>
              <a:rPr lang="en-IN" sz="2497">
                <a:solidFill>
                  <a:srgbClr val="212121"/>
                </a:solidFill>
                <a:highlight>
                  <a:srgbClr val="FFFFFF"/>
                </a:highlight>
                <a:latin typeface="Roboto"/>
                <a:ea typeface="Roboto"/>
                <a:cs typeface="Roboto"/>
                <a:sym typeface="Roboto"/>
              </a:rPr>
              <a:t>Type of Cookies</a:t>
            </a:r>
            <a:endParaRPr sz="2497">
              <a:solidFill>
                <a:srgbClr val="212121"/>
              </a:solidFill>
              <a:highlight>
                <a:srgbClr val="FFFFFF"/>
              </a:highlight>
              <a:latin typeface="Roboto"/>
              <a:ea typeface="Roboto"/>
              <a:cs typeface="Roboto"/>
              <a:sym typeface="Roboto"/>
            </a:endParaRPr>
          </a:p>
          <a:p>
            <a:pPr indent="-312950" lvl="0" marL="787400" rtl="0" algn="l">
              <a:lnSpc>
                <a:spcPct val="115000"/>
              </a:lnSpc>
              <a:spcBef>
                <a:spcPts val="1600"/>
              </a:spcBef>
              <a:spcAft>
                <a:spcPts val="0"/>
              </a:spcAft>
              <a:buClr>
                <a:srgbClr val="212121"/>
              </a:buClr>
              <a:buSzPct val="100000"/>
              <a:buFont typeface="Arial"/>
              <a:buAutoNum type="arabicPeriod"/>
            </a:pPr>
            <a:r>
              <a:rPr lang="en-IN" sz="1897">
                <a:solidFill>
                  <a:srgbClr val="212121"/>
                </a:solidFill>
                <a:highlight>
                  <a:srgbClr val="FFFFFF"/>
                </a:highlight>
                <a:latin typeface="Arial"/>
                <a:ea typeface="Arial"/>
                <a:cs typeface="Arial"/>
                <a:sym typeface="Arial"/>
              </a:rPr>
              <a:t>Persist Cookie - A cookie has not have expired time Which is called as Persist Cookie</a:t>
            </a:r>
            <a:endParaRPr sz="1897">
              <a:solidFill>
                <a:srgbClr val="212121"/>
              </a:solidFill>
              <a:highlight>
                <a:srgbClr val="FFFFFF"/>
              </a:highlight>
              <a:latin typeface="Arial"/>
              <a:ea typeface="Arial"/>
              <a:cs typeface="Arial"/>
              <a:sym typeface="Arial"/>
            </a:endParaRPr>
          </a:p>
          <a:p>
            <a:pPr indent="-312950" lvl="0" marL="787400" rtl="0" algn="l">
              <a:lnSpc>
                <a:spcPct val="115000"/>
              </a:lnSpc>
              <a:spcBef>
                <a:spcPts val="0"/>
              </a:spcBef>
              <a:spcAft>
                <a:spcPts val="0"/>
              </a:spcAft>
              <a:buClr>
                <a:srgbClr val="212121"/>
              </a:buClr>
              <a:buSzPct val="100000"/>
              <a:buFont typeface="Arial"/>
              <a:buAutoNum type="arabicPeriod"/>
            </a:pPr>
            <a:r>
              <a:rPr lang="en-IN" sz="1897">
                <a:solidFill>
                  <a:srgbClr val="212121"/>
                </a:solidFill>
                <a:highlight>
                  <a:srgbClr val="FFFFFF"/>
                </a:highlight>
                <a:latin typeface="Arial"/>
                <a:ea typeface="Arial"/>
                <a:cs typeface="Arial"/>
                <a:sym typeface="Arial"/>
              </a:rPr>
              <a:t>Non-Persist Cookie - A cookie has expired time Which is called as Non-Persist Cookie</a:t>
            </a:r>
            <a:endParaRPr sz="1897">
              <a:solidFill>
                <a:srgbClr val="212121"/>
              </a:solidFill>
              <a:highlight>
                <a:srgbClr val="FFFFFF"/>
              </a:highlight>
              <a:latin typeface="Arial"/>
              <a:ea typeface="Arial"/>
              <a:cs typeface="Arial"/>
              <a:sym typeface="Arial"/>
            </a:endParaRPr>
          </a:p>
          <a:p>
            <a:pPr indent="0" lvl="0" marL="0" rtl="0" algn="l">
              <a:lnSpc>
                <a:spcPct val="110000"/>
              </a:lnSpc>
              <a:spcBef>
                <a:spcPts val="1600"/>
              </a:spcBef>
              <a:spcAft>
                <a:spcPts val="0"/>
              </a:spcAft>
              <a:buClr>
                <a:schemeClr val="dk1"/>
              </a:buClr>
              <a:buSzPct val="44041"/>
              <a:buFont typeface="Arial"/>
              <a:buNone/>
            </a:pPr>
            <a:r>
              <a:rPr lang="en-IN" sz="2497">
                <a:solidFill>
                  <a:srgbClr val="212121"/>
                </a:solidFill>
                <a:highlight>
                  <a:srgbClr val="FFFFFF"/>
                </a:highlight>
                <a:latin typeface="Roboto"/>
                <a:ea typeface="Roboto"/>
                <a:cs typeface="Roboto"/>
                <a:sym typeface="Roboto"/>
              </a:rPr>
              <a:t>How to create a cookie?</a:t>
            </a:r>
            <a:endParaRPr sz="2497">
              <a:solidFill>
                <a:srgbClr val="21212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ct val="57966"/>
              <a:buFont typeface="Arial"/>
              <a:buNone/>
            </a:pPr>
            <a:r>
              <a:rPr lang="en-IN" sz="1897">
                <a:solidFill>
                  <a:srgbClr val="212121"/>
                </a:solidFill>
                <a:highlight>
                  <a:srgbClr val="FFFFFF"/>
                </a:highlight>
                <a:latin typeface="Arial"/>
                <a:ea typeface="Arial"/>
                <a:cs typeface="Arial"/>
                <a:sym typeface="Arial"/>
              </a:rPr>
              <a:t> </a:t>
            </a:r>
            <a:endParaRPr sz="1897">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57966"/>
              <a:buFont typeface="Arial"/>
              <a:buNone/>
            </a:pPr>
            <a:r>
              <a:rPr lang="en-IN" sz="1897">
                <a:solidFill>
                  <a:srgbClr val="212121"/>
                </a:solidFill>
                <a:highlight>
                  <a:srgbClr val="FFFFFF"/>
                </a:highlight>
                <a:latin typeface="Arial"/>
                <a:ea typeface="Arial"/>
                <a:cs typeface="Arial"/>
                <a:sym typeface="Arial"/>
              </a:rPr>
              <a:t>It is really easy to create a cookie in the Asp.Net with help of Response object or HttpCookie</a:t>
            </a:r>
            <a:endParaRPr sz="1897">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57966"/>
              <a:buFont typeface="Arial"/>
              <a:buNone/>
            </a:pPr>
            <a:r>
              <a:rPr lang="en-IN" sz="1897">
                <a:solidFill>
                  <a:srgbClr val="212121"/>
                </a:solidFill>
                <a:highlight>
                  <a:srgbClr val="FFFFFF"/>
                </a:highlight>
                <a:latin typeface="Arial"/>
                <a:ea typeface="Arial"/>
                <a:cs typeface="Arial"/>
                <a:sym typeface="Arial"/>
              </a:rPr>
              <a:t> </a:t>
            </a:r>
            <a:endParaRPr sz="1897">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57966"/>
              <a:buFont typeface="Arial"/>
              <a:buNone/>
            </a:pPr>
            <a:r>
              <a:rPr lang="en-IN" sz="1897" u="sng">
                <a:solidFill>
                  <a:srgbClr val="212121"/>
                </a:solidFill>
                <a:highlight>
                  <a:srgbClr val="FFFFFF"/>
                </a:highlight>
                <a:latin typeface="Arial"/>
                <a:ea typeface="Arial"/>
                <a:cs typeface="Arial"/>
                <a:sym typeface="Arial"/>
              </a:rPr>
              <a:t>Example 1</a:t>
            </a:r>
            <a:endParaRPr sz="1897" u="sng">
              <a:solidFill>
                <a:srgbClr val="212121"/>
              </a:solidFill>
              <a:highlight>
                <a:srgbClr val="FFFFFF"/>
              </a:highlight>
              <a:latin typeface="Arial"/>
              <a:ea typeface="Arial"/>
              <a:cs typeface="Arial"/>
              <a:sym typeface="Arial"/>
            </a:endParaRPr>
          </a:p>
          <a:p>
            <a:pPr indent="-312950" lvl="0" marL="787400" rtl="0" algn="l">
              <a:lnSpc>
                <a:spcPct val="112500"/>
              </a:lnSpc>
              <a:spcBef>
                <a:spcPts val="2200"/>
              </a:spcBef>
              <a:spcAft>
                <a:spcPts val="0"/>
              </a:spcAft>
              <a:buClr>
                <a:srgbClr val="5C5C5C"/>
              </a:buClr>
              <a:buSzPct val="100000"/>
              <a:buFont typeface="Courier New"/>
              <a:buChar char="●"/>
            </a:pPr>
            <a:r>
              <a:rPr lang="en-IN" sz="1897">
                <a:solidFill>
                  <a:schemeClr val="dk1"/>
                </a:solidFill>
                <a:highlight>
                  <a:srgbClr val="FFFFFF"/>
                </a:highlight>
                <a:latin typeface="Courier New"/>
                <a:ea typeface="Courier New"/>
                <a:cs typeface="Courier New"/>
                <a:sym typeface="Courier New"/>
              </a:rPr>
              <a:t>HttpCookie userInfo = </a:t>
            </a:r>
            <a:r>
              <a:rPr b="1" lang="en-IN" sz="1897">
                <a:solidFill>
                  <a:srgbClr val="006699"/>
                </a:solidFill>
                <a:highlight>
                  <a:srgbClr val="FFFFFF"/>
                </a:highlight>
                <a:latin typeface="Courier New"/>
                <a:ea typeface="Courier New"/>
                <a:cs typeface="Courier New"/>
                <a:sym typeface="Courier New"/>
              </a:rPr>
              <a:t>new</a:t>
            </a:r>
            <a:r>
              <a:rPr lang="en-IN" sz="1897">
                <a:solidFill>
                  <a:schemeClr val="dk1"/>
                </a:solidFill>
                <a:highlight>
                  <a:srgbClr val="FFFFFF"/>
                </a:highlight>
                <a:latin typeface="Courier New"/>
                <a:ea typeface="Courier New"/>
                <a:cs typeface="Courier New"/>
                <a:sym typeface="Courier New"/>
              </a:rPr>
              <a:t> HttpCookie(</a:t>
            </a:r>
            <a:r>
              <a:rPr lang="en-IN" sz="1897">
                <a:solidFill>
                  <a:srgbClr val="0000FF"/>
                </a:solidFill>
                <a:highlight>
                  <a:srgbClr val="FFFFFF"/>
                </a:highlight>
                <a:latin typeface="Courier New"/>
                <a:ea typeface="Courier New"/>
                <a:cs typeface="Courier New"/>
                <a:sym typeface="Courier New"/>
              </a:rPr>
              <a:t>"userInfo"</a:t>
            </a:r>
            <a:r>
              <a:rPr lang="en-IN" sz="1897">
                <a:solidFill>
                  <a:schemeClr val="dk1"/>
                </a:solidFill>
                <a:highlight>
                  <a:srgbClr val="FFFFFF"/>
                </a:highlight>
                <a:latin typeface="Courier New"/>
                <a:ea typeface="Courier New"/>
                <a:cs typeface="Courier New"/>
                <a:sym typeface="Courier New"/>
              </a:rPr>
              <a:t>);  </a:t>
            </a:r>
            <a:endParaRPr sz="1897">
              <a:solidFill>
                <a:schemeClr val="dk1"/>
              </a:solidFill>
              <a:highlight>
                <a:srgbClr val="FFFFFF"/>
              </a:highlight>
              <a:latin typeface="Courier New"/>
              <a:ea typeface="Courier New"/>
              <a:cs typeface="Courier New"/>
              <a:sym typeface="Courier New"/>
            </a:endParaRPr>
          </a:p>
          <a:p>
            <a:pPr indent="-312950" lvl="0" marL="787400" rtl="0" algn="l">
              <a:lnSpc>
                <a:spcPct val="112500"/>
              </a:lnSpc>
              <a:spcBef>
                <a:spcPts val="0"/>
              </a:spcBef>
              <a:spcAft>
                <a:spcPts val="0"/>
              </a:spcAft>
              <a:buClr>
                <a:srgbClr val="5C5C5C"/>
              </a:buClr>
              <a:buSzPct val="100000"/>
              <a:buFont typeface="Courier New"/>
              <a:buChar char="●"/>
            </a:pPr>
            <a:r>
              <a:rPr lang="en-IN" sz="1897">
                <a:solidFill>
                  <a:schemeClr val="dk1"/>
                </a:solidFill>
                <a:highlight>
                  <a:srgbClr val="F8F8F8"/>
                </a:highlight>
                <a:latin typeface="Courier New"/>
                <a:ea typeface="Courier New"/>
                <a:cs typeface="Courier New"/>
                <a:sym typeface="Courier New"/>
              </a:rPr>
              <a:t>userInfo[</a:t>
            </a:r>
            <a:r>
              <a:rPr lang="en-IN" sz="1897">
                <a:solidFill>
                  <a:srgbClr val="0000FF"/>
                </a:solidFill>
                <a:highlight>
                  <a:srgbClr val="F8F8F8"/>
                </a:highlight>
                <a:latin typeface="Courier New"/>
                <a:ea typeface="Courier New"/>
                <a:cs typeface="Courier New"/>
                <a:sym typeface="Courier New"/>
              </a:rPr>
              <a:t>"UserName"</a:t>
            </a:r>
            <a:r>
              <a:rPr lang="en-IN" sz="1897">
                <a:solidFill>
                  <a:schemeClr val="dk1"/>
                </a:solidFill>
                <a:highlight>
                  <a:srgbClr val="F8F8F8"/>
                </a:highlight>
                <a:latin typeface="Courier New"/>
                <a:ea typeface="Courier New"/>
                <a:cs typeface="Courier New"/>
                <a:sym typeface="Courier New"/>
              </a:rPr>
              <a:t>] = </a:t>
            </a:r>
            <a:r>
              <a:rPr lang="en-IN" sz="1897">
                <a:solidFill>
                  <a:srgbClr val="0000FF"/>
                </a:solidFill>
                <a:highlight>
                  <a:srgbClr val="F8F8F8"/>
                </a:highlight>
                <a:latin typeface="Courier New"/>
                <a:ea typeface="Courier New"/>
                <a:cs typeface="Courier New"/>
                <a:sym typeface="Courier New"/>
              </a:rPr>
              <a:t>"Annathurai"</a:t>
            </a:r>
            <a:r>
              <a:rPr lang="en-IN" sz="1897">
                <a:solidFill>
                  <a:schemeClr val="dk1"/>
                </a:solidFill>
                <a:highlight>
                  <a:srgbClr val="F8F8F8"/>
                </a:highlight>
                <a:latin typeface="Courier New"/>
                <a:ea typeface="Courier New"/>
                <a:cs typeface="Courier New"/>
                <a:sym typeface="Courier New"/>
              </a:rPr>
              <a:t>;  </a:t>
            </a:r>
            <a:endParaRPr sz="1897">
              <a:solidFill>
                <a:schemeClr val="dk1"/>
              </a:solidFill>
              <a:highlight>
                <a:srgbClr val="F8F8F8"/>
              </a:highlight>
              <a:latin typeface="Courier New"/>
              <a:ea typeface="Courier New"/>
              <a:cs typeface="Courier New"/>
              <a:sym typeface="Courier New"/>
            </a:endParaRPr>
          </a:p>
          <a:p>
            <a:pPr indent="-312950" lvl="0" marL="787400" rtl="0" algn="l">
              <a:lnSpc>
                <a:spcPct val="112500"/>
              </a:lnSpc>
              <a:spcBef>
                <a:spcPts val="0"/>
              </a:spcBef>
              <a:spcAft>
                <a:spcPts val="0"/>
              </a:spcAft>
              <a:buClr>
                <a:srgbClr val="5C5C5C"/>
              </a:buClr>
              <a:buSzPct val="100000"/>
              <a:buFont typeface="Courier New"/>
              <a:buChar char="●"/>
            </a:pPr>
            <a:r>
              <a:rPr lang="en-IN" sz="1897">
                <a:solidFill>
                  <a:schemeClr val="dk1"/>
                </a:solidFill>
                <a:highlight>
                  <a:srgbClr val="FFFFFF"/>
                </a:highlight>
                <a:latin typeface="Courier New"/>
                <a:ea typeface="Courier New"/>
                <a:cs typeface="Courier New"/>
                <a:sym typeface="Courier New"/>
              </a:rPr>
              <a:t>userInfo[</a:t>
            </a:r>
            <a:r>
              <a:rPr lang="en-IN" sz="1897">
                <a:solidFill>
                  <a:srgbClr val="0000FF"/>
                </a:solidFill>
                <a:highlight>
                  <a:srgbClr val="FFFFFF"/>
                </a:highlight>
                <a:latin typeface="Courier New"/>
                <a:ea typeface="Courier New"/>
                <a:cs typeface="Courier New"/>
                <a:sym typeface="Courier New"/>
              </a:rPr>
              <a:t>"UserColor"</a:t>
            </a:r>
            <a:r>
              <a:rPr lang="en-IN" sz="1897">
                <a:solidFill>
                  <a:schemeClr val="dk1"/>
                </a:solidFill>
                <a:highlight>
                  <a:srgbClr val="FFFFFF"/>
                </a:highlight>
                <a:latin typeface="Courier New"/>
                <a:ea typeface="Courier New"/>
                <a:cs typeface="Courier New"/>
                <a:sym typeface="Courier New"/>
              </a:rPr>
              <a:t>] = </a:t>
            </a:r>
            <a:r>
              <a:rPr lang="en-IN" sz="1897">
                <a:solidFill>
                  <a:srgbClr val="0000FF"/>
                </a:solidFill>
                <a:highlight>
                  <a:srgbClr val="FFFFFF"/>
                </a:highlight>
                <a:latin typeface="Courier New"/>
                <a:ea typeface="Courier New"/>
                <a:cs typeface="Courier New"/>
                <a:sym typeface="Courier New"/>
              </a:rPr>
              <a:t>"Black"</a:t>
            </a:r>
            <a:r>
              <a:rPr lang="en-IN" sz="1897">
                <a:solidFill>
                  <a:schemeClr val="dk1"/>
                </a:solidFill>
                <a:highlight>
                  <a:srgbClr val="FFFFFF"/>
                </a:highlight>
                <a:latin typeface="Courier New"/>
                <a:ea typeface="Courier New"/>
                <a:cs typeface="Courier New"/>
                <a:sym typeface="Courier New"/>
              </a:rPr>
              <a:t>;  </a:t>
            </a:r>
            <a:endParaRPr sz="1897">
              <a:solidFill>
                <a:schemeClr val="dk1"/>
              </a:solidFill>
              <a:highlight>
                <a:srgbClr val="FFFFFF"/>
              </a:highlight>
              <a:latin typeface="Courier New"/>
              <a:ea typeface="Courier New"/>
              <a:cs typeface="Courier New"/>
              <a:sym typeface="Courier New"/>
            </a:endParaRPr>
          </a:p>
          <a:p>
            <a:pPr indent="-312950" lvl="0" marL="787400" rtl="0" algn="l">
              <a:lnSpc>
                <a:spcPct val="112500"/>
              </a:lnSpc>
              <a:spcBef>
                <a:spcPts val="0"/>
              </a:spcBef>
              <a:spcAft>
                <a:spcPts val="0"/>
              </a:spcAft>
              <a:buClr>
                <a:srgbClr val="5C5C5C"/>
              </a:buClr>
              <a:buSzPct val="100000"/>
              <a:buFont typeface="Courier New"/>
              <a:buChar char="●"/>
            </a:pPr>
            <a:r>
              <a:rPr lang="en-IN" sz="1897">
                <a:solidFill>
                  <a:schemeClr val="dk1"/>
                </a:solidFill>
                <a:highlight>
                  <a:srgbClr val="F8F8F8"/>
                </a:highlight>
                <a:latin typeface="Courier New"/>
                <a:ea typeface="Courier New"/>
                <a:cs typeface="Courier New"/>
                <a:sym typeface="Courier New"/>
              </a:rPr>
              <a:t>userInfo.Expires.Add(</a:t>
            </a:r>
            <a:r>
              <a:rPr b="1" lang="en-IN" sz="1897">
                <a:solidFill>
                  <a:srgbClr val="006699"/>
                </a:solidFill>
                <a:highlight>
                  <a:srgbClr val="F8F8F8"/>
                </a:highlight>
                <a:latin typeface="Courier New"/>
                <a:ea typeface="Courier New"/>
                <a:cs typeface="Courier New"/>
                <a:sym typeface="Courier New"/>
              </a:rPr>
              <a:t>new</a:t>
            </a:r>
            <a:r>
              <a:rPr lang="en-IN" sz="1897">
                <a:solidFill>
                  <a:schemeClr val="dk1"/>
                </a:solidFill>
                <a:highlight>
                  <a:srgbClr val="F8F8F8"/>
                </a:highlight>
                <a:latin typeface="Courier New"/>
                <a:ea typeface="Courier New"/>
                <a:cs typeface="Courier New"/>
                <a:sym typeface="Courier New"/>
              </a:rPr>
              <a:t> TimeSpan(0, 1, 0));  </a:t>
            </a:r>
            <a:endParaRPr sz="1897">
              <a:solidFill>
                <a:schemeClr val="dk1"/>
              </a:solidFill>
              <a:highlight>
                <a:srgbClr val="F8F8F8"/>
              </a:highlight>
              <a:latin typeface="Courier New"/>
              <a:ea typeface="Courier New"/>
              <a:cs typeface="Courier New"/>
              <a:sym typeface="Courier New"/>
            </a:endParaRPr>
          </a:p>
          <a:p>
            <a:pPr indent="-312950" lvl="0" marL="787400" rtl="0" algn="l">
              <a:lnSpc>
                <a:spcPct val="112500"/>
              </a:lnSpc>
              <a:spcBef>
                <a:spcPts val="0"/>
              </a:spcBef>
              <a:spcAft>
                <a:spcPts val="0"/>
              </a:spcAft>
              <a:buClr>
                <a:srgbClr val="5C5C5C"/>
              </a:buClr>
              <a:buSzPct val="100000"/>
              <a:buFont typeface="Courier New"/>
              <a:buChar char="●"/>
            </a:pPr>
            <a:r>
              <a:rPr lang="en-IN" sz="1897">
                <a:solidFill>
                  <a:schemeClr val="dk1"/>
                </a:solidFill>
                <a:highlight>
                  <a:srgbClr val="FFFFFF"/>
                </a:highlight>
                <a:latin typeface="Courier New"/>
                <a:ea typeface="Courier New"/>
                <a:cs typeface="Courier New"/>
                <a:sym typeface="Courier New"/>
              </a:rPr>
              <a:t>Response.Cookies.Add(userInfo);  </a:t>
            </a:r>
            <a:endParaRPr sz="1897">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800"/>
              </a:spcBef>
              <a:spcAft>
                <a:spcPts val="0"/>
              </a:spcAft>
              <a:buClr>
                <a:schemeClr val="dk1"/>
              </a:buClr>
              <a:buSzPct val="57966"/>
              <a:buFont typeface="Arial"/>
              <a:buNone/>
            </a:pPr>
            <a:r>
              <a:rPr lang="en-IN" sz="1897" u="sng">
                <a:solidFill>
                  <a:srgbClr val="212121"/>
                </a:solidFill>
                <a:highlight>
                  <a:srgbClr val="FFFFFF"/>
                </a:highlight>
                <a:latin typeface="Arial"/>
                <a:ea typeface="Arial"/>
                <a:cs typeface="Arial"/>
                <a:sym typeface="Arial"/>
              </a:rPr>
              <a:t>Example 2</a:t>
            </a:r>
            <a:endParaRPr sz="1897" u="sng">
              <a:solidFill>
                <a:srgbClr val="212121"/>
              </a:solidFill>
              <a:highlight>
                <a:srgbClr val="FFFFFF"/>
              </a:highlight>
              <a:latin typeface="Arial"/>
              <a:ea typeface="Arial"/>
              <a:cs typeface="Arial"/>
              <a:sym typeface="Arial"/>
            </a:endParaRPr>
          </a:p>
          <a:p>
            <a:pPr indent="-312950" lvl="0" marL="787400" rtl="0" algn="l">
              <a:lnSpc>
                <a:spcPct val="112500"/>
              </a:lnSpc>
              <a:spcBef>
                <a:spcPts val="2200"/>
              </a:spcBef>
              <a:spcAft>
                <a:spcPts val="0"/>
              </a:spcAft>
              <a:buClr>
                <a:srgbClr val="5C5C5C"/>
              </a:buClr>
              <a:buSzPct val="100000"/>
              <a:buFont typeface="Courier New"/>
              <a:buChar char="●"/>
            </a:pPr>
            <a:r>
              <a:rPr lang="en-IN" sz="1897">
                <a:solidFill>
                  <a:schemeClr val="dk1"/>
                </a:solidFill>
                <a:highlight>
                  <a:srgbClr val="FFFFFF"/>
                </a:highlight>
                <a:latin typeface="Courier New"/>
                <a:ea typeface="Courier New"/>
                <a:cs typeface="Courier New"/>
                <a:sym typeface="Courier New"/>
              </a:rPr>
              <a:t>Response.Cookies[</a:t>
            </a:r>
            <a:r>
              <a:rPr lang="en-IN" sz="1897">
                <a:solidFill>
                  <a:srgbClr val="0000FF"/>
                </a:solidFill>
                <a:highlight>
                  <a:srgbClr val="FFFFFF"/>
                </a:highlight>
                <a:latin typeface="Courier New"/>
                <a:ea typeface="Courier New"/>
                <a:cs typeface="Courier New"/>
                <a:sym typeface="Courier New"/>
              </a:rPr>
              <a:t>"userName"</a:t>
            </a:r>
            <a:r>
              <a:rPr lang="en-IN" sz="1897">
                <a:solidFill>
                  <a:schemeClr val="dk1"/>
                </a:solidFill>
                <a:highlight>
                  <a:srgbClr val="FFFFFF"/>
                </a:highlight>
                <a:latin typeface="Courier New"/>
                <a:ea typeface="Courier New"/>
                <a:cs typeface="Courier New"/>
                <a:sym typeface="Courier New"/>
              </a:rPr>
              <a:t>].Value = </a:t>
            </a:r>
            <a:r>
              <a:rPr lang="en-IN" sz="1897">
                <a:solidFill>
                  <a:srgbClr val="0000FF"/>
                </a:solidFill>
                <a:highlight>
                  <a:srgbClr val="FFFFFF"/>
                </a:highlight>
                <a:latin typeface="Courier New"/>
                <a:ea typeface="Courier New"/>
                <a:cs typeface="Courier New"/>
                <a:sym typeface="Courier New"/>
              </a:rPr>
              <a:t>"Annathurai"</a:t>
            </a:r>
            <a:r>
              <a:rPr lang="en-IN" sz="1897">
                <a:solidFill>
                  <a:schemeClr val="dk1"/>
                </a:solidFill>
                <a:highlight>
                  <a:srgbClr val="FFFFFF"/>
                </a:highlight>
                <a:latin typeface="Courier New"/>
                <a:ea typeface="Courier New"/>
                <a:cs typeface="Courier New"/>
                <a:sym typeface="Courier New"/>
              </a:rPr>
              <a:t>;  </a:t>
            </a:r>
            <a:endParaRPr sz="1897">
              <a:solidFill>
                <a:schemeClr val="dk1"/>
              </a:solidFill>
              <a:highlight>
                <a:srgbClr val="FFFFFF"/>
              </a:highlight>
              <a:latin typeface="Courier New"/>
              <a:ea typeface="Courier New"/>
              <a:cs typeface="Courier New"/>
              <a:sym typeface="Courier New"/>
            </a:endParaRPr>
          </a:p>
          <a:p>
            <a:pPr indent="-312950" lvl="0" marL="787400" rtl="0" algn="l">
              <a:lnSpc>
                <a:spcPct val="112500"/>
              </a:lnSpc>
              <a:spcBef>
                <a:spcPts val="0"/>
              </a:spcBef>
              <a:spcAft>
                <a:spcPts val="0"/>
              </a:spcAft>
              <a:buClr>
                <a:srgbClr val="5C5C5C"/>
              </a:buClr>
              <a:buSzPct val="100000"/>
              <a:buFont typeface="Courier New"/>
              <a:buChar char="●"/>
            </a:pPr>
            <a:r>
              <a:rPr lang="en-IN" sz="1897">
                <a:solidFill>
                  <a:schemeClr val="dk1"/>
                </a:solidFill>
                <a:highlight>
                  <a:srgbClr val="F8F8F8"/>
                </a:highlight>
                <a:latin typeface="Courier New"/>
                <a:ea typeface="Courier New"/>
                <a:cs typeface="Courier New"/>
                <a:sym typeface="Courier New"/>
              </a:rPr>
              <a:t>Response.Cookies[</a:t>
            </a:r>
            <a:r>
              <a:rPr lang="en-IN" sz="1897">
                <a:solidFill>
                  <a:srgbClr val="0000FF"/>
                </a:solidFill>
                <a:highlight>
                  <a:srgbClr val="F8F8F8"/>
                </a:highlight>
                <a:latin typeface="Courier New"/>
                <a:ea typeface="Courier New"/>
                <a:cs typeface="Courier New"/>
                <a:sym typeface="Courier New"/>
              </a:rPr>
              <a:t>"userColor"</a:t>
            </a:r>
            <a:r>
              <a:rPr lang="en-IN" sz="1897">
                <a:solidFill>
                  <a:schemeClr val="dk1"/>
                </a:solidFill>
                <a:highlight>
                  <a:srgbClr val="F8F8F8"/>
                </a:highlight>
                <a:latin typeface="Courier New"/>
                <a:ea typeface="Courier New"/>
                <a:cs typeface="Courier New"/>
                <a:sym typeface="Courier New"/>
              </a:rPr>
              <a:t>].Value = </a:t>
            </a:r>
            <a:r>
              <a:rPr lang="en-IN" sz="1897">
                <a:solidFill>
                  <a:srgbClr val="0000FF"/>
                </a:solidFill>
                <a:highlight>
                  <a:srgbClr val="F8F8F8"/>
                </a:highlight>
                <a:latin typeface="Courier New"/>
                <a:ea typeface="Courier New"/>
                <a:cs typeface="Courier New"/>
                <a:sym typeface="Courier New"/>
              </a:rPr>
              <a:t>"Black"</a:t>
            </a:r>
            <a:r>
              <a:rPr lang="en-IN" sz="1897">
                <a:solidFill>
                  <a:schemeClr val="dk1"/>
                </a:solidFill>
                <a:highlight>
                  <a:srgbClr val="F8F8F8"/>
                </a:highlight>
                <a:latin typeface="Courier New"/>
                <a:ea typeface="Courier New"/>
                <a:cs typeface="Courier New"/>
                <a:sym typeface="Courier New"/>
              </a:rPr>
              <a:t>;  </a:t>
            </a:r>
            <a:endParaRPr sz="1897">
              <a:solidFill>
                <a:schemeClr val="dk1"/>
              </a:solidFill>
              <a:highlight>
                <a:srgbClr val="F8F8F8"/>
              </a:highlight>
              <a:latin typeface="Courier New"/>
              <a:ea typeface="Courier New"/>
              <a:cs typeface="Courier New"/>
              <a:sym typeface="Courier New"/>
            </a:endParaRPr>
          </a:p>
          <a:p>
            <a:pPr indent="0" lvl="0" marL="0" rtl="0" algn="l">
              <a:spcBef>
                <a:spcPts val="8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graphicFrame>
        <p:nvGraphicFramePr>
          <p:cNvPr id="313" name="Google Shape;313;g1360a5a6ccf_2_57"/>
          <p:cNvGraphicFramePr/>
          <p:nvPr/>
        </p:nvGraphicFramePr>
        <p:xfrm>
          <a:off x="1132075" y="2398725"/>
          <a:ext cx="3000000" cy="3000000"/>
        </p:xfrm>
        <a:graphic>
          <a:graphicData uri="http://schemas.openxmlformats.org/drawingml/2006/table">
            <a:tbl>
              <a:tblPr>
                <a:solidFill>
                  <a:srgbClr val="FFFFFF"/>
                </a:solidFill>
                <a:tableStyleId>{D3D0EA8F-781D-44B6-A3E9-48BEDCEB77DF}</a:tableStyleId>
              </a:tblPr>
              <a:tblGrid>
                <a:gridCol w="2271700"/>
                <a:gridCol w="4129425"/>
              </a:tblGrid>
              <a:tr h="1125575">
                <a:tc>
                  <a:txBody>
                    <a:bodyPr/>
                    <a:lstStyle/>
                    <a:p>
                      <a:pPr indent="0" lvl="0" marL="0" rtl="0" algn="l">
                        <a:lnSpc>
                          <a:spcPct val="150000"/>
                        </a:lnSpc>
                        <a:spcBef>
                          <a:spcPts val="0"/>
                        </a:spcBef>
                        <a:spcAft>
                          <a:spcPts val="0"/>
                        </a:spcAft>
                        <a:buNone/>
                      </a:pPr>
                      <a:r>
                        <a:rPr lang="en-IN" sz="1900">
                          <a:solidFill>
                            <a:schemeClr val="hlink"/>
                          </a:solidFill>
                          <a:highlight>
                            <a:srgbClr val="FFFFFF"/>
                          </a:highlight>
                          <a:uFill>
                            <a:noFill/>
                          </a:uFill>
                          <a:hlinkClick r:id="rId3"/>
                        </a:rPr>
                        <a:t>HttpCookie(String)</a:t>
                      </a:r>
                      <a:endParaRPr sz="19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900">
                          <a:solidFill>
                            <a:srgbClr val="171717"/>
                          </a:solidFill>
                          <a:highlight>
                            <a:srgbClr val="FFFFFF"/>
                          </a:highlight>
                        </a:rPr>
                        <a:t>Creates and names a new cookie.</a:t>
                      </a:r>
                      <a:endParaRPr sz="1900">
                        <a:solidFill>
                          <a:srgbClr val="171717"/>
                        </a:solidFill>
                        <a:highlight>
                          <a:srgbClr val="FFFFFF"/>
                        </a:highlight>
                      </a:endParaRPr>
                    </a:p>
                  </a:txBody>
                  <a:tcPr marT="91425" marB="91425" marR="91425" marL="91425"/>
                </a:tc>
              </a:tr>
              <a:tr h="1108725">
                <a:tc>
                  <a:txBody>
                    <a:bodyPr/>
                    <a:lstStyle/>
                    <a:p>
                      <a:pPr indent="0" lvl="0" marL="0" rtl="0" algn="l">
                        <a:lnSpc>
                          <a:spcPct val="150000"/>
                        </a:lnSpc>
                        <a:spcBef>
                          <a:spcPts val="0"/>
                        </a:spcBef>
                        <a:spcAft>
                          <a:spcPts val="0"/>
                        </a:spcAft>
                        <a:buNone/>
                      </a:pPr>
                      <a:r>
                        <a:rPr lang="en-IN" sz="1900">
                          <a:solidFill>
                            <a:schemeClr val="hlink"/>
                          </a:solidFill>
                          <a:highlight>
                            <a:srgbClr val="FFFFFF"/>
                          </a:highlight>
                          <a:uFill>
                            <a:noFill/>
                          </a:uFill>
                          <a:hlinkClick r:id="rId4"/>
                        </a:rPr>
                        <a:t>HttpCookie(String, String)</a:t>
                      </a:r>
                      <a:endParaRPr sz="19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900">
                          <a:solidFill>
                            <a:srgbClr val="171717"/>
                          </a:solidFill>
                          <a:highlight>
                            <a:srgbClr val="FFFFFF"/>
                          </a:highlight>
                        </a:rPr>
                        <a:t>Creates, names, and assigns a value to a new cookie.</a:t>
                      </a:r>
                      <a:endParaRPr sz="1900">
                        <a:solidFill>
                          <a:srgbClr val="171717"/>
                        </a:solidFill>
                        <a:highlight>
                          <a:srgbClr val="FFFFFF"/>
                        </a:highlight>
                      </a:endParaRPr>
                    </a:p>
                  </a:txBody>
                  <a:tcPr marT="91425" marB="91425" marR="91425" marL="91425"/>
                </a:tc>
              </a:tr>
            </a:tbl>
          </a:graphicData>
        </a:graphic>
      </p:graphicFrame>
      <p:sp>
        <p:nvSpPr>
          <p:cNvPr id="314" name="Google Shape;314;g1360a5a6ccf_2_57"/>
          <p:cNvSpPr txBox="1"/>
          <p:nvPr/>
        </p:nvSpPr>
        <p:spPr>
          <a:xfrm>
            <a:off x="2679150" y="1112100"/>
            <a:ext cx="3000000" cy="6003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1800"/>
              </a:spcBef>
              <a:spcAft>
                <a:spcPts val="400"/>
              </a:spcAft>
              <a:buNone/>
            </a:pPr>
            <a:r>
              <a:rPr b="1" lang="en-IN" sz="2700">
                <a:solidFill>
                  <a:srgbClr val="171717"/>
                </a:solidFill>
                <a:highlight>
                  <a:srgbClr val="FFFFFF"/>
                </a:highlight>
              </a:rPr>
              <a:t>Constructors</a:t>
            </a:r>
            <a:endParaRPr b="1" sz="2700">
              <a:solidFill>
                <a:srgbClr val="171717"/>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1360a5a6ccf_2_48"/>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320" name="Google Shape;320;g1360a5a6ccf_2_48"/>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graphicFrame>
        <p:nvGraphicFramePr>
          <p:cNvPr id="321" name="Google Shape;321;g1360a5a6ccf_2_48"/>
          <p:cNvGraphicFramePr/>
          <p:nvPr/>
        </p:nvGraphicFramePr>
        <p:xfrm>
          <a:off x="598925" y="1521825"/>
          <a:ext cx="3000000" cy="3000000"/>
        </p:xfrm>
        <a:graphic>
          <a:graphicData uri="http://schemas.openxmlformats.org/drawingml/2006/table">
            <a:tbl>
              <a:tblPr>
                <a:solidFill>
                  <a:srgbClr val="FFFFFF"/>
                </a:solidFill>
                <a:tableStyleId>{D3D0EA8F-781D-44B6-A3E9-48BEDCEB77DF}</a:tableStyleId>
              </a:tblPr>
              <a:tblGrid>
                <a:gridCol w="2711200"/>
                <a:gridCol w="4928400"/>
              </a:tblGrid>
              <a:tr h="40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3"/>
                        </a:rPr>
                        <a:t>Domain</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the domain to associate the cookie with.</a:t>
                      </a:r>
                      <a:endParaRPr sz="1100">
                        <a:solidFill>
                          <a:srgbClr val="171717"/>
                        </a:solidFill>
                        <a:highlight>
                          <a:srgbClr val="FFFFFF"/>
                        </a:highlight>
                      </a:endParaRPr>
                    </a:p>
                  </a:txBody>
                  <a:tcPr marT="91425" marB="91425" marR="91425" marL="91425"/>
                </a:tc>
              </a:tr>
              <a:tr h="40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4"/>
                        </a:rPr>
                        <a:t>Expires</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the expiration date and time for the cookie.</a:t>
                      </a:r>
                      <a:endParaRPr sz="1100">
                        <a:solidFill>
                          <a:srgbClr val="171717"/>
                        </a:solidFill>
                        <a:highlight>
                          <a:srgbClr val="FFFFFF"/>
                        </a:highlight>
                      </a:endParaRPr>
                    </a:p>
                  </a:txBody>
                  <a:tcPr marT="91425" marB="91425" marR="91425" marL="91425"/>
                </a:tc>
              </a:tr>
              <a:tr h="40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5"/>
                        </a:rPr>
                        <a:t>HasKeys</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a value indicating whether a cookie has subkeys.</a:t>
                      </a:r>
                      <a:endParaRPr sz="1100">
                        <a:solidFill>
                          <a:srgbClr val="171717"/>
                        </a:solidFill>
                        <a:highlight>
                          <a:srgbClr val="FFFFFF"/>
                        </a:highlight>
                      </a:endParaRPr>
                    </a:p>
                  </a:txBody>
                  <a:tcPr marT="91425" marB="91425" marR="91425" marL="91425"/>
                </a:tc>
              </a:tr>
              <a:tr h="643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6"/>
                        </a:rPr>
                        <a:t>HttpOnly</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a value that specifies whether a cookie is accessible by client-side script.</a:t>
                      </a:r>
                      <a:endParaRPr sz="1100">
                        <a:solidFill>
                          <a:srgbClr val="171717"/>
                        </a:solidFill>
                        <a:highlight>
                          <a:srgbClr val="FFFFFF"/>
                        </a:highlight>
                      </a:endParaRPr>
                    </a:p>
                  </a:txBody>
                  <a:tcPr marT="91425" marB="91425" marR="91425" marL="91425"/>
                </a:tc>
              </a:tr>
              <a:tr h="87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7"/>
                        </a:rPr>
                        <a:t>Item[String]</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a shortcut to the </a:t>
                      </a:r>
                      <a:r>
                        <a:rPr lang="en-IN" sz="1100">
                          <a:solidFill>
                            <a:schemeClr val="hlink"/>
                          </a:solidFill>
                          <a:highlight>
                            <a:srgbClr val="FFFFFF"/>
                          </a:highlight>
                          <a:uFill>
                            <a:noFill/>
                          </a:uFill>
                          <a:hlinkClick r:id="rId8"/>
                        </a:rPr>
                        <a:t>Values</a:t>
                      </a:r>
                      <a:r>
                        <a:rPr lang="en-IN" sz="1100">
                          <a:solidFill>
                            <a:srgbClr val="171717"/>
                          </a:solidFill>
                          <a:highlight>
                            <a:srgbClr val="FFFFFF"/>
                          </a:highlight>
                        </a:rPr>
                        <a:t> property. This property is provided for compatibility with previous versions of Active Server Pages (ASP).</a:t>
                      </a:r>
                      <a:endParaRPr sz="1100">
                        <a:solidFill>
                          <a:srgbClr val="171717"/>
                        </a:solidFill>
                        <a:highlight>
                          <a:srgbClr val="FFFFFF"/>
                        </a:highlight>
                      </a:endParaRPr>
                    </a:p>
                  </a:txBody>
                  <a:tcPr marT="91425" marB="91425" marR="91425" marL="91425"/>
                </a:tc>
              </a:tr>
              <a:tr h="40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9"/>
                        </a:rPr>
                        <a:t>Name</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the name of a cookie.</a:t>
                      </a:r>
                      <a:endParaRPr sz="1100">
                        <a:solidFill>
                          <a:srgbClr val="171717"/>
                        </a:solidFill>
                        <a:highlight>
                          <a:srgbClr val="FFFFFF"/>
                        </a:highlight>
                      </a:endParaRPr>
                    </a:p>
                  </a:txBody>
                  <a:tcPr marT="91425" marB="91425" marR="91425" marL="91425"/>
                </a:tc>
              </a:tr>
              <a:tr h="643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10"/>
                        </a:rPr>
                        <a:t>Path</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the virtual path to transmit with the current cookie.</a:t>
                      </a:r>
                      <a:endParaRPr sz="1100">
                        <a:solidFill>
                          <a:srgbClr val="171717"/>
                        </a:solidFill>
                        <a:highlight>
                          <a:srgbClr val="FFFFFF"/>
                        </a:highlight>
                      </a:endParaRPr>
                    </a:p>
                  </a:txBody>
                  <a:tcPr marT="91425" marB="91425" marR="91425" marL="91425"/>
                </a:tc>
              </a:tr>
              <a:tr h="408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11"/>
                        </a:rPr>
                        <a:t>Value</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or sets an individual cookie value.</a:t>
                      </a:r>
                      <a:endParaRPr sz="1100">
                        <a:solidFill>
                          <a:srgbClr val="171717"/>
                        </a:solidFill>
                        <a:highlight>
                          <a:srgbClr val="FFFFFF"/>
                        </a:highlight>
                      </a:endParaRPr>
                    </a:p>
                  </a:txBody>
                  <a:tcPr marT="91425" marB="91425" marR="91425" marL="91425"/>
                </a:tc>
              </a:tr>
              <a:tr h="643500">
                <a:tc>
                  <a:txBody>
                    <a:bodyPr/>
                    <a:lstStyle/>
                    <a:p>
                      <a:pPr indent="0" lvl="0" marL="0" rtl="0" algn="l">
                        <a:lnSpc>
                          <a:spcPct val="150000"/>
                        </a:lnSpc>
                        <a:spcBef>
                          <a:spcPts val="0"/>
                        </a:spcBef>
                        <a:spcAft>
                          <a:spcPts val="0"/>
                        </a:spcAft>
                        <a:buNone/>
                      </a:pPr>
                      <a:r>
                        <a:rPr lang="en-IN" sz="1100">
                          <a:solidFill>
                            <a:schemeClr val="hlink"/>
                          </a:solidFill>
                          <a:highlight>
                            <a:srgbClr val="FFFFFF"/>
                          </a:highlight>
                          <a:uFill>
                            <a:noFill/>
                          </a:uFill>
                          <a:hlinkClick r:id="rId12"/>
                        </a:rPr>
                        <a:t>Values</a:t>
                      </a:r>
                      <a:endParaRPr sz="1100">
                        <a:solidFill>
                          <a:schemeClr val="hlink"/>
                        </a:solidFill>
                        <a:highlight>
                          <a:srgbClr val="FFFFFF"/>
                        </a:highlight>
                      </a:endParaRPr>
                    </a:p>
                  </a:txBody>
                  <a:tcPr marT="91425" marB="91425" marR="91425" marL="91425"/>
                </a:tc>
                <a:tc>
                  <a:txBody>
                    <a:bodyPr/>
                    <a:lstStyle/>
                    <a:p>
                      <a:pPr indent="0" lvl="0" marL="0" rtl="0" algn="l">
                        <a:lnSpc>
                          <a:spcPct val="150000"/>
                        </a:lnSpc>
                        <a:spcBef>
                          <a:spcPts val="0"/>
                        </a:spcBef>
                        <a:spcAft>
                          <a:spcPts val="0"/>
                        </a:spcAft>
                        <a:buNone/>
                      </a:pPr>
                      <a:r>
                        <a:rPr lang="en-IN" sz="1100">
                          <a:solidFill>
                            <a:srgbClr val="171717"/>
                          </a:solidFill>
                          <a:highlight>
                            <a:srgbClr val="FFFFFF"/>
                          </a:highlight>
                        </a:rPr>
                        <a:t>Gets a collection of key/value pairs that are contained within a single cookie object.</a:t>
                      </a:r>
                      <a:endParaRPr sz="1100">
                        <a:solidFill>
                          <a:srgbClr val="171717"/>
                        </a:solidFill>
                        <a:highlight>
                          <a:srgbClr val="FFFFFF"/>
                        </a:highlight>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13c1e316858_0_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327" name="Google Shape;327;g13c1e316858_0_0"/>
          <p:cNvSpPr txBox="1"/>
          <p:nvPr>
            <p:ph idx="1" type="body"/>
          </p:nvPr>
        </p:nvSpPr>
        <p:spPr>
          <a:xfrm>
            <a:off x="1167242" y="1194677"/>
            <a:ext cx="6777300" cy="3509100"/>
          </a:xfrm>
          <a:prstGeom prst="rect">
            <a:avLst/>
          </a:prstGeom>
        </p:spPr>
        <p:txBody>
          <a:bodyPr anchorCtr="0" anchor="t" bIns="45700" lIns="91425" spcFirstLastPara="1" rIns="91425" wrap="square" tIns="45700">
            <a:normAutofit fontScale="62500" lnSpcReduction="20000"/>
          </a:bodyPr>
          <a:lstStyle/>
          <a:p>
            <a:pPr indent="0" lvl="0" marL="0" rtl="0" algn="l">
              <a:lnSpc>
                <a:spcPct val="110000"/>
              </a:lnSpc>
              <a:spcBef>
                <a:spcPts val="1500"/>
              </a:spcBef>
              <a:spcAft>
                <a:spcPts val="0"/>
              </a:spcAft>
              <a:buClr>
                <a:schemeClr val="dk1"/>
              </a:buClr>
              <a:buSzPct val="39379"/>
              <a:buFont typeface="Arial"/>
              <a:buNone/>
            </a:pPr>
            <a:r>
              <a:rPr b="1" lang="en-IN" sz="2793">
                <a:solidFill>
                  <a:srgbClr val="0000FF"/>
                </a:solidFill>
                <a:highlight>
                  <a:srgbClr val="FFFFFF"/>
                </a:highlight>
                <a:latin typeface="Arial"/>
                <a:ea typeface="Arial"/>
                <a:cs typeface="Arial"/>
                <a:sym typeface="Arial"/>
              </a:rPr>
              <a:t>Cookies with multiple values in asp .net</a:t>
            </a:r>
            <a:endParaRPr b="1" sz="2793">
              <a:solidFill>
                <a:srgbClr val="0000FF"/>
              </a:solidFill>
              <a:highlight>
                <a:srgbClr val="FFFFFF"/>
              </a:highlight>
              <a:latin typeface="Arial"/>
              <a:ea typeface="Arial"/>
              <a:cs typeface="Arial"/>
              <a:sym typeface="Arial"/>
            </a:endParaRPr>
          </a:p>
          <a:p>
            <a:pPr indent="0" lvl="0" marL="0" rtl="0" algn="l">
              <a:lnSpc>
                <a:spcPct val="115000"/>
              </a:lnSpc>
              <a:spcBef>
                <a:spcPts val="800"/>
              </a:spcBef>
              <a:spcAft>
                <a:spcPts val="0"/>
              </a:spcAft>
              <a:buNone/>
            </a:pPr>
            <a:r>
              <a:rPr lang="en-IN" sz="2019">
                <a:solidFill>
                  <a:srgbClr val="333333"/>
                </a:solidFill>
                <a:highlight>
                  <a:srgbClr val="FFFFFF"/>
                </a:highlight>
                <a:latin typeface="Arial"/>
                <a:ea typeface="Arial"/>
                <a:cs typeface="Arial"/>
                <a:sym typeface="Arial"/>
              </a:rPr>
              <a:t>In this </a:t>
            </a:r>
            <a:r>
              <a:rPr lang="en-IN" sz="2019">
                <a:solidFill>
                  <a:srgbClr val="333333"/>
                </a:solidFill>
                <a:highlight>
                  <a:srgbClr val="FFFFFF"/>
                </a:highlight>
                <a:uFill>
                  <a:noFill/>
                </a:uFill>
                <a:latin typeface="Arial"/>
                <a:ea typeface="Arial"/>
                <a:cs typeface="Arial"/>
                <a:sym typeface="Arial"/>
                <a:hlinkClick r:id="rId3">
                  <a:extLst>
                    <a:ext uri="{A12FA001-AC4F-418D-AE19-62706E023703}">
                      <ahyp:hlinkClr val="tx"/>
                    </a:ext>
                  </a:extLst>
                </a:hlinkClick>
              </a:rPr>
              <a:t>asp .net tutorial</a:t>
            </a:r>
            <a:r>
              <a:rPr lang="en-IN" sz="2019">
                <a:solidFill>
                  <a:srgbClr val="333333"/>
                </a:solidFill>
                <a:highlight>
                  <a:srgbClr val="FFFFFF"/>
                </a:highlight>
                <a:latin typeface="Arial"/>
                <a:ea typeface="Arial"/>
                <a:cs typeface="Arial"/>
                <a:sym typeface="Arial"/>
              </a:rPr>
              <a:t> we will learn how to write,read and delete </a:t>
            </a:r>
            <a:r>
              <a:rPr lang="en-IN" sz="2019">
                <a:solidFill>
                  <a:srgbClr val="333333"/>
                </a:solidFill>
                <a:highlight>
                  <a:srgbClr val="FFFFFF"/>
                </a:highlight>
                <a:uFill>
                  <a:noFill/>
                </a:uFill>
                <a:latin typeface="Arial"/>
                <a:ea typeface="Arial"/>
                <a:cs typeface="Arial"/>
                <a:sym typeface="Arial"/>
                <a:hlinkClick r:id="rId4">
                  <a:extLst>
                    <a:ext uri="{A12FA001-AC4F-418D-AE19-62706E023703}">
                      <ahyp:hlinkClr val="tx"/>
                    </a:ext>
                  </a:extLst>
                </a:hlinkClick>
              </a:rPr>
              <a:t>cookies</a:t>
            </a:r>
            <a:r>
              <a:rPr lang="en-IN" sz="2019">
                <a:solidFill>
                  <a:srgbClr val="333333"/>
                </a:solidFill>
                <a:highlight>
                  <a:srgbClr val="FFFFFF"/>
                </a:highlight>
                <a:latin typeface="Arial"/>
                <a:ea typeface="Arial"/>
                <a:cs typeface="Arial"/>
                <a:sym typeface="Arial"/>
              </a:rPr>
              <a:t> with multiple values. Multiple values are stored in the form of name-value pairs in a single cookie. Cookies with more than one value are very useful to store related information into single cookie rather than creating and maintaining multiple cookies. </a:t>
            </a:r>
            <a:endParaRPr sz="2019">
              <a:solidFill>
                <a:srgbClr val="333333"/>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54478"/>
              <a:buFont typeface="Arial"/>
              <a:buNone/>
            </a:pPr>
            <a:r>
              <a:rPr lang="en-IN" sz="2019">
                <a:solidFill>
                  <a:srgbClr val="FF0000"/>
                </a:solidFill>
                <a:highlight>
                  <a:srgbClr val="FFFFFF"/>
                </a:highlight>
                <a:latin typeface="Arial"/>
                <a:ea typeface="Arial"/>
                <a:cs typeface="Arial"/>
                <a:sym typeface="Arial"/>
              </a:rPr>
              <a:t>E.g. You can store Name and age of user in a single cookie rather than creating separate cookie for name and for age. </a:t>
            </a:r>
            <a:endParaRPr sz="2019">
              <a:solidFill>
                <a:srgbClr val="FF0000"/>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104761"/>
              <a:buFont typeface="Arial"/>
              <a:buNone/>
            </a:pPr>
            <a:r>
              <a:rPr lang="en-IN" sz="1050">
                <a:solidFill>
                  <a:srgbClr val="333333"/>
                </a:solidFill>
                <a:highlight>
                  <a:srgbClr val="FFFFFF"/>
                </a:highlight>
                <a:latin typeface="Arial"/>
                <a:ea typeface="Arial"/>
                <a:cs typeface="Arial"/>
                <a:sym typeface="Arial"/>
              </a:rPr>
              <a:t> </a:t>
            </a:r>
            <a:endParaRPr sz="1050">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104761"/>
              <a:buFont typeface="Arial"/>
              <a:buNone/>
            </a:pPr>
            <a:r>
              <a:rPr lang="en-IN" sz="1050">
                <a:solidFill>
                  <a:srgbClr val="333333"/>
                </a:solidFill>
                <a:highlight>
                  <a:srgbClr val="FFFFFF"/>
                </a:highlight>
                <a:latin typeface="Arial"/>
                <a:ea typeface="Arial"/>
                <a:cs typeface="Arial"/>
                <a:sym typeface="Arial"/>
              </a:rPr>
              <a:t> </a:t>
            </a:r>
            <a:endParaRPr sz="1050">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39379"/>
              <a:buFont typeface="Arial"/>
              <a:buNone/>
            </a:pPr>
            <a:r>
              <a:rPr b="1" lang="en-IN" sz="2793">
                <a:solidFill>
                  <a:srgbClr val="0000FF"/>
                </a:solidFill>
                <a:highlight>
                  <a:srgbClr val="FFFFFF"/>
                </a:highlight>
                <a:uFill>
                  <a:noFill/>
                </a:uFill>
                <a:latin typeface="Arial"/>
                <a:ea typeface="Arial"/>
                <a:cs typeface="Arial"/>
                <a:sym typeface="Arial"/>
                <a:hlinkClick r:id="rId5">
                  <a:extLst>
                    <a:ext uri="{A12FA001-AC4F-418D-AE19-62706E023703}">
                      <ahyp:hlinkClr val="tx"/>
                    </a:ext>
                  </a:extLst>
                </a:hlinkClick>
              </a:rPr>
              <a:t>Cookies example in asp .net</a:t>
            </a:r>
            <a:endParaRPr b="1" sz="1050">
              <a:solidFill>
                <a:srgbClr val="337AB7"/>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 </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Some of the advantages of using Multiple value cookies over single value cookies:</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1) You can put similar information into a single cookie.</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2) Using Multiple valued cookies also limits the number of cookie files supported by browser.</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3) You can apply expiration to the cookie collection.</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56163"/>
              <a:buFont typeface="Arial"/>
              <a:buNone/>
            </a:pPr>
            <a:r>
              <a:rPr lang="en-IN" sz="1958">
                <a:solidFill>
                  <a:srgbClr val="333333"/>
                </a:solidFill>
                <a:highlight>
                  <a:srgbClr val="FFFFFF"/>
                </a:highlight>
                <a:latin typeface="Arial"/>
                <a:ea typeface="Arial"/>
                <a:cs typeface="Arial"/>
                <a:sym typeface="Arial"/>
              </a:rPr>
              <a:t> </a:t>
            </a:r>
            <a:endParaRPr sz="1958">
              <a:solidFill>
                <a:srgbClr val="333333"/>
              </a:solidFill>
              <a:highlight>
                <a:srgbClr val="FFFFFF"/>
              </a:highlight>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1363da3e35d_0_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IN" sz="2650">
                <a:solidFill>
                  <a:schemeClr val="dk1"/>
                </a:solidFill>
                <a:highlight>
                  <a:srgbClr val="FFFFFF"/>
                </a:highlight>
                <a:latin typeface="Verdana"/>
                <a:ea typeface="Verdana"/>
                <a:cs typeface="Verdana"/>
                <a:sym typeface="Verdana"/>
              </a:rPr>
              <a:t>Query string </a:t>
            </a:r>
            <a:endParaRPr sz="5500"/>
          </a:p>
        </p:txBody>
      </p:sp>
      <p:sp>
        <p:nvSpPr>
          <p:cNvPr id="333" name="Google Shape;333;g1363da3e35d_0_0"/>
          <p:cNvSpPr txBox="1"/>
          <p:nvPr>
            <p:ph idx="1" type="body"/>
          </p:nvPr>
        </p:nvSpPr>
        <p:spPr>
          <a:xfrm>
            <a:off x="1043492" y="2323652"/>
            <a:ext cx="6777300" cy="3509100"/>
          </a:xfrm>
          <a:prstGeom prst="rect">
            <a:avLst/>
          </a:prstGeom>
        </p:spPr>
        <p:txBody>
          <a:bodyPr anchorCtr="0" anchor="t" bIns="45700" lIns="91425" spcFirstLastPara="1" rIns="91425" wrap="square" tIns="45700">
            <a:noAutofit/>
          </a:bodyPr>
          <a:lstStyle/>
          <a:p>
            <a:pPr indent="0" lvl="0" marL="0" rtl="0" algn="just">
              <a:spcBef>
                <a:spcPts val="360"/>
              </a:spcBef>
              <a:spcAft>
                <a:spcPts val="0"/>
              </a:spcAft>
              <a:buNone/>
            </a:pPr>
            <a:r>
              <a:rPr lang="en-IN" sz="1450">
                <a:solidFill>
                  <a:schemeClr val="dk1"/>
                </a:solidFill>
                <a:highlight>
                  <a:srgbClr val="FFFFFF"/>
                </a:highlight>
                <a:latin typeface="Verdana"/>
                <a:ea typeface="Verdana"/>
                <a:cs typeface="Verdana"/>
                <a:sym typeface="Verdana"/>
              </a:rPr>
              <a:t>Query string is a simple way to pass some information from one page to another. The information can be easily pass to one page to another or to same page. With query string method the information passed in url of page request.</a:t>
            </a:r>
            <a:endParaRPr sz="1450">
              <a:solidFill>
                <a:schemeClr val="dk1"/>
              </a:solidFill>
              <a:highlight>
                <a:srgbClr val="FFFFFF"/>
              </a:highlight>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rPr lang="en-IN" sz="1450">
                <a:solidFill>
                  <a:schemeClr val="dk1"/>
                </a:solidFill>
                <a:highlight>
                  <a:srgbClr val="FFFFFF"/>
                </a:highlight>
                <a:latin typeface="Verdana"/>
                <a:ea typeface="Verdana"/>
                <a:cs typeface="Verdana"/>
                <a:sym typeface="Verdana"/>
              </a:rPr>
              <a:t>This method many browsers supports only 255 character length of url in query string. The value passed will be visible so some time it cause security issue.</a:t>
            </a:r>
            <a:endParaRPr sz="14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450">
                <a:solidFill>
                  <a:schemeClr val="dk1"/>
                </a:solidFill>
                <a:highlight>
                  <a:srgbClr val="FFFFFF"/>
                </a:highlight>
                <a:latin typeface="Verdana"/>
                <a:ea typeface="Verdana"/>
                <a:cs typeface="Verdana"/>
                <a:sym typeface="Verdana"/>
              </a:rPr>
              <a:t>For send information to other page Response.Redirect() method used and for retrieve information from url use Request.QueryString() method used.</a:t>
            </a:r>
            <a:endParaRPr sz="14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450">
                <a:solidFill>
                  <a:schemeClr val="dk1"/>
                </a:solidFill>
                <a:highlight>
                  <a:srgbClr val="FFFFFF"/>
                </a:highlight>
                <a:latin typeface="Verdana"/>
                <a:ea typeface="Verdana"/>
                <a:cs typeface="Verdana"/>
                <a:sym typeface="Verdana"/>
              </a:rPr>
              <a:t>In Query String method we can sent value to only desired page, and value will be temporarily. So Query string increase the overall performance of web application.</a:t>
            </a:r>
            <a:endParaRPr sz="14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sz="14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363da3e35d_0_7"/>
          <p:cNvSpPr txBox="1"/>
          <p:nvPr>
            <p:ph idx="1" type="body"/>
          </p:nvPr>
        </p:nvSpPr>
        <p:spPr>
          <a:xfrm>
            <a:off x="858150" y="1295774"/>
            <a:ext cx="6859200" cy="4416300"/>
          </a:xfrm>
          <a:prstGeom prst="rect">
            <a:avLst/>
          </a:prstGeom>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100"/>
              <a:buFont typeface="Arial"/>
              <a:buNone/>
            </a:pPr>
            <a:r>
              <a:rPr lang="en-IN">
                <a:solidFill>
                  <a:schemeClr val="dk1"/>
                </a:solidFill>
                <a:highlight>
                  <a:srgbClr val="FFFFFF"/>
                </a:highlight>
                <a:latin typeface="Oswald"/>
                <a:ea typeface="Oswald"/>
                <a:cs typeface="Oswald"/>
                <a:sym typeface="Oswald"/>
              </a:rPr>
              <a:t>Syntax of Query String</a:t>
            </a:r>
            <a:endParaRPr>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ts val="1100"/>
              <a:buFont typeface="Arial"/>
              <a:buNone/>
            </a:pPr>
            <a:r>
              <a:rPr lang="en-IN" sz="1750">
                <a:solidFill>
                  <a:schemeClr val="dk1"/>
                </a:solidFill>
                <a:highlight>
                  <a:srgbClr val="FFFFFF"/>
                </a:highlight>
                <a:latin typeface="Verdana"/>
                <a:ea typeface="Verdana"/>
                <a:cs typeface="Verdana"/>
                <a:sym typeface="Verdana"/>
              </a:rPr>
              <a:t>Send information to other page</a:t>
            </a:r>
            <a:endParaRPr sz="17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ts val="1100"/>
              <a:buFont typeface="Arial"/>
              <a:buNone/>
            </a:pPr>
            <a:r>
              <a:rPr lang="en-IN" sz="1750">
                <a:solidFill>
                  <a:schemeClr val="dk1"/>
                </a:solidFill>
                <a:highlight>
                  <a:srgbClr val="FFFFFF"/>
                </a:highlight>
                <a:latin typeface="Verdana"/>
                <a:ea typeface="Verdana"/>
                <a:cs typeface="Verdana"/>
                <a:sym typeface="Verdana"/>
              </a:rPr>
              <a:t>Response.Redirect(“nextpage.aspx?name=value”);</a:t>
            </a:r>
            <a:endParaRPr sz="1750">
              <a:solidFill>
                <a:schemeClr val="dk1"/>
              </a:solidFill>
              <a:highlight>
                <a:srgbClr val="FFFFFF"/>
              </a:highlight>
              <a:latin typeface="Verdana"/>
              <a:ea typeface="Verdana"/>
              <a:cs typeface="Verdana"/>
              <a:sym typeface="Verdana"/>
            </a:endParaRPr>
          </a:p>
          <a:p>
            <a:pPr indent="0" lvl="0" marL="0" rtl="0" algn="just">
              <a:lnSpc>
                <a:spcPct val="115000"/>
              </a:lnSpc>
              <a:spcBef>
                <a:spcPts val="1700"/>
              </a:spcBef>
              <a:spcAft>
                <a:spcPts val="0"/>
              </a:spcAft>
              <a:buClr>
                <a:schemeClr val="dk1"/>
              </a:buClr>
              <a:buSzPts val="1100"/>
              <a:buFont typeface="Arial"/>
              <a:buNone/>
            </a:pPr>
            <a:r>
              <a:rPr b="1" lang="en-IN" sz="1750">
                <a:solidFill>
                  <a:schemeClr val="dk1"/>
                </a:solidFill>
                <a:highlight>
                  <a:srgbClr val="FFFFFF"/>
                </a:highlight>
                <a:latin typeface="Verdana"/>
                <a:ea typeface="Verdana"/>
                <a:cs typeface="Verdana"/>
                <a:sym typeface="Verdana"/>
              </a:rPr>
              <a:t>Retrieve information from other page</a:t>
            </a:r>
            <a:endParaRPr b="1" sz="17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ts val="1100"/>
              <a:buFont typeface="Arial"/>
              <a:buNone/>
            </a:pPr>
            <a:r>
              <a:rPr lang="en-IN" sz="1750">
                <a:solidFill>
                  <a:schemeClr val="dk1"/>
                </a:solidFill>
                <a:highlight>
                  <a:srgbClr val="FFFFFF"/>
                </a:highlight>
                <a:latin typeface="Verdana"/>
                <a:ea typeface="Verdana"/>
                <a:cs typeface="Verdana"/>
                <a:sym typeface="Verdana"/>
              </a:rPr>
              <a:t>Request.QueryString[“name”].ToString();</a:t>
            </a:r>
            <a:endParaRPr sz="1750">
              <a:solidFill>
                <a:schemeClr val="dk1"/>
              </a:solidFill>
              <a:highlight>
                <a:srgbClr val="FFFFFF"/>
              </a:highlight>
              <a:latin typeface="Verdana"/>
              <a:ea typeface="Verdana"/>
              <a:cs typeface="Verdana"/>
              <a:sym typeface="Verdana"/>
            </a:endParaRPr>
          </a:p>
          <a:p>
            <a:pPr indent="0" lvl="0" marL="0" rtl="0" algn="l">
              <a:spcBef>
                <a:spcPts val="17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1363da3e35d_0_13"/>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just">
              <a:lnSpc>
                <a:spcPct val="125000"/>
              </a:lnSpc>
              <a:spcBef>
                <a:spcPts val="0"/>
              </a:spcBef>
              <a:spcAft>
                <a:spcPts val="800"/>
              </a:spcAft>
              <a:buClr>
                <a:schemeClr val="dk1"/>
              </a:buClr>
              <a:buSzPts val="1100"/>
              <a:buFont typeface="Arial"/>
              <a:buNone/>
            </a:pPr>
            <a:r>
              <a:rPr lang="en-IN" sz="1800">
                <a:solidFill>
                  <a:schemeClr val="dk1"/>
                </a:solidFill>
                <a:highlight>
                  <a:srgbClr val="FFFFFF"/>
                </a:highlight>
                <a:latin typeface="Oswald"/>
                <a:ea typeface="Oswald"/>
                <a:cs typeface="Oswald"/>
                <a:sym typeface="Oswald"/>
              </a:rPr>
              <a:t>Session State Management in ASP.Net</a:t>
            </a:r>
            <a:endParaRPr/>
          </a:p>
        </p:txBody>
      </p:sp>
      <p:sp>
        <p:nvSpPr>
          <p:cNvPr id="344" name="Google Shape;344;g1363da3e35d_0_13"/>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40000" lnSpcReduction="10000"/>
          </a:bodyPr>
          <a:lstStyle/>
          <a:p>
            <a:pPr indent="0" lvl="0" marL="0" rtl="0" algn="just">
              <a:lnSpc>
                <a:spcPct val="115000"/>
              </a:lnSpc>
              <a:spcBef>
                <a:spcPts val="0"/>
              </a:spcBef>
              <a:spcAft>
                <a:spcPts val="0"/>
              </a:spcAft>
              <a:buNone/>
            </a:pPr>
            <a:r>
              <a:t/>
            </a:r>
            <a:endParaRPr sz="2856">
              <a:solidFill>
                <a:schemeClr val="dk1"/>
              </a:solidFill>
              <a:highlight>
                <a:srgbClr val="FFFFFF"/>
              </a:highlight>
              <a:latin typeface="Oswald"/>
              <a:ea typeface="Oswald"/>
              <a:cs typeface="Oswald"/>
              <a:sym typeface="Oswald"/>
            </a:endParaRPr>
          </a:p>
          <a:p>
            <a:pPr indent="0" lvl="0" marL="0" rtl="0" algn="just">
              <a:lnSpc>
                <a:spcPct val="115000"/>
              </a:lnSpc>
              <a:spcBef>
                <a:spcPts val="900"/>
              </a:spcBef>
              <a:spcAft>
                <a:spcPts val="0"/>
              </a:spcAft>
              <a:buNone/>
            </a:pPr>
            <a:r>
              <a:t/>
            </a:r>
            <a:endParaRPr sz="2856">
              <a:solidFill>
                <a:schemeClr val="dk1"/>
              </a:solidFill>
              <a:highlight>
                <a:srgbClr val="FFFFFF"/>
              </a:highlight>
              <a:latin typeface="Oswald"/>
              <a:ea typeface="Oswald"/>
              <a:cs typeface="Oswald"/>
              <a:sym typeface="Oswald"/>
            </a:endParaRPr>
          </a:p>
          <a:p>
            <a:pPr indent="0" lvl="0" marL="0" rtl="0" algn="just">
              <a:lnSpc>
                <a:spcPct val="115000"/>
              </a:lnSpc>
              <a:spcBef>
                <a:spcPts val="900"/>
              </a:spcBef>
              <a:spcAft>
                <a:spcPts val="0"/>
              </a:spcAft>
              <a:buClr>
                <a:schemeClr val="dk1"/>
              </a:buClr>
              <a:buSzPct val="49863"/>
              <a:buFont typeface="Arial"/>
              <a:buNone/>
            </a:pPr>
            <a:r>
              <a:rPr lang="en-IN" sz="2206">
                <a:solidFill>
                  <a:schemeClr val="dk1"/>
                </a:solidFill>
                <a:highlight>
                  <a:srgbClr val="FFFFFF"/>
                </a:highlight>
                <a:latin typeface="Verdana"/>
                <a:ea typeface="Verdana"/>
                <a:cs typeface="Verdana"/>
                <a:sym typeface="Verdana"/>
              </a:rPr>
              <a:t>State management is a important part of any application. The Session is the important features of asp.net.</a:t>
            </a:r>
            <a:endParaRPr sz="2206">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None/>
            </a:pPr>
            <a:r>
              <a:rPr lang="en-IN" sz="2206">
                <a:solidFill>
                  <a:schemeClr val="dk1"/>
                </a:solidFill>
                <a:highlight>
                  <a:srgbClr val="FFFFFF"/>
                </a:highlight>
                <a:latin typeface="Verdana"/>
                <a:ea typeface="Verdana"/>
                <a:cs typeface="Verdana"/>
                <a:sym typeface="Verdana"/>
              </a:rPr>
              <a:t>Session state is a period of time to visit a website for a particular user. Session can store the client data on a server. Session is a best state management features to store the client data on server separately for each user.</a:t>
            </a:r>
            <a:endParaRPr sz="2206">
              <a:solidFill>
                <a:schemeClr val="dk1"/>
              </a:solidFill>
              <a:highlight>
                <a:srgbClr val="FFFFFF"/>
              </a:highlight>
              <a:latin typeface="Verdana"/>
              <a:ea typeface="Verdana"/>
              <a:cs typeface="Verdana"/>
              <a:sym typeface="Verdana"/>
            </a:endParaRPr>
          </a:p>
          <a:p>
            <a:pPr indent="-284633" lvl="0" marL="457200" marR="190500" rtl="0" algn="l">
              <a:lnSpc>
                <a:spcPct val="115000"/>
              </a:lnSpc>
              <a:spcBef>
                <a:spcPts val="1600"/>
              </a:spcBef>
              <a:spcAft>
                <a:spcPts val="0"/>
              </a:spcAft>
              <a:buClr>
                <a:schemeClr val="dk1"/>
              </a:buClr>
              <a:buSzPct val="100000"/>
              <a:buFont typeface="Verdana"/>
              <a:buChar char="➔"/>
            </a:pPr>
            <a:r>
              <a:rPr lang="en-IN" sz="2206">
                <a:solidFill>
                  <a:schemeClr val="dk1"/>
                </a:solidFill>
                <a:highlight>
                  <a:srgbClr val="FFFFFF"/>
                </a:highlight>
                <a:latin typeface="Verdana"/>
                <a:ea typeface="Verdana"/>
                <a:cs typeface="Verdana"/>
                <a:sym typeface="Verdana"/>
              </a:rPr>
              <a:t>Session can store value across on multiple pages of website.</a:t>
            </a:r>
            <a:endParaRPr sz="2206">
              <a:solidFill>
                <a:schemeClr val="dk1"/>
              </a:solidFill>
              <a:highlight>
                <a:srgbClr val="FFFFFF"/>
              </a:highlight>
              <a:latin typeface="Verdana"/>
              <a:ea typeface="Verdana"/>
              <a:cs typeface="Verdana"/>
              <a:sym typeface="Verdana"/>
            </a:endParaRPr>
          </a:p>
          <a:p>
            <a:pPr indent="-284633" lvl="0" marL="457200" marR="190500" rtl="0" algn="l">
              <a:lnSpc>
                <a:spcPct val="115000"/>
              </a:lnSpc>
              <a:spcBef>
                <a:spcPts val="0"/>
              </a:spcBef>
              <a:spcAft>
                <a:spcPts val="0"/>
              </a:spcAft>
              <a:buClr>
                <a:schemeClr val="dk1"/>
              </a:buClr>
              <a:buSzPct val="100000"/>
              <a:buFont typeface="Verdana"/>
              <a:buChar char="➔"/>
            </a:pPr>
            <a:r>
              <a:rPr lang="en-IN" sz="2206">
                <a:solidFill>
                  <a:schemeClr val="dk1"/>
                </a:solidFill>
                <a:highlight>
                  <a:srgbClr val="FFFFFF"/>
                </a:highlight>
                <a:latin typeface="Verdana"/>
                <a:ea typeface="Verdana"/>
                <a:cs typeface="Verdana"/>
                <a:sym typeface="Verdana"/>
              </a:rPr>
              <a:t>Viewstate can store value on single page.</a:t>
            </a:r>
            <a:endParaRPr sz="2206">
              <a:solidFill>
                <a:schemeClr val="dk1"/>
              </a:solidFill>
              <a:highlight>
                <a:srgbClr val="FFFFFF"/>
              </a:highlight>
              <a:latin typeface="Verdana"/>
              <a:ea typeface="Verdana"/>
              <a:cs typeface="Verdana"/>
              <a:sym typeface="Verdana"/>
            </a:endParaRPr>
          </a:p>
          <a:p>
            <a:pPr indent="0" lvl="0" marL="0" marR="190500" rtl="0" algn="l">
              <a:lnSpc>
                <a:spcPct val="115000"/>
              </a:lnSpc>
              <a:spcBef>
                <a:spcPts val="1600"/>
              </a:spcBef>
              <a:spcAft>
                <a:spcPts val="0"/>
              </a:spcAft>
              <a:buNone/>
            </a:pPr>
            <a:r>
              <a:rPr lang="en-IN" sz="2206">
                <a:solidFill>
                  <a:schemeClr val="dk1"/>
                </a:solidFill>
                <a:highlight>
                  <a:srgbClr val="FFFFFF"/>
                </a:highlight>
                <a:latin typeface="Verdana"/>
                <a:ea typeface="Verdana"/>
                <a:cs typeface="Verdana"/>
                <a:sym typeface="Verdana"/>
              </a:rPr>
              <a:t>Session value can be accessible from all pages from website. We can store some information in session in one page and can access same information on rest of all page by using session.</a:t>
            </a:r>
            <a:endParaRPr sz="2206">
              <a:solidFill>
                <a:schemeClr val="dk1"/>
              </a:solidFill>
              <a:highlight>
                <a:srgbClr val="FFFFFF"/>
              </a:highlight>
              <a:latin typeface="Verdana"/>
              <a:ea typeface="Verdana"/>
              <a:cs typeface="Verdana"/>
              <a:sym typeface="Verdana"/>
            </a:endParaRPr>
          </a:p>
          <a:p>
            <a:pPr indent="-257809" lvl="0" marL="647700" marR="190500" rtl="0" algn="l">
              <a:lnSpc>
                <a:spcPct val="115000"/>
              </a:lnSpc>
              <a:spcBef>
                <a:spcPts val="1600"/>
              </a:spcBef>
              <a:spcAft>
                <a:spcPts val="0"/>
              </a:spcAft>
              <a:buClr>
                <a:schemeClr val="dk1"/>
              </a:buClr>
              <a:buSzPct val="52129"/>
              <a:buFont typeface="Verdana"/>
              <a:buChar char="●"/>
            </a:pPr>
            <a:r>
              <a:rPr lang="en-IN" sz="2206">
                <a:solidFill>
                  <a:schemeClr val="dk1"/>
                </a:solidFill>
                <a:highlight>
                  <a:srgbClr val="FFFFFF"/>
                </a:highlight>
                <a:latin typeface="Verdana"/>
                <a:ea typeface="Verdana"/>
                <a:cs typeface="Verdana"/>
                <a:sym typeface="Verdana"/>
              </a:rPr>
              <a:t>By default, Session state is enabled for all ASP.NET applications.</a:t>
            </a:r>
            <a:endParaRPr sz="2206">
              <a:solidFill>
                <a:schemeClr val="dk1"/>
              </a:solidFill>
              <a:highlight>
                <a:srgbClr val="FFFFFF"/>
              </a:highlight>
              <a:latin typeface="Verdana"/>
              <a:ea typeface="Verdana"/>
              <a:cs typeface="Verdana"/>
              <a:sym typeface="Verdana"/>
            </a:endParaRPr>
          </a:p>
          <a:p>
            <a:pPr indent="0" lvl="0" marL="0" marR="190500" rtl="0" algn="l">
              <a:lnSpc>
                <a:spcPct val="115000"/>
              </a:lnSpc>
              <a:spcBef>
                <a:spcPts val="1600"/>
              </a:spcBef>
              <a:spcAft>
                <a:spcPts val="0"/>
              </a:spcAft>
              <a:buNone/>
            </a:pPr>
            <a:r>
              <a:t/>
            </a:r>
            <a:endParaRPr sz="2206">
              <a:solidFill>
                <a:schemeClr val="dk1"/>
              </a:solidFill>
              <a:highlight>
                <a:srgbClr val="FFFFFF"/>
              </a:highlight>
              <a:latin typeface="Verdana"/>
              <a:ea typeface="Verdana"/>
              <a:cs typeface="Verdana"/>
              <a:sym typeface="Verdana"/>
            </a:endParaRPr>
          </a:p>
          <a:p>
            <a:pPr indent="0" lvl="0" marL="0" rtl="0" algn="just">
              <a:lnSpc>
                <a:spcPct val="115000"/>
              </a:lnSpc>
              <a:spcBef>
                <a:spcPts val="160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363da3e35d_0_19"/>
          <p:cNvSpPr txBox="1"/>
          <p:nvPr>
            <p:ph idx="1" type="body"/>
          </p:nvPr>
        </p:nvSpPr>
        <p:spPr>
          <a:xfrm>
            <a:off x="1043500" y="1044699"/>
            <a:ext cx="6777300" cy="4788000"/>
          </a:xfrm>
          <a:prstGeom prst="rect">
            <a:avLst/>
          </a:prstGeom>
        </p:spPr>
        <p:txBody>
          <a:bodyPr anchorCtr="0" anchor="t" bIns="45700" lIns="91425" spcFirstLastPara="1" rIns="91425" wrap="square" tIns="45700">
            <a:normAutofit fontScale="92500" lnSpcReduction="20000"/>
          </a:bodyPr>
          <a:lstStyle/>
          <a:p>
            <a:pPr indent="0" lvl="0" marL="0" rtl="0" algn="just">
              <a:lnSpc>
                <a:spcPct val="125000"/>
              </a:lnSpc>
              <a:spcBef>
                <a:spcPts val="0"/>
              </a:spcBef>
              <a:spcAft>
                <a:spcPts val="0"/>
              </a:spcAft>
              <a:buClr>
                <a:schemeClr val="dk1"/>
              </a:buClr>
              <a:buSzPct val="73333"/>
              <a:buFont typeface="Arial"/>
              <a:buNone/>
            </a:pPr>
            <a:r>
              <a:t/>
            </a:r>
            <a:endParaRPr sz="1500">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ct val="70967"/>
              <a:buFont typeface="Arial"/>
              <a:buNone/>
            </a:pPr>
            <a:r>
              <a:rPr lang="en-IN" sz="1550">
                <a:solidFill>
                  <a:schemeClr val="dk1"/>
                </a:solidFill>
                <a:highlight>
                  <a:srgbClr val="FFFFFF"/>
                </a:highlight>
                <a:latin typeface="Verdana"/>
                <a:ea typeface="Verdana"/>
                <a:cs typeface="Verdana"/>
                <a:sym typeface="Verdana"/>
              </a:rPr>
              <a:t>When you login to any website with username and password. your username shows on all other pages.The username will be stored in session and on page we access session value to display username.</a:t>
            </a:r>
            <a:endParaRPr sz="15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ct val="70967"/>
              <a:buFont typeface="Arial"/>
              <a:buNone/>
            </a:pPr>
            <a:r>
              <a:rPr lang="en-IN" sz="1550">
                <a:solidFill>
                  <a:schemeClr val="dk1"/>
                </a:solidFill>
                <a:highlight>
                  <a:srgbClr val="FFFFFF"/>
                </a:highlight>
                <a:latin typeface="Verdana"/>
                <a:ea typeface="Verdana"/>
                <a:cs typeface="Verdana"/>
                <a:sym typeface="Verdana"/>
              </a:rPr>
              <a:t>Syntax of session</a:t>
            </a:r>
            <a:endParaRPr sz="15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ct val="70967"/>
              <a:buFont typeface="Arial"/>
              <a:buNone/>
            </a:pPr>
            <a:r>
              <a:rPr lang="en-IN" sz="1550">
                <a:solidFill>
                  <a:schemeClr val="dk1"/>
                </a:solidFill>
                <a:highlight>
                  <a:srgbClr val="FFFFFF"/>
                </a:highlight>
                <a:latin typeface="Verdana"/>
                <a:ea typeface="Verdana"/>
                <a:cs typeface="Verdana"/>
                <a:sym typeface="Verdana"/>
              </a:rPr>
              <a:t>Session[“session_name”] = “session value”;</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700"/>
              </a:spcBef>
              <a:spcAft>
                <a:spcPts val="0"/>
              </a:spcAft>
              <a:buClr>
                <a:schemeClr val="dk1"/>
              </a:buClr>
              <a:buSzPct val="95652"/>
              <a:buFont typeface="Arial"/>
              <a:buNone/>
            </a:pPr>
            <a:r>
              <a:t/>
            </a:r>
            <a:endParaRPr b="1" sz="1150">
              <a:solidFill>
                <a:schemeClr val="dk1"/>
              </a:solidFill>
              <a:highlight>
                <a:srgbClr val="FFFFFF"/>
              </a:highlight>
              <a:latin typeface="Verdana"/>
              <a:ea typeface="Verdana"/>
              <a:cs typeface="Verdana"/>
              <a:sym typeface="Verdana"/>
            </a:endParaRPr>
          </a:p>
          <a:p>
            <a:pPr indent="0" lvl="0" marL="0" rtl="0" algn="just">
              <a:lnSpc>
                <a:spcPct val="125000"/>
              </a:lnSpc>
              <a:spcBef>
                <a:spcPts val="0"/>
              </a:spcBef>
              <a:spcAft>
                <a:spcPts val="0"/>
              </a:spcAft>
              <a:buNone/>
            </a:pPr>
            <a:r>
              <a:rPr b="1" lang="en-IN" sz="1500">
                <a:solidFill>
                  <a:schemeClr val="dk1"/>
                </a:solidFill>
                <a:highlight>
                  <a:srgbClr val="FFFFFF"/>
                </a:highlight>
                <a:latin typeface="Oswald"/>
                <a:ea typeface="Oswald"/>
                <a:cs typeface="Oswald"/>
                <a:sym typeface="Oswald"/>
              </a:rPr>
              <a:t>Declare session in asp.net</a:t>
            </a:r>
            <a:endParaRPr b="1" sz="1500">
              <a:solidFill>
                <a:schemeClr val="dk1"/>
              </a:solidFill>
              <a:highlight>
                <a:srgbClr val="FFFFFF"/>
              </a:highlight>
              <a:latin typeface="Oswald"/>
              <a:ea typeface="Oswald"/>
              <a:cs typeface="Oswald"/>
              <a:sym typeface="Oswald"/>
            </a:endParaRPr>
          </a:p>
          <a:p>
            <a:pPr indent="0" lvl="0" marL="304800" marR="304800" rtl="0" algn="l">
              <a:lnSpc>
                <a:spcPct val="170000"/>
              </a:lnSpc>
              <a:spcBef>
                <a:spcPts val="1700"/>
              </a:spcBef>
              <a:spcAft>
                <a:spcPts val="0"/>
              </a:spcAft>
              <a:buClr>
                <a:schemeClr val="dk1"/>
              </a:buClr>
              <a:buSzPct val="87432"/>
              <a:buFont typeface="Arial"/>
              <a:buNone/>
            </a:pPr>
            <a:r>
              <a:rPr b="1" lang="en-IN" sz="1258">
                <a:solidFill>
                  <a:schemeClr val="dk1"/>
                </a:solidFill>
                <a:highlight>
                  <a:srgbClr val="FFFFFF"/>
                </a:highlight>
                <a:latin typeface="Verdana"/>
                <a:ea typeface="Verdana"/>
                <a:cs typeface="Verdana"/>
                <a:sym typeface="Verdana"/>
              </a:rPr>
              <a:t>Session[“name”]=”xyz”;</a:t>
            </a:r>
            <a:endParaRPr b="1" sz="1258">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ct val="87432"/>
              <a:buFont typeface="Arial"/>
              <a:buNone/>
            </a:pPr>
            <a:r>
              <a:rPr b="1" lang="en-IN" sz="1258">
                <a:solidFill>
                  <a:schemeClr val="dk1"/>
                </a:solidFill>
                <a:highlight>
                  <a:srgbClr val="FFFFFF"/>
                </a:highlight>
                <a:latin typeface="Verdana"/>
                <a:ea typeface="Verdana"/>
                <a:cs typeface="Verdana"/>
                <a:sym typeface="Verdana"/>
              </a:rPr>
              <a:t>Response.Redirect(“nextpage.aspx”);</a:t>
            </a:r>
            <a:endParaRPr b="1" sz="1258">
              <a:solidFill>
                <a:schemeClr val="dk1"/>
              </a:solidFill>
              <a:highlight>
                <a:srgbClr val="FFFFFF"/>
              </a:highlight>
              <a:latin typeface="Verdana"/>
              <a:ea typeface="Verdana"/>
              <a:cs typeface="Verdana"/>
              <a:sym typeface="Verdana"/>
            </a:endParaRPr>
          </a:p>
          <a:p>
            <a:pPr indent="0" lvl="0" marL="0" rtl="0" algn="just">
              <a:lnSpc>
                <a:spcPct val="115000"/>
              </a:lnSpc>
              <a:spcBef>
                <a:spcPts val="1700"/>
              </a:spcBef>
              <a:spcAft>
                <a:spcPts val="0"/>
              </a:spcAft>
              <a:buClr>
                <a:schemeClr val="dk1"/>
              </a:buClr>
              <a:buSzPct val="87432"/>
              <a:buFont typeface="Arial"/>
              <a:buNone/>
            </a:pPr>
            <a:r>
              <a:rPr b="1" lang="en-IN" sz="1258">
                <a:solidFill>
                  <a:schemeClr val="dk1"/>
                </a:solidFill>
                <a:highlight>
                  <a:srgbClr val="FFFFFF"/>
                </a:highlight>
                <a:latin typeface="Verdana"/>
                <a:ea typeface="Verdana"/>
                <a:cs typeface="Verdana"/>
                <a:sym typeface="Verdana"/>
              </a:rPr>
              <a:t>Above we create session with name parameter and assign value “xyz” to session[“name”] and redirect user to other page “nextpage.aspx” using response.redirect method.</a:t>
            </a:r>
            <a:endParaRPr b="1" sz="1258">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b="1" sz="2508"/>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1363da3e35d_0_28"/>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just">
              <a:lnSpc>
                <a:spcPct val="125000"/>
              </a:lnSpc>
              <a:spcBef>
                <a:spcPts val="0"/>
              </a:spcBef>
              <a:spcAft>
                <a:spcPts val="800"/>
              </a:spcAft>
              <a:buClr>
                <a:schemeClr val="dk1"/>
              </a:buClr>
              <a:buSzPts val="1100"/>
              <a:buFont typeface="Arial"/>
              <a:buNone/>
            </a:pPr>
            <a:r>
              <a:rPr lang="en-IN" sz="2200">
                <a:solidFill>
                  <a:schemeClr val="dk1"/>
                </a:solidFill>
                <a:highlight>
                  <a:srgbClr val="FFFFFF"/>
                </a:highlight>
                <a:latin typeface="Oswald"/>
                <a:ea typeface="Oswald"/>
                <a:cs typeface="Oswald"/>
                <a:sym typeface="Oswald"/>
              </a:rPr>
              <a:t>Retrieve session value on other page</a:t>
            </a:r>
            <a:endParaRPr sz="4700"/>
          </a:p>
        </p:txBody>
      </p:sp>
      <p:sp>
        <p:nvSpPr>
          <p:cNvPr id="355" name="Google Shape;355;g1363da3e35d_0_28"/>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100"/>
              <a:buFont typeface="Arial"/>
              <a:buNone/>
            </a:pPr>
            <a:r>
              <a:t/>
            </a:r>
            <a:endParaRPr b="1" sz="2100">
              <a:solidFill>
                <a:schemeClr val="dk1"/>
              </a:solidFill>
              <a:highlight>
                <a:srgbClr val="FFFFFF"/>
              </a:highlight>
              <a:latin typeface="Oswald"/>
              <a:ea typeface="Oswald"/>
              <a:cs typeface="Oswald"/>
              <a:sym typeface="Oswald"/>
            </a:endParaRPr>
          </a:p>
          <a:p>
            <a:pPr indent="0" lvl="0" marL="304800" marR="304800" rtl="0" algn="l">
              <a:lnSpc>
                <a:spcPct val="170000"/>
              </a:lnSpc>
              <a:spcBef>
                <a:spcPts val="1700"/>
              </a:spcBef>
              <a:spcAft>
                <a:spcPts val="0"/>
              </a:spcAft>
              <a:buClr>
                <a:schemeClr val="dk1"/>
              </a:buClr>
              <a:buSzPts val="1100"/>
              <a:buFont typeface="Arial"/>
              <a:buNone/>
            </a:pPr>
            <a:r>
              <a:rPr b="1" lang="en-IN" sz="1750">
                <a:solidFill>
                  <a:schemeClr val="dk1"/>
                </a:solidFill>
                <a:highlight>
                  <a:srgbClr val="FFFFFF"/>
                </a:highlight>
                <a:latin typeface="Verdana"/>
                <a:ea typeface="Verdana"/>
                <a:cs typeface="Verdana"/>
                <a:sym typeface="Verdana"/>
              </a:rPr>
              <a:t>string myvalue= Session[“name”].ToString();</a:t>
            </a:r>
            <a:endParaRPr b="1" sz="17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ts val="1100"/>
              <a:buFont typeface="Arial"/>
              <a:buNone/>
            </a:pPr>
            <a:r>
              <a:rPr b="1" lang="en-IN" sz="1750">
                <a:solidFill>
                  <a:schemeClr val="dk1"/>
                </a:solidFill>
                <a:highlight>
                  <a:srgbClr val="FFFFFF"/>
                </a:highlight>
                <a:latin typeface="Verdana"/>
                <a:ea typeface="Verdana"/>
                <a:cs typeface="Verdana"/>
                <a:sym typeface="Verdana"/>
              </a:rPr>
              <a:t>Response.Write(“Name = ” + myvalue);</a:t>
            </a:r>
            <a:endParaRPr b="1" sz="1750">
              <a:solidFill>
                <a:schemeClr val="dk1"/>
              </a:solidFill>
              <a:highlight>
                <a:srgbClr val="FFFFFF"/>
              </a:highlight>
              <a:latin typeface="Verdana"/>
              <a:ea typeface="Verdana"/>
              <a:cs typeface="Verdana"/>
              <a:sym typeface="Verdana"/>
            </a:endParaRPr>
          </a:p>
          <a:p>
            <a:pPr indent="0" lvl="0" marL="0" rtl="0" algn="just">
              <a:lnSpc>
                <a:spcPct val="115000"/>
              </a:lnSpc>
              <a:spcBef>
                <a:spcPts val="1700"/>
              </a:spcBef>
              <a:spcAft>
                <a:spcPts val="0"/>
              </a:spcAft>
              <a:buClr>
                <a:schemeClr val="dk1"/>
              </a:buClr>
              <a:buSzPts val="1100"/>
              <a:buFont typeface="Arial"/>
              <a:buNone/>
            </a:pPr>
            <a:r>
              <a:rPr b="1" lang="en-IN" sz="1750">
                <a:solidFill>
                  <a:schemeClr val="dk1"/>
                </a:solidFill>
                <a:highlight>
                  <a:srgbClr val="FFFFFF"/>
                </a:highlight>
                <a:latin typeface="Verdana"/>
                <a:ea typeface="Verdana"/>
                <a:cs typeface="Verdana"/>
                <a:sym typeface="Verdana"/>
              </a:rPr>
              <a:t>Here, we retrieve session[“name”] value and store session value in string variable “myvalue”.</a:t>
            </a:r>
            <a:endParaRPr b="1" sz="17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1363da3e35d_0_34"/>
          <p:cNvSpPr txBox="1"/>
          <p:nvPr>
            <p:ph type="title"/>
          </p:nvPr>
        </p:nvSpPr>
        <p:spPr>
          <a:xfrm>
            <a:off x="1043490" y="1027664"/>
            <a:ext cx="7024800" cy="1143000"/>
          </a:xfrm>
          <a:prstGeom prst="rect">
            <a:avLst/>
          </a:prstGeom>
        </p:spPr>
        <p:txBody>
          <a:bodyPr anchorCtr="0" anchor="b" bIns="45700" lIns="91425" spcFirstLastPara="1" rIns="91425" wrap="square" tIns="45700">
            <a:normAutofit fontScale="90000"/>
          </a:bodyPr>
          <a:lstStyle/>
          <a:p>
            <a:pPr indent="0" lvl="0" marL="0" rtl="0" algn="just">
              <a:lnSpc>
                <a:spcPct val="125000"/>
              </a:lnSpc>
              <a:spcBef>
                <a:spcPts val="0"/>
              </a:spcBef>
              <a:spcAft>
                <a:spcPts val="0"/>
              </a:spcAft>
              <a:buClr>
                <a:schemeClr val="dk1"/>
              </a:buClr>
              <a:buSzPct val="61111"/>
              <a:buFont typeface="Arial"/>
              <a:buNone/>
            </a:pPr>
            <a:r>
              <a:rPr lang="en-IN" sz="1800">
                <a:solidFill>
                  <a:schemeClr val="dk1"/>
                </a:solidFill>
                <a:highlight>
                  <a:srgbClr val="FFFFFF"/>
                </a:highlight>
                <a:latin typeface="Oswald"/>
                <a:ea typeface="Oswald"/>
                <a:cs typeface="Oswald"/>
                <a:sym typeface="Oswald"/>
              </a:rPr>
              <a:t>Session Timeout in asp.net</a:t>
            </a:r>
            <a:endParaRPr sz="1800">
              <a:solidFill>
                <a:schemeClr val="dk1"/>
              </a:solidFill>
              <a:highlight>
                <a:srgbClr val="FFFFFF"/>
              </a:highlight>
              <a:latin typeface="Oswald"/>
              <a:ea typeface="Oswald"/>
              <a:cs typeface="Oswald"/>
              <a:sym typeface="Oswald"/>
            </a:endParaRPr>
          </a:p>
          <a:p>
            <a:pPr indent="0" lvl="0" marL="0" rtl="0" algn="l">
              <a:spcBef>
                <a:spcPts val="800"/>
              </a:spcBef>
              <a:spcAft>
                <a:spcPts val="0"/>
              </a:spcAft>
              <a:buNone/>
            </a:pPr>
            <a:r>
              <a:t/>
            </a:r>
            <a:endParaRPr/>
          </a:p>
        </p:txBody>
      </p:sp>
      <p:sp>
        <p:nvSpPr>
          <p:cNvPr id="361" name="Google Shape;361;g1363da3e35d_0_34"/>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100"/>
              <a:buFont typeface="Arial"/>
              <a:buNone/>
            </a:pPr>
            <a:r>
              <a:rPr lang="en-IN" sz="1800">
                <a:solidFill>
                  <a:schemeClr val="dk1"/>
                </a:solidFill>
                <a:highlight>
                  <a:srgbClr val="FFFFFF"/>
                </a:highlight>
                <a:latin typeface="Oswald"/>
                <a:ea typeface="Oswald"/>
                <a:cs typeface="Oswald"/>
                <a:sym typeface="Oswald"/>
              </a:rPr>
              <a:t>Session Timeout in asp.net</a:t>
            </a:r>
            <a:endParaRPr sz="1800">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In previous post we learnt how to use session in asp.net. In this post we will learn some more things about session.</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Session is a length/period of time that a particular browser instances spends accessing a website. The Session object is used to persist data across a user session during the user’s visit to a website.</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In asp.net </a:t>
            </a:r>
            <a:r>
              <a:rPr b="1" lang="en-IN" sz="1150">
                <a:solidFill>
                  <a:schemeClr val="dk1"/>
                </a:solidFill>
                <a:highlight>
                  <a:srgbClr val="FFFFFF"/>
                </a:highlight>
                <a:latin typeface="Verdana"/>
                <a:ea typeface="Verdana"/>
                <a:cs typeface="Verdana"/>
                <a:sym typeface="Verdana"/>
              </a:rPr>
              <a:t>by default session timeout = 20 minutes</a:t>
            </a:r>
            <a:r>
              <a:rPr lang="en-IN" sz="1150">
                <a:solidFill>
                  <a:schemeClr val="dk1"/>
                </a:solidFill>
                <a:highlight>
                  <a:srgbClr val="FFFFFF"/>
                </a:highlight>
                <a:latin typeface="Verdana"/>
                <a:ea typeface="Verdana"/>
                <a:cs typeface="Verdana"/>
                <a:sym typeface="Verdana"/>
              </a:rPr>
              <a:t>, but in some cases we need to change session time increment or decrement by changing web.config file setting.</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We can also set manually by write c# code at code behind .aspx page in asp.net.</a:t>
            </a:r>
            <a:endParaRPr sz="11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363da3e35d_0_41"/>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just">
              <a:lnSpc>
                <a:spcPct val="125000"/>
              </a:lnSpc>
              <a:spcBef>
                <a:spcPts val="0"/>
              </a:spcBef>
              <a:spcAft>
                <a:spcPts val="800"/>
              </a:spcAft>
              <a:buClr>
                <a:schemeClr val="dk1"/>
              </a:buClr>
              <a:buSzPts val="1100"/>
              <a:buFont typeface="Arial"/>
              <a:buNone/>
            </a:pPr>
            <a:r>
              <a:rPr lang="en-IN" sz="2900">
                <a:solidFill>
                  <a:schemeClr val="dk1"/>
                </a:solidFill>
                <a:highlight>
                  <a:srgbClr val="FFFFFF"/>
                </a:highlight>
                <a:latin typeface="Oswald"/>
                <a:ea typeface="Oswald"/>
                <a:cs typeface="Oswald"/>
                <a:sym typeface="Oswald"/>
              </a:rPr>
              <a:t>Set Session Timeout</a:t>
            </a:r>
            <a:endParaRPr sz="5100"/>
          </a:p>
        </p:txBody>
      </p:sp>
      <p:sp>
        <p:nvSpPr>
          <p:cNvPr id="367" name="Google Shape;367;g1363da3e35d_0_41"/>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100"/>
              <a:buFont typeface="Arial"/>
              <a:buNone/>
            </a:pPr>
            <a:r>
              <a:t/>
            </a:r>
            <a:endParaRPr sz="1800">
              <a:solidFill>
                <a:schemeClr val="dk1"/>
              </a:solidFill>
              <a:highlight>
                <a:srgbClr val="FFFFFF"/>
              </a:highlight>
              <a:latin typeface="Oswald"/>
              <a:ea typeface="Oswald"/>
              <a:cs typeface="Oswald"/>
              <a:sym typeface="Oswald"/>
            </a:endParaRPr>
          </a:p>
          <a:p>
            <a:pPr indent="-333375" lvl="0" marL="952500" marR="495300" rtl="0" algn="l">
              <a:lnSpc>
                <a:spcPct val="115000"/>
              </a:lnSpc>
              <a:spcBef>
                <a:spcPts val="3300"/>
              </a:spcBef>
              <a:spcAft>
                <a:spcPts val="0"/>
              </a:spcAft>
              <a:buClr>
                <a:schemeClr val="dk1"/>
              </a:buClr>
              <a:buSzPts val="1650"/>
              <a:buFont typeface="Verdana"/>
              <a:buChar char="●"/>
            </a:pPr>
            <a:r>
              <a:rPr lang="en-IN" sz="1650">
                <a:solidFill>
                  <a:schemeClr val="dk1"/>
                </a:solidFill>
                <a:highlight>
                  <a:srgbClr val="FFFFFF"/>
                </a:highlight>
                <a:latin typeface="Verdana"/>
                <a:ea typeface="Verdana"/>
                <a:cs typeface="Verdana"/>
                <a:sym typeface="Verdana"/>
              </a:rPr>
              <a:t>Session Timeout using web.config file</a:t>
            </a:r>
            <a:endParaRPr sz="1650">
              <a:solidFill>
                <a:schemeClr val="dk1"/>
              </a:solidFill>
              <a:highlight>
                <a:srgbClr val="FFFFFF"/>
              </a:highlight>
              <a:latin typeface="Verdana"/>
              <a:ea typeface="Verdana"/>
              <a:cs typeface="Verdana"/>
              <a:sym typeface="Verdana"/>
            </a:endParaRPr>
          </a:p>
          <a:p>
            <a:pPr indent="-333375" lvl="0" marL="952500" marR="495300" rtl="0" algn="l">
              <a:lnSpc>
                <a:spcPct val="115000"/>
              </a:lnSpc>
              <a:spcBef>
                <a:spcPts val="0"/>
              </a:spcBef>
              <a:spcAft>
                <a:spcPts val="0"/>
              </a:spcAft>
              <a:buClr>
                <a:schemeClr val="dk1"/>
              </a:buClr>
              <a:buSzPts val="1650"/>
              <a:buFont typeface="Verdana"/>
              <a:buChar char="●"/>
            </a:pPr>
            <a:r>
              <a:rPr lang="en-IN" sz="1650">
                <a:solidFill>
                  <a:schemeClr val="dk1"/>
                </a:solidFill>
                <a:highlight>
                  <a:srgbClr val="FFFFFF"/>
                </a:highlight>
                <a:latin typeface="Verdana"/>
                <a:ea typeface="Verdana"/>
                <a:cs typeface="Verdana"/>
                <a:sym typeface="Verdana"/>
              </a:rPr>
              <a:t>Session timeout in each page using C# code</a:t>
            </a:r>
            <a:endParaRPr sz="1650">
              <a:solidFill>
                <a:schemeClr val="dk1"/>
              </a:solidFill>
              <a:highlight>
                <a:srgbClr val="FFFFFF"/>
              </a:highlight>
              <a:latin typeface="Verdana"/>
              <a:ea typeface="Verdana"/>
              <a:cs typeface="Verdana"/>
              <a:sym typeface="Verdana"/>
            </a:endParaRPr>
          </a:p>
          <a:p>
            <a:pPr indent="-333375" lvl="0" marL="952500" marR="495300" rtl="0" algn="l">
              <a:lnSpc>
                <a:spcPct val="115000"/>
              </a:lnSpc>
              <a:spcBef>
                <a:spcPts val="0"/>
              </a:spcBef>
              <a:spcAft>
                <a:spcPts val="0"/>
              </a:spcAft>
              <a:buClr>
                <a:schemeClr val="dk1"/>
              </a:buClr>
              <a:buSzPts val="1650"/>
              <a:buFont typeface="Verdana"/>
              <a:buChar char="●"/>
            </a:pPr>
            <a:r>
              <a:rPr lang="en-IN" sz="1650">
                <a:solidFill>
                  <a:schemeClr val="dk1"/>
                </a:solidFill>
                <a:highlight>
                  <a:srgbClr val="FFFFFF"/>
                </a:highlight>
                <a:latin typeface="Verdana"/>
                <a:ea typeface="Verdana"/>
                <a:cs typeface="Verdana"/>
                <a:sym typeface="Verdana"/>
              </a:rPr>
              <a:t>Session timeout using IIS Server for website</a:t>
            </a:r>
            <a:endParaRPr sz="1650">
              <a:solidFill>
                <a:schemeClr val="dk1"/>
              </a:solidFill>
              <a:highlight>
                <a:srgbClr val="FFFFFF"/>
              </a:highlight>
              <a:latin typeface="Verdana"/>
              <a:ea typeface="Verdana"/>
              <a:cs typeface="Verdana"/>
              <a:sym typeface="Verdana"/>
            </a:endParaRPr>
          </a:p>
          <a:p>
            <a:pPr indent="0" lvl="0" marL="0" rtl="0" algn="l">
              <a:spcBef>
                <a:spcPts val="33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1363da3e35d_0_47"/>
          <p:cNvSpPr txBox="1"/>
          <p:nvPr>
            <p:ph type="title"/>
          </p:nvPr>
        </p:nvSpPr>
        <p:spPr>
          <a:xfrm>
            <a:off x="1043490" y="1027664"/>
            <a:ext cx="7024800" cy="1143000"/>
          </a:xfrm>
          <a:prstGeom prst="rect">
            <a:avLst/>
          </a:prstGeom>
        </p:spPr>
        <p:txBody>
          <a:bodyPr anchorCtr="0" anchor="b" bIns="45700" lIns="91425" spcFirstLastPara="1" rIns="91425" wrap="square" tIns="45700">
            <a:normAutofit fontScale="90000"/>
          </a:bodyPr>
          <a:lstStyle/>
          <a:p>
            <a:pPr indent="0" lvl="0" marL="0" rtl="0" algn="just">
              <a:lnSpc>
                <a:spcPct val="125000"/>
              </a:lnSpc>
              <a:spcBef>
                <a:spcPts val="0"/>
              </a:spcBef>
              <a:spcAft>
                <a:spcPts val="0"/>
              </a:spcAft>
              <a:buClr>
                <a:schemeClr val="dk1"/>
              </a:buClr>
              <a:buSzPct val="37931"/>
              <a:buFont typeface="Arial"/>
              <a:buNone/>
            </a:pPr>
            <a:r>
              <a:rPr lang="en-IN" sz="2900">
                <a:solidFill>
                  <a:schemeClr val="dk1"/>
                </a:solidFill>
                <a:highlight>
                  <a:srgbClr val="FFFFFF"/>
                </a:highlight>
                <a:latin typeface="Oswald"/>
                <a:ea typeface="Oswald"/>
                <a:cs typeface="Oswald"/>
                <a:sym typeface="Oswald"/>
              </a:rPr>
              <a:t>Set Session Timeout</a:t>
            </a:r>
            <a:endParaRPr sz="5100"/>
          </a:p>
          <a:p>
            <a:pPr indent="0" lvl="0" marL="0" rtl="0" algn="l">
              <a:spcBef>
                <a:spcPts val="800"/>
              </a:spcBef>
              <a:spcAft>
                <a:spcPts val="0"/>
              </a:spcAft>
              <a:buNone/>
            </a:pPr>
            <a:r>
              <a:t/>
            </a:r>
            <a:endParaRPr/>
          </a:p>
        </p:txBody>
      </p:sp>
      <p:sp>
        <p:nvSpPr>
          <p:cNvPr id="373" name="Google Shape;373;g1363da3e35d_0_47"/>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70000" lnSpcReduction="20000"/>
          </a:bodyPr>
          <a:lstStyle/>
          <a:p>
            <a:pPr indent="0" lvl="0" marL="0" rtl="0" algn="just">
              <a:lnSpc>
                <a:spcPct val="125000"/>
              </a:lnSpc>
              <a:spcBef>
                <a:spcPts val="0"/>
              </a:spcBef>
              <a:spcAft>
                <a:spcPts val="0"/>
              </a:spcAft>
              <a:buClr>
                <a:schemeClr val="dk1"/>
              </a:buClr>
              <a:buSzPct val="61111"/>
              <a:buFont typeface="Arial"/>
              <a:buNone/>
            </a:pPr>
            <a:r>
              <a:rPr lang="en-IN" sz="1800">
                <a:solidFill>
                  <a:schemeClr val="dk1"/>
                </a:solidFill>
                <a:highlight>
                  <a:srgbClr val="FFFFFF"/>
                </a:highlight>
                <a:latin typeface="Oswald"/>
                <a:ea typeface="Oswald"/>
                <a:cs typeface="Oswald"/>
                <a:sym typeface="Oswald"/>
              </a:rPr>
              <a:t>Using Web.config file</a:t>
            </a:r>
            <a:endParaRPr sz="1800">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Set session timeout = 3 minute using web.config file.</a:t>
            </a:r>
            <a:endParaRPr sz="11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&lt;system.web&gt;</a:t>
            </a:r>
            <a:endParaRPr sz="11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&lt;sessionState mode=”InProc” timeout=”3″&gt;&lt;/sessionState&gt;</a:t>
            </a:r>
            <a:endParaRPr sz="1150">
              <a:solidFill>
                <a:schemeClr val="dk1"/>
              </a:solidFill>
              <a:highlight>
                <a:srgbClr val="FFFFFF"/>
              </a:highlight>
              <a:latin typeface="Verdana"/>
              <a:ea typeface="Verdana"/>
              <a:cs typeface="Verdana"/>
              <a:sym typeface="Verdana"/>
            </a:endParaRPr>
          </a:p>
          <a:p>
            <a:pPr indent="0" lvl="0" marL="304800" marR="304800" rtl="0" algn="l">
              <a:lnSpc>
                <a:spcPct val="170000"/>
              </a:lnSpc>
              <a:spcBef>
                <a:spcPts val="17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&lt;/system.web&gt;</a:t>
            </a:r>
            <a:endParaRPr sz="1150">
              <a:solidFill>
                <a:schemeClr val="dk1"/>
              </a:solidFill>
              <a:highlight>
                <a:srgbClr val="FFFFFF"/>
              </a:highlight>
              <a:latin typeface="Verdana"/>
              <a:ea typeface="Verdana"/>
              <a:cs typeface="Verdana"/>
              <a:sym typeface="Verdana"/>
            </a:endParaRPr>
          </a:p>
          <a:p>
            <a:pPr indent="0" lvl="0" marL="0" rtl="0" algn="just">
              <a:lnSpc>
                <a:spcPct val="125000"/>
              </a:lnSpc>
              <a:spcBef>
                <a:spcPts val="1700"/>
              </a:spcBef>
              <a:spcAft>
                <a:spcPts val="0"/>
              </a:spcAft>
              <a:buClr>
                <a:schemeClr val="dk1"/>
              </a:buClr>
              <a:buSzPct val="61111"/>
              <a:buFont typeface="Arial"/>
              <a:buNone/>
            </a:pPr>
            <a:r>
              <a:rPr lang="en-IN" sz="1800">
                <a:solidFill>
                  <a:schemeClr val="dk1"/>
                </a:solidFill>
                <a:highlight>
                  <a:srgbClr val="FFFFFF"/>
                </a:highlight>
                <a:latin typeface="Oswald"/>
                <a:ea typeface="Oswald"/>
                <a:cs typeface="Oswald"/>
                <a:sym typeface="Oswald"/>
              </a:rPr>
              <a:t>Using C# code</a:t>
            </a:r>
            <a:endParaRPr sz="1800">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We can also set session timeout for each page.</a:t>
            </a:r>
            <a:endParaRPr sz="1150">
              <a:solidFill>
                <a:schemeClr val="dk1"/>
              </a:solidFill>
              <a:highlight>
                <a:srgbClr val="FFFFFF"/>
              </a:highlight>
              <a:latin typeface="Verdana"/>
              <a:ea typeface="Verdana"/>
              <a:cs typeface="Verdana"/>
              <a:sym typeface="Verdana"/>
            </a:endParaRPr>
          </a:p>
          <a:p>
            <a:pPr indent="0" lvl="0" marL="0" rtl="0" algn="just">
              <a:lnSpc>
                <a:spcPct val="125000"/>
              </a:lnSpc>
              <a:spcBef>
                <a:spcPts val="900"/>
              </a:spcBef>
              <a:spcAft>
                <a:spcPts val="0"/>
              </a:spcAft>
              <a:buClr>
                <a:schemeClr val="dk1"/>
              </a:buClr>
              <a:buSzPct val="73333"/>
              <a:buFont typeface="Arial"/>
              <a:buNone/>
            </a:pPr>
            <a:r>
              <a:rPr lang="en-IN" sz="1500">
                <a:solidFill>
                  <a:schemeClr val="dk1"/>
                </a:solidFill>
                <a:highlight>
                  <a:srgbClr val="FFFFFF"/>
                </a:highlight>
                <a:latin typeface="Oswald"/>
                <a:ea typeface="Oswald"/>
                <a:cs typeface="Oswald"/>
                <a:sym typeface="Oswald"/>
              </a:rPr>
              <a:t>Session timeout syntax</a:t>
            </a:r>
            <a:endParaRPr sz="1500">
              <a:solidFill>
                <a:schemeClr val="dk1"/>
              </a:solidFill>
              <a:highlight>
                <a:srgbClr val="FFFFFF"/>
              </a:highlight>
              <a:latin typeface="Oswald"/>
              <a:ea typeface="Oswald"/>
              <a:cs typeface="Oswald"/>
              <a:sym typeface="Oswald"/>
            </a:endParaRPr>
          </a:p>
          <a:p>
            <a:pPr indent="0" lvl="0" marL="304800" marR="304800" rtl="0" algn="l">
              <a:lnSpc>
                <a:spcPct val="170000"/>
              </a:lnSpc>
              <a:spcBef>
                <a:spcPts val="1700"/>
              </a:spcBef>
              <a:spcAft>
                <a:spcPts val="0"/>
              </a:spcAft>
              <a:buClr>
                <a:schemeClr val="dk1"/>
              </a:buClr>
              <a:buSzPct val="95652"/>
              <a:buFont typeface="Arial"/>
              <a:buNone/>
            </a:pPr>
            <a:r>
              <a:rPr lang="en-IN" sz="1150">
                <a:solidFill>
                  <a:schemeClr val="dk1"/>
                </a:solidFill>
                <a:highlight>
                  <a:srgbClr val="FFFFFF"/>
                </a:highlight>
                <a:latin typeface="Verdana"/>
                <a:ea typeface="Verdana"/>
                <a:cs typeface="Verdana"/>
                <a:sym typeface="Verdana"/>
              </a:rPr>
              <a:t>Session.Timeout= 2;</a:t>
            </a:r>
            <a:endParaRPr sz="1150">
              <a:solidFill>
                <a:schemeClr val="dk1"/>
              </a:solidFill>
              <a:highlight>
                <a:srgbClr val="FFFFFF"/>
              </a:highlight>
              <a:latin typeface="Verdana"/>
              <a:ea typeface="Verdana"/>
              <a:cs typeface="Verdana"/>
              <a:sym typeface="Verdana"/>
            </a:endParaRPr>
          </a:p>
          <a:p>
            <a:pPr indent="0" lvl="0" marL="0" rtl="0" algn="l">
              <a:spcBef>
                <a:spcPts val="17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1363da3e35d_0_53"/>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just">
              <a:lnSpc>
                <a:spcPct val="125000"/>
              </a:lnSpc>
              <a:spcBef>
                <a:spcPts val="0"/>
              </a:spcBef>
              <a:spcAft>
                <a:spcPts val="800"/>
              </a:spcAft>
              <a:buClr>
                <a:schemeClr val="dk1"/>
              </a:buClr>
              <a:buSzPts val="1100"/>
              <a:buFont typeface="Arial"/>
              <a:buNone/>
            </a:pPr>
            <a:r>
              <a:rPr lang="en-IN" sz="2700">
                <a:solidFill>
                  <a:schemeClr val="dk1"/>
                </a:solidFill>
                <a:highlight>
                  <a:srgbClr val="FFFFFF"/>
                </a:highlight>
                <a:latin typeface="Oswald"/>
                <a:ea typeface="Oswald"/>
                <a:cs typeface="Oswald"/>
                <a:sym typeface="Oswald"/>
              </a:rPr>
              <a:t>ASP.Net Application State</a:t>
            </a:r>
            <a:endParaRPr sz="4900"/>
          </a:p>
        </p:txBody>
      </p:sp>
      <p:sp>
        <p:nvSpPr>
          <p:cNvPr id="379" name="Google Shape;379;g1363da3e35d_0_53"/>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85000" lnSpcReduction="20000"/>
          </a:bodyPr>
          <a:lstStyle/>
          <a:p>
            <a:pPr indent="0" lvl="0" marL="457200" rtl="0" algn="just">
              <a:lnSpc>
                <a:spcPct val="125000"/>
              </a:lnSpc>
              <a:spcBef>
                <a:spcPts val="0"/>
              </a:spcBef>
              <a:spcAft>
                <a:spcPts val="0"/>
              </a:spcAft>
              <a:buNone/>
            </a:pPr>
            <a:r>
              <a:t/>
            </a:r>
            <a:endParaRPr sz="2300">
              <a:solidFill>
                <a:schemeClr val="dk1"/>
              </a:solidFill>
              <a:highlight>
                <a:srgbClr val="FFFFFF"/>
              </a:highlight>
              <a:latin typeface="Oswald"/>
              <a:ea typeface="Oswald"/>
              <a:cs typeface="Oswald"/>
              <a:sym typeface="Oswald"/>
            </a:endParaRPr>
          </a:p>
          <a:p>
            <a:pPr indent="0" lvl="0" marL="457200" rtl="0" algn="just">
              <a:lnSpc>
                <a:spcPct val="125000"/>
              </a:lnSpc>
              <a:spcBef>
                <a:spcPts val="800"/>
              </a:spcBef>
              <a:spcAft>
                <a:spcPts val="0"/>
              </a:spcAft>
              <a:buNone/>
            </a:pPr>
            <a:r>
              <a:t/>
            </a:r>
            <a:endParaRPr sz="2300">
              <a:solidFill>
                <a:schemeClr val="dk1"/>
              </a:solidFill>
              <a:highlight>
                <a:srgbClr val="FFFFFF"/>
              </a:highlight>
              <a:latin typeface="Oswald"/>
              <a:ea typeface="Oswald"/>
              <a:cs typeface="Oswald"/>
              <a:sym typeface="Oswald"/>
            </a:endParaRPr>
          </a:p>
          <a:p>
            <a:pPr indent="-317658" lvl="0" marL="457200" rtl="0" algn="just">
              <a:lnSpc>
                <a:spcPct val="115000"/>
              </a:lnSpc>
              <a:spcBef>
                <a:spcPts val="800"/>
              </a:spcBef>
              <a:spcAft>
                <a:spcPts val="0"/>
              </a:spcAft>
              <a:buClr>
                <a:schemeClr val="dk1"/>
              </a:buClr>
              <a:buSzPct val="100000"/>
              <a:buFont typeface="Verdana"/>
              <a:buChar char="🞇"/>
            </a:pPr>
            <a:r>
              <a:rPr lang="en-IN" sz="1650">
                <a:solidFill>
                  <a:schemeClr val="dk1"/>
                </a:solidFill>
                <a:highlight>
                  <a:srgbClr val="FFFFFF"/>
                </a:highlight>
                <a:latin typeface="Verdana"/>
                <a:ea typeface="Verdana"/>
                <a:cs typeface="Verdana"/>
                <a:sym typeface="Verdana"/>
              </a:rPr>
              <a:t>ASP.Net Application state is a server side state management technique.</a:t>
            </a:r>
            <a:endParaRPr sz="1650">
              <a:solidFill>
                <a:schemeClr val="dk1"/>
              </a:solidFill>
              <a:highlight>
                <a:srgbClr val="FFFFFF"/>
              </a:highlight>
              <a:latin typeface="Verdana"/>
              <a:ea typeface="Verdana"/>
              <a:cs typeface="Verdana"/>
              <a:sym typeface="Verdana"/>
            </a:endParaRPr>
          </a:p>
          <a:p>
            <a:pPr indent="-317658" lvl="0" marL="457200" rtl="0" algn="just">
              <a:lnSpc>
                <a:spcPct val="115000"/>
              </a:lnSpc>
              <a:spcBef>
                <a:spcPts val="0"/>
              </a:spcBef>
              <a:spcAft>
                <a:spcPts val="0"/>
              </a:spcAft>
              <a:buClr>
                <a:schemeClr val="dk1"/>
              </a:buClr>
              <a:buSzPct val="100000"/>
              <a:buFont typeface="Verdana"/>
              <a:buChar char="🞇"/>
            </a:pPr>
            <a:r>
              <a:rPr lang="en-IN" sz="1650">
                <a:solidFill>
                  <a:schemeClr val="dk1"/>
                </a:solidFill>
                <a:highlight>
                  <a:srgbClr val="FFFFFF"/>
                </a:highlight>
                <a:latin typeface="Verdana"/>
                <a:ea typeface="Verdana"/>
                <a:cs typeface="Verdana"/>
                <a:sym typeface="Verdana"/>
              </a:rPr>
              <a:t>Application state is a global storage mechanism that used to stored data on the server and shared for all users, means data stored in Application state is common for all user. Data from Application state can be accessible anywhere in the application. Application state is based on the System.Web.HttpApplicationState class.</a:t>
            </a:r>
            <a:endParaRPr sz="1650">
              <a:solidFill>
                <a:schemeClr val="dk1"/>
              </a:solidFill>
              <a:highlight>
                <a:srgbClr val="FFFFFF"/>
              </a:highlight>
              <a:latin typeface="Verdana"/>
              <a:ea typeface="Verdana"/>
              <a:cs typeface="Verdana"/>
              <a:sym typeface="Verdana"/>
            </a:endParaRPr>
          </a:p>
          <a:p>
            <a:pPr indent="-317658" lvl="0" marL="457200" rtl="0" algn="just">
              <a:lnSpc>
                <a:spcPct val="115000"/>
              </a:lnSpc>
              <a:spcBef>
                <a:spcPts val="0"/>
              </a:spcBef>
              <a:spcAft>
                <a:spcPts val="0"/>
              </a:spcAft>
              <a:buClr>
                <a:schemeClr val="dk1"/>
              </a:buClr>
              <a:buSzPct val="100000"/>
              <a:buFont typeface="Verdana"/>
              <a:buChar char="🞇"/>
            </a:pPr>
            <a:r>
              <a:rPr lang="en-IN" sz="1650">
                <a:solidFill>
                  <a:schemeClr val="dk1"/>
                </a:solidFill>
                <a:highlight>
                  <a:srgbClr val="FFFFFF"/>
                </a:highlight>
                <a:latin typeface="Verdana"/>
                <a:ea typeface="Verdana"/>
                <a:cs typeface="Verdana"/>
                <a:sym typeface="Verdana"/>
              </a:rPr>
              <a:t>The application state used same way as session state, but session state is specific for a single user session, where as application state common for all users of asp.net application.</a:t>
            </a:r>
            <a:endParaRPr sz="16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363da3e35d_0_59"/>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just">
              <a:lnSpc>
                <a:spcPct val="125000"/>
              </a:lnSpc>
              <a:spcBef>
                <a:spcPts val="0"/>
              </a:spcBef>
              <a:spcAft>
                <a:spcPts val="800"/>
              </a:spcAft>
              <a:buClr>
                <a:schemeClr val="dk1"/>
              </a:buClr>
              <a:buSzPts val="1100"/>
              <a:buFont typeface="Arial"/>
              <a:buNone/>
            </a:pPr>
            <a:r>
              <a:rPr lang="en-IN" sz="1800">
                <a:solidFill>
                  <a:schemeClr val="dk1"/>
                </a:solidFill>
                <a:highlight>
                  <a:srgbClr val="FFFFFF"/>
                </a:highlight>
                <a:latin typeface="Oswald"/>
                <a:ea typeface="Oswald"/>
                <a:cs typeface="Oswald"/>
                <a:sym typeface="Oswald"/>
              </a:rPr>
              <a:t>Syntax of Application State</a:t>
            </a:r>
            <a:endParaRPr/>
          </a:p>
        </p:txBody>
      </p:sp>
      <p:sp>
        <p:nvSpPr>
          <p:cNvPr id="385" name="Google Shape;385;g1363da3e35d_0_59"/>
          <p:cNvSpPr txBox="1"/>
          <p:nvPr>
            <p:ph idx="1" type="body"/>
          </p:nvPr>
        </p:nvSpPr>
        <p:spPr>
          <a:xfrm>
            <a:off x="740192" y="2440277"/>
            <a:ext cx="6777300" cy="3509100"/>
          </a:xfrm>
          <a:prstGeom prst="rect">
            <a:avLst/>
          </a:prstGeom>
        </p:spPr>
        <p:txBody>
          <a:bodyPr anchorCtr="0" anchor="t" bIns="45700" lIns="91425" spcFirstLastPara="1" rIns="91425" wrap="square" tIns="45700">
            <a:normAutofit fontScale="92500" lnSpcReduction="20000"/>
          </a:bodyPr>
          <a:lstStyle/>
          <a:p>
            <a:pPr indent="0" lvl="0" marL="0" rtl="0" algn="just">
              <a:lnSpc>
                <a:spcPct val="125000"/>
              </a:lnSpc>
              <a:spcBef>
                <a:spcPts val="0"/>
              </a:spcBef>
              <a:spcAft>
                <a:spcPts val="0"/>
              </a:spcAft>
              <a:buClr>
                <a:schemeClr val="dk1"/>
              </a:buClr>
              <a:buSzPct val="45833"/>
              <a:buFont typeface="Arial"/>
              <a:buNone/>
            </a:pPr>
            <a:r>
              <a:t/>
            </a:r>
            <a:endParaRPr>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ct val="62857"/>
              <a:buFont typeface="Arial"/>
              <a:buNone/>
            </a:pPr>
            <a:r>
              <a:rPr lang="en-IN" sz="1750">
                <a:solidFill>
                  <a:schemeClr val="dk1"/>
                </a:solidFill>
                <a:highlight>
                  <a:srgbClr val="FFFFFF"/>
                </a:highlight>
                <a:latin typeface="Verdana"/>
                <a:ea typeface="Verdana"/>
                <a:cs typeface="Verdana"/>
                <a:sym typeface="Verdana"/>
              </a:rPr>
              <a:t>Store information in application state</a:t>
            </a:r>
            <a:endParaRPr sz="1750">
              <a:solidFill>
                <a:schemeClr val="dk1"/>
              </a:solidFill>
              <a:highlight>
                <a:srgbClr val="FFFFFF"/>
              </a:highlight>
              <a:latin typeface="Verdana"/>
              <a:ea typeface="Verdana"/>
              <a:cs typeface="Verdana"/>
              <a:sym typeface="Verdana"/>
            </a:endParaRPr>
          </a:p>
          <a:p>
            <a:pPr indent="-331390" lvl="0" marL="952500" marR="495300" rtl="0" algn="l">
              <a:lnSpc>
                <a:spcPct val="115000"/>
              </a:lnSpc>
              <a:spcBef>
                <a:spcPts val="3300"/>
              </a:spcBef>
              <a:spcAft>
                <a:spcPts val="0"/>
              </a:spcAft>
              <a:buClr>
                <a:schemeClr val="dk1"/>
              </a:buClr>
              <a:buSzPct val="100000"/>
              <a:buFont typeface="Verdana"/>
              <a:buChar char="●"/>
            </a:pPr>
            <a:r>
              <a:rPr lang="en-IN" sz="1750">
                <a:solidFill>
                  <a:schemeClr val="dk1"/>
                </a:solidFill>
                <a:highlight>
                  <a:srgbClr val="FFFFFF"/>
                </a:highlight>
                <a:latin typeface="Verdana"/>
                <a:ea typeface="Verdana"/>
                <a:cs typeface="Verdana"/>
                <a:sym typeface="Verdana"/>
              </a:rPr>
              <a:t>Application[“name”] = “padma;</a:t>
            </a:r>
            <a:endParaRPr sz="1750">
              <a:solidFill>
                <a:schemeClr val="dk1"/>
              </a:solidFill>
              <a:highlight>
                <a:srgbClr val="FFFFFF"/>
              </a:highlight>
              <a:latin typeface="Verdana"/>
              <a:ea typeface="Verdana"/>
              <a:cs typeface="Verdana"/>
              <a:sym typeface="Verdana"/>
            </a:endParaRPr>
          </a:p>
          <a:p>
            <a:pPr indent="0" lvl="0" marL="0" rtl="0" algn="just">
              <a:lnSpc>
                <a:spcPct val="115000"/>
              </a:lnSpc>
              <a:spcBef>
                <a:spcPts val="3300"/>
              </a:spcBef>
              <a:spcAft>
                <a:spcPts val="0"/>
              </a:spcAft>
              <a:buNone/>
            </a:pPr>
            <a:r>
              <a:rPr lang="en-IN" sz="1750">
                <a:solidFill>
                  <a:schemeClr val="dk1"/>
                </a:solidFill>
                <a:highlight>
                  <a:srgbClr val="FFFFFF"/>
                </a:highlight>
                <a:latin typeface="Verdana"/>
                <a:ea typeface="Verdana"/>
                <a:cs typeface="Verdana"/>
                <a:sym typeface="Verdana"/>
              </a:rPr>
              <a:t>Retrieve information from application state</a:t>
            </a:r>
            <a:endParaRPr sz="1750">
              <a:solidFill>
                <a:schemeClr val="dk1"/>
              </a:solidFill>
              <a:highlight>
                <a:srgbClr val="FFFFFF"/>
              </a:highlight>
              <a:latin typeface="Verdana"/>
              <a:ea typeface="Verdana"/>
              <a:cs typeface="Verdana"/>
              <a:sym typeface="Verdana"/>
            </a:endParaRPr>
          </a:p>
          <a:p>
            <a:pPr indent="-331390" lvl="0" marL="952500" marR="495300" rtl="0" algn="l">
              <a:lnSpc>
                <a:spcPct val="115000"/>
              </a:lnSpc>
              <a:spcBef>
                <a:spcPts val="3300"/>
              </a:spcBef>
              <a:spcAft>
                <a:spcPts val="0"/>
              </a:spcAft>
              <a:buClr>
                <a:schemeClr val="dk1"/>
              </a:buClr>
              <a:buSzPct val="100000"/>
              <a:buFont typeface="Verdana"/>
              <a:buChar char="●"/>
            </a:pPr>
            <a:r>
              <a:rPr lang="en-IN" sz="1750">
                <a:solidFill>
                  <a:schemeClr val="dk1"/>
                </a:solidFill>
                <a:highlight>
                  <a:srgbClr val="FFFFFF"/>
                </a:highlight>
                <a:latin typeface="Verdana"/>
                <a:ea typeface="Verdana"/>
                <a:cs typeface="Verdana"/>
                <a:sym typeface="Verdana"/>
              </a:rPr>
              <a:t>string str = Application[“name”].ToString();</a:t>
            </a:r>
            <a:endParaRPr sz="1750">
              <a:solidFill>
                <a:schemeClr val="dk1"/>
              </a:solidFill>
              <a:highlight>
                <a:srgbClr val="FFFFFF"/>
              </a:highlight>
              <a:latin typeface="Verdana"/>
              <a:ea typeface="Verdana"/>
              <a:cs typeface="Verdana"/>
              <a:sym typeface="Verdana"/>
            </a:endParaRPr>
          </a:p>
          <a:p>
            <a:pPr indent="0" lvl="0" marL="0" rtl="0" algn="l">
              <a:spcBef>
                <a:spcPts val="33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1363da3e35d_0_66"/>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391" name="Google Shape;391;g1363da3e35d_0_66"/>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100"/>
              <a:buFont typeface="Arial"/>
              <a:buNone/>
            </a:pPr>
            <a:r>
              <a:rPr lang="en-IN" sz="1800">
                <a:solidFill>
                  <a:schemeClr val="dk1"/>
                </a:solidFill>
                <a:highlight>
                  <a:srgbClr val="FFFFFF"/>
                </a:highlight>
                <a:latin typeface="Oswald"/>
                <a:ea typeface="Oswald"/>
                <a:cs typeface="Oswald"/>
                <a:sym typeface="Oswald"/>
              </a:rPr>
              <a:t>Example of Application State in ASP.Net</a:t>
            </a:r>
            <a:endParaRPr sz="1800">
              <a:solidFill>
                <a:schemeClr val="dk1"/>
              </a:solidFill>
              <a:highlight>
                <a:srgbClr val="FFFFFF"/>
              </a:highlight>
              <a:latin typeface="Oswald"/>
              <a:ea typeface="Oswald"/>
              <a:cs typeface="Oswald"/>
              <a:sym typeface="Oswald"/>
            </a:endParaRPr>
          </a:p>
          <a:p>
            <a:pPr indent="0" lvl="0" marL="0" rtl="0" algn="just">
              <a:lnSpc>
                <a:spcPct val="115000"/>
              </a:lnSpc>
              <a:spcBef>
                <a:spcPts val="8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Generally we use application state for calculate how many times a given page has been visited by various clients.</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900"/>
              </a:spcBef>
              <a:spcAft>
                <a:spcPts val="0"/>
              </a:spcAft>
              <a:buClr>
                <a:schemeClr val="dk1"/>
              </a:buClr>
              <a:buSzPts val="1100"/>
              <a:buFont typeface="Arial"/>
              <a:buNone/>
            </a:pPr>
            <a:r>
              <a:rPr lang="en-IN" sz="1150">
                <a:solidFill>
                  <a:schemeClr val="dk1"/>
                </a:solidFill>
                <a:highlight>
                  <a:srgbClr val="FFFFFF"/>
                </a:highlight>
                <a:latin typeface="Verdana"/>
                <a:ea typeface="Verdana"/>
                <a:cs typeface="Verdana"/>
                <a:sym typeface="Verdana"/>
              </a:rPr>
              <a:t>Design web page in visual studio as shows in below figure.</a:t>
            </a:r>
            <a:endParaRPr sz="1150">
              <a:solidFill>
                <a:schemeClr val="dk1"/>
              </a:solidFill>
              <a:highlight>
                <a:srgbClr val="FFFFFF"/>
              </a:highlight>
              <a:latin typeface="Verdana"/>
              <a:ea typeface="Verdana"/>
              <a:cs typeface="Verdana"/>
              <a:sym typeface="Verdana"/>
            </a:endParaRPr>
          </a:p>
          <a:p>
            <a:pPr indent="0" lvl="0" marL="0" rtl="0" algn="l">
              <a:spcBef>
                <a:spcPts val="9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1363da3e35d_0_78"/>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IN" sz="3100">
                <a:solidFill>
                  <a:srgbClr val="212121"/>
                </a:solidFill>
                <a:highlight>
                  <a:srgbClr val="FFFFFF"/>
                </a:highlight>
                <a:latin typeface="Arial"/>
                <a:ea typeface="Arial"/>
                <a:cs typeface="Arial"/>
                <a:sym typeface="Arial"/>
              </a:rPr>
              <a:t>Caching</a:t>
            </a:r>
            <a:endParaRPr sz="5300"/>
          </a:p>
        </p:txBody>
      </p:sp>
      <p:sp>
        <p:nvSpPr>
          <p:cNvPr id="397" name="Google Shape;397;g1363da3e35d_0_78"/>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92500" lnSpcReduction="10000"/>
          </a:bodyPr>
          <a:lstStyle/>
          <a:p>
            <a:pPr indent="0" lvl="0" marL="0" rtl="0" algn="l">
              <a:spcBef>
                <a:spcPts val="360"/>
              </a:spcBef>
              <a:spcAft>
                <a:spcPts val="0"/>
              </a:spcAft>
              <a:buNone/>
            </a:pPr>
            <a:r>
              <a:rPr lang="en-IN" sz="1800">
                <a:solidFill>
                  <a:srgbClr val="212121"/>
                </a:solidFill>
                <a:highlight>
                  <a:srgbClr val="FFFFFF"/>
                </a:highlight>
                <a:latin typeface="Arial"/>
                <a:ea typeface="Arial"/>
                <a:cs typeface="Arial"/>
                <a:sym typeface="Arial"/>
              </a:rPr>
              <a:t>Caching is one of the most interesting concepts and operations in ASP.NET. If you can handle it, you can run any web application by applying the caching concept depending on the requirements</a:t>
            </a:r>
            <a:r>
              <a:rPr lang="en-IN" sz="1200">
                <a:solidFill>
                  <a:srgbClr val="212121"/>
                </a:solidFill>
                <a:highlight>
                  <a:srgbClr val="FFFFFF"/>
                </a:highlight>
                <a:latin typeface="Arial"/>
                <a:ea typeface="Arial"/>
                <a:cs typeface="Arial"/>
                <a:sym typeface="Arial"/>
              </a:rPr>
              <a:t>.</a:t>
            </a:r>
            <a:endParaRPr sz="1200">
              <a:solidFill>
                <a:srgbClr val="212121"/>
              </a:solidFill>
              <a:highlight>
                <a:srgbClr val="FFFFFF"/>
              </a:highlight>
              <a:latin typeface="Arial"/>
              <a:ea typeface="Arial"/>
              <a:cs typeface="Arial"/>
              <a:sym typeface="Arial"/>
            </a:endParaRPr>
          </a:p>
          <a:p>
            <a:pPr indent="0" lvl="0" marL="0" rtl="0" algn="l">
              <a:lnSpc>
                <a:spcPct val="110000"/>
              </a:lnSpc>
              <a:spcBef>
                <a:spcPts val="0"/>
              </a:spcBef>
              <a:spcAft>
                <a:spcPts val="0"/>
              </a:spcAft>
              <a:buClr>
                <a:schemeClr val="dk1"/>
              </a:buClr>
              <a:buSzPct val="61111"/>
              <a:buFont typeface="Arial"/>
              <a:buNone/>
            </a:pPr>
            <a:r>
              <a:rPr lang="en-IN" sz="1800">
                <a:solidFill>
                  <a:srgbClr val="212121"/>
                </a:solidFill>
                <a:highlight>
                  <a:srgbClr val="FFFFFF"/>
                </a:highlight>
                <a:latin typeface="Roboto"/>
                <a:ea typeface="Roboto"/>
                <a:cs typeface="Roboto"/>
                <a:sym typeface="Roboto"/>
              </a:rPr>
              <a:t>Why Caching</a:t>
            </a:r>
            <a:endParaRPr sz="1800">
              <a:solidFill>
                <a:srgbClr val="21212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ct val="100000"/>
              <a:buFont typeface="Arial"/>
              <a:buNone/>
            </a:pPr>
            <a:r>
              <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ct val="73333"/>
              <a:buFont typeface="Arial"/>
              <a:buNone/>
            </a:pPr>
            <a:r>
              <a:rPr b="1" lang="en-IN" sz="1500">
                <a:solidFill>
                  <a:srgbClr val="212121"/>
                </a:solidFill>
                <a:highlight>
                  <a:srgbClr val="FFFFFF"/>
                </a:highlight>
                <a:latin typeface="Arial"/>
                <a:ea typeface="Arial"/>
                <a:cs typeface="Arial"/>
                <a:sym typeface="Arial"/>
              </a:rPr>
              <a:t>Caching is for providing solutions or the results to the users depending on their requested request, admin needs to recreate the pages often depending on user requests…STOP!!!</a:t>
            </a:r>
            <a:endParaRPr b="1" sz="15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91666"/>
              <a:buFont typeface="Arial"/>
              <a:buNone/>
            </a:pPr>
            <a:r>
              <a:t/>
            </a:r>
            <a:endParaRPr b="1"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91666"/>
              <a:buFont typeface="Arial"/>
              <a:buNone/>
            </a:pPr>
            <a:r>
              <a:rPr b="1" lang="en-IN" sz="1200">
                <a:solidFill>
                  <a:srgbClr val="212121"/>
                </a:solidFill>
                <a:highlight>
                  <a:srgbClr val="FFFFFF"/>
                </a:highlight>
                <a:latin typeface="Arial"/>
                <a:ea typeface="Arial"/>
                <a:cs typeface="Arial"/>
                <a:sym typeface="Arial"/>
              </a:rPr>
              <a:t>The process</a:t>
            </a:r>
            <a:endParaRPr b="1"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73333"/>
              <a:buFont typeface="Arial"/>
              <a:buNone/>
            </a:pPr>
            <a:r>
              <a:t/>
            </a:r>
            <a:endParaRPr b="1" sz="1500">
              <a:solidFill>
                <a:srgbClr val="212121"/>
              </a:solidFill>
              <a:highlight>
                <a:srgbClr val="FFFFFF"/>
              </a:highlight>
              <a:latin typeface="Arial"/>
              <a:ea typeface="Arial"/>
              <a:cs typeface="Arial"/>
              <a:sym typeface="Arial"/>
            </a:endParaRPr>
          </a:p>
          <a:p>
            <a:pPr indent="0" lvl="0" marL="0" rtl="0" algn="l">
              <a:spcBef>
                <a:spcPts val="360"/>
              </a:spcBef>
              <a:spcAft>
                <a:spcPts val="0"/>
              </a:spcAft>
              <a:buNone/>
            </a:pPr>
            <a:r>
              <a:rPr b="1" lang="en-IN" sz="1500">
                <a:solidFill>
                  <a:srgbClr val="212121"/>
                </a:solidFill>
                <a:highlight>
                  <a:srgbClr val="FFFFFF"/>
                </a:highlight>
                <a:latin typeface="Arial"/>
                <a:ea typeface="Arial"/>
                <a:cs typeface="Arial"/>
                <a:sym typeface="Arial"/>
              </a:rPr>
              <a:t>The process is quite bulky and time-consuming. So to overcoming that problem some websites have a page creation engine that automatically creates all the pages in one action and directly saves those pages as a HTML structured page. These HTML pages serve the user depending on their requirements.</a:t>
            </a:r>
            <a:endParaRPr sz="1200">
              <a:solidFill>
                <a:srgbClr val="212121"/>
              </a:solidFill>
              <a:highlight>
                <a:srgbClr val="FFFFFF"/>
              </a:highlight>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1363da3e35d_0_85"/>
          <p:cNvSpPr txBox="1"/>
          <p:nvPr>
            <p:ph type="title"/>
          </p:nvPr>
        </p:nvSpPr>
        <p:spPr>
          <a:xfrm>
            <a:off x="1043490" y="1027664"/>
            <a:ext cx="7024800" cy="1143000"/>
          </a:xfrm>
          <a:prstGeom prst="rect">
            <a:avLst/>
          </a:prstGeom>
        </p:spPr>
        <p:txBody>
          <a:bodyPr anchorCtr="0" anchor="b" bIns="45700" lIns="91425" spcFirstLastPara="1" rIns="91425" wrap="square" tIns="45700">
            <a:normAutofit fontScale="90000"/>
          </a:bodyPr>
          <a:lstStyle/>
          <a:p>
            <a:pPr indent="0" lvl="0" marL="0" rtl="0" algn="ctr">
              <a:lnSpc>
                <a:spcPct val="110000"/>
              </a:lnSpc>
              <a:spcBef>
                <a:spcPts val="0"/>
              </a:spcBef>
              <a:spcAft>
                <a:spcPts val="0"/>
              </a:spcAft>
              <a:buClr>
                <a:schemeClr val="dk1"/>
              </a:buClr>
              <a:buSzPct val="37642"/>
              <a:buFont typeface="Arial"/>
              <a:buNone/>
            </a:pPr>
            <a:r>
              <a:rPr lang="en-IN" sz="2922">
                <a:solidFill>
                  <a:srgbClr val="212121"/>
                </a:solidFill>
                <a:highlight>
                  <a:srgbClr val="FFFFFF"/>
                </a:highlight>
                <a:latin typeface="Roboto"/>
                <a:ea typeface="Roboto"/>
                <a:cs typeface="Roboto"/>
                <a:sym typeface="Roboto"/>
              </a:rPr>
              <a:t>What a Cache does</a:t>
            </a:r>
            <a:endParaRPr sz="2922">
              <a:solidFill>
                <a:srgbClr val="212121"/>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
        <p:nvSpPr>
          <p:cNvPr id="403" name="Google Shape;403;g1363da3e35d_0_85"/>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368300" lvl="0" marL="457200" rtl="0" algn="just">
              <a:spcBef>
                <a:spcPts val="360"/>
              </a:spcBef>
              <a:spcAft>
                <a:spcPts val="0"/>
              </a:spcAft>
              <a:buClr>
                <a:srgbClr val="212121"/>
              </a:buClr>
              <a:buSzPts val="2200"/>
              <a:buFont typeface="Arial"/>
              <a:buChar char="●"/>
            </a:pPr>
            <a:r>
              <a:rPr lang="en-IN" sz="2200">
                <a:solidFill>
                  <a:srgbClr val="212121"/>
                </a:solidFill>
                <a:highlight>
                  <a:srgbClr val="FFFFFF"/>
                </a:highlight>
                <a:latin typeface="Arial"/>
                <a:ea typeface="Arial"/>
                <a:cs typeface="Arial"/>
                <a:sym typeface="Arial"/>
              </a:rPr>
              <a:t>"A cache simply stores the output generated by a page in the memory and this saved output (cache) will serve us (users) in the future." That's it.</a:t>
            </a:r>
            <a:endParaRPr sz="2200">
              <a:solidFill>
                <a:srgbClr val="212121"/>
              </a:solidFill>
              <a:highlight>
                <a:srgbClr val="FFFFFF"/>
              </a:highlight>
              <a:latin typeface="Arial"/>
              <a:ea typeface="Arial"/>
              <a:cs typeface="Arial"/>
              <a:sym typeface="Arial"/>
            </a:endParaRPr>
          </a:p>
          <a:p>
            <a:pPr indent="0" lvl="0" marL="0" rtl="0" algn="just">
              <a:spcBef>
                <a:spcPts val="360"/>
              </a:spcBef>
              <a:spcAft>
                <a:spcPts val="0"/>
              </a:spcAft>
              <a:buNone/>
            </a:pPr>
            <a:r>
              <a:rPr lang="en-IN" sz="2200">
                <a:solidFill>
                  <a:srgbClr val="212121"/>
                </a:solidFill>
                <a:highlight>
                  <a:srgbClr val="FFFFFF"/>
                </a:highlight>
                <a:latin typeface="Arial"/>
                <a:ea typeface="Arial"/>
                <a:cs typeface="Arial"/>
                <a:sym typeface="Arial"/>
              </a:rPr>
              <a:t>Type of cache</a:t>
            </a:r>
            <a:endParaRPr sz="2200">
              <a:solidFill>
                <a:srgbClr val="212121"/>
              </a:solidFill>
              <a:highlight>
                <a:srgbClr val="FFFFFF"/>
              </a:highlight>
              <a:latin typeface="Arial"/>
              <a:ea typeface="Arial"/>
              <a:cs typeface="Arial"/>
              <a:sym typeface="Arial"/>
            </a:endParaRPr>
          </a:p>
          <a:p>
            <a:pPr indent="0" lvl="0" marL="0" rtl="0" algn="just">
              <a:spcBef>
                <a:spcPts val="360"/>
              </a:spcBef>
              <a:spcAft>
                <a:spcPts val="0"/>
              </a:spcAft>
              <a:buNone/>
            </a:pPr>
            <a:r>
              <a:rPr b="1" lang="en-IN" sz="2200">
                <a:solidFill>
                  <a:srgbClr val="212121"/>
                </a:solidFill>
                <a:highlight>
                  <a:srgbClr val="FFFFFF"/>
                </a:highlight>
                <a:latin typeface="Arial"/>
                <a:ea typeface="Arial"/>
                <a:cs typeface="Arial"/>
                <a:sym typeface="Arial"/>
              </a:rPr>
              <a:t>1.page cache</a:t>
            </a:r>
            <a:endParaRPr b="1" sz="2200">
              <a:solidFill>
                <a:srgbClr val="212121"/>
              </a:solidFill>
              <a:highlight>
                <a:srgbClr val="FFFFFF"/>
              </a:highlight>
              <a:latin typeface="Arial"/>
              <a:ea typeface="Arial"/>
              <a:cs typeface="Arial"/>
              <a:sym typeface="Arial"/>
            </a:endParaRPr>
          </a:p>
          <a:p>
            <a:pPr indent="0" lvl="0" marL="0" rtl="0" algn="just">
              <a:spcBef>
                <a:spcPts val="360"/>
              </a:spcBef>
              <a:spcAft>
                <a:spcPts val="0"/>
              </a:spcAft>
              <a:buNone/>
            </a:pPr>
            <a:r>
              <a:rPr b="1" lang="en-IN" sz="2200">
                <a:solidFill>
                  <a:srgbClr val="212121"/>
                </a:solidFill>
                <a:highlight>
                  <a:srgbClr val="FFFFFF"/>
                </a:highlight>
                <a:latin typeface="Arial"/>
                <a:ea typeface="Arial"/>
                <a:cs typeface="Arial"/>
                <a:sym typeface="Arial"/>
              </a:rPr>
              <a:t>2.Fragment cache</a:t>
            </a:r>
            <a:endParaRPr b="1" sz="2200">
              <a:solidFill>
                <a:srgbClr val="212121"/>
              </a:solidFill>
              <a:highlight>
                <a:srgbClr val="FFFFFF"/>
              </a:highlight>
              <a:latin typeface="Arial"/>
              <a:ea typeface="Arial"/>
              <a:cs typeface="Arial"/>
              <a:sym typeface="Arial"/>
            </a:endParaRPr>
          </a:p>
          <a:p>
            <a:pPr indent="0" lvl="0" marL="0" rtl="0" algn="just">
              <a:spcBef>
                <a:spcPts val="360"/>
              </a:spcBef>
              <a:spcAft>
                <a:spcPts val="0"/>
              </a:spcAft>
              <a:buNone/>
            </a:pPr>
            <a:r>
              <a:rPr b="1" lang="en-IN" sz="2200">
                <a:solidFill>
                  <a:srgbClr val="212121"/>
                </a:solidFill>
                <a:highlight>
                  <a:srgbClr val="FFFFFF"/>
                </a:highlight>
                <a:latin typeface="Arial"/>
                <a:ea typeface="Arial"/>
                <a:cs typeface="Arial"/>
                <a:sym typeface="Arial"/>
              </a:rPr>
              <a:t>3.Data Cache</a:t>
            </a:r>
            <a:endParaRPr b="1" sz="2200">
              <a:solidFill>
                <a:srgbClr val="212121"/>
              </a:solidFill>
              <a:highlight>
                <a:srgbClr val="FFFFFF"/>
              </a:highlight>
              <a:latin typeface="Arial"/>
              <a:ea typeface="Arial"/>
              <a:cs typeface="Arial"/>
              <a:sym typeface="Arial"/>
            </a:endParaRPr>
          </a:p>
          <a:p>
            <a:pPr indent="0" lvl="0" marL="0" rtl="0" algn="just">
              <a:spcBef>
                <a:spcPts val="360"/>
              </a:spcBef>
              <a:spcAft>
                <a:spcPts val="0"/>
              </a:spcAft>
              <a:buNone/>
            </a:pPr>
            <a:r>
              <a:t/>
            </a:r>
            <a:endParaRPr b="1" sz="2200">
              <a:solidFill>
                <a:srgbClr val="212121"/>
              </a:solidFill>
              <a:highlight>
                <a:srgbClr val="FFFFFF"/>
              </a:highlight>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1363da3e35d_0_92"/>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IN" sz="1200">
                <a:solidFill>
                  <a:srgbClr val="212121"/>
                </a:solidFill>
                <a:highlight>
                  <a:srgbClr val="FFFFFF"/>
                </a:highlight>
                <a:latin typeface="Arial"/>
                <a:ea typeface="Arial"/>
                <a:cs typeface="Arial"/>
                <a:sym typeface="Arial"/>
              </a:rPr>
              <a:t>Page Caching</a:t>
            </a:r>
            <a:endParaRPr/>
          </a:p>
        </p:txBody>
      </p:sp>
      <p:sp>
        <p:nvSpPr>
          <p:cNvPr id="409" name="Google Shape;409;g1363da3e35d_0_92"/>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IN" sz="1600">
                <a:solidFill>
                  <a:srgbClr val="212121"/>
                </a:solidFill>
                <a:highlight>
                  <a:srgbClr val="FFFFFF"/>
                </a:highlight>
                <a:latin typeface="Arial"/>
                <a:ea typeface="Arial"/>
                <a:cs typeface="Arial"/>
                <a:sym typeface="Arial"/>
              </a:rPr>
              <a:t>Let's explore the caching of an entire page, first.</a:t>
            </a:r>
            <a:endParaRPr sz="1600">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ts val="1100"/>
              <a:buFont typeface="Arial"/>
              <a:buNone/>
            </a:pPr>
            <a:r>
              <a:t/>
            </a:r>
            <a:endParaRPr sz="1500">
              <a:solidFill>
                <a:schemeClr val="dk1"/>
              </a:solidFill>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IN" sz="1600">
                <a:solidFill>
                  <a:srgbClr val="212121"/>
                </a:solidFill>
                <a:highlight>
                  <a:srgbClr val="FFFFFF"/>
                </a:highlight>
                <a:latin typeface="Arial"/>
                <a:ea typeface="Arial"/>
                <a:cs typeface="Arial"/>
                <a:sym typeface="Arial"/>
              </a:rPr>
              <a:t>To cache an entire page's output we need to specify a directive at the top of our page, this directive is the @ OutputCache.</a:t>
            </a:r>
            <a:endParaRPr sz="1600">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IN" sz="1500">
                <a:solidFill>
                  <a:srgbClr val="212121"/>
                </a:solidFill>
                <a:highlight>
                  <a:srgbClr val="FFFFFF"/>
                </a:highlight>
                <a:latin typeface="Arial"/>
                <a:ea typeface="Arial"/>
                <a:cs typeface="Arial"/>
                <a:sym typeface="Arial"/>
              </a:rPr>
              <a:t>Let's figure out a simple demo of it.</a:t>
            </a:r>
            <a:endParaRPr b="1" sz="1500">
              <a:solidFill>
                <a:srgbClr val="212121"/>
              </a:solidFill>
              <a:highlight>
                <a:srgbClr val="FFFFFF"/>
              </a:highlight>
              <a:latin typeface="Arial"/>
              <a:ea typeface="Arial"/>
              <a:cs typeface="Arial"/>
              <a:sym typeface="Arial"/>
            </a:endParaRPr>
          </a:p>
          <a:p>
            <a:pPr indent="-317500" lvl="0" marL="787400" rtl="0" algn="l">
              <a:lnSpc>
                <a:spcPct val="112500"/>
              </a:lnSpc>
              <a:spcBef>
                <a:spcPts val="2200"/>
              </a:spcBef>
              <a:spcAft>
                <a:spcPts val="0"/>
              </a:spcAft>
              <a:buClr>
                <a:srgbClr val="5C5C5C"/>
              </a:buClr>
              <a:buSzPts val="1400"/>
              <a:buFont typeface="Courier New"/>
              <a:buChar char="●"/>
            </a:pPr>
            <a:r>
              <a:rPr b="1" lang="en-IN" sz="1400">
                <a:solidFill>
                  <a:schemeClr val="dk1"/>
                </a:solidFill>
                <a:highlight>
                  <a:srgbClr val="FFFFFF"/>
                </a:highlight>
                <a:latin typeface="Courier New"/>
                <a:ea typeface="Courier New"/>
                <a:cs typeface="Courier New"/>
                <a:sym typeface="Courier New"/>
              </a:rPr>
              <a:t>&lt;%@ OutputCache Duration = 5 VaryByParam = </a:t>
            </a:r>
            <a:r>
              <a:rPr b="1" lang="en-IN" sz="1400">
                <a:solidFill>
                  <a:srgbClr val="0000FF"/>
                </a:solidFill>
                <a:highlight>
                  <a:srgbClr val="FFFFFF"/>
                </a:highlight>
                <a:latin typeface="Courier New"/>
                <a:ea typeface="Courier New"/>
                <a:cs typeface="Courier New"/>
                <a:sym typeface="Courier New"/>
              </a:rPr>
              <a:t>"ID"</a:t>
            </a:r>
            <a:r>
              <a:rPr b="1" lang="en-IN" sz="1400">
                <a:solidFill>
                  <a:schemeClr val="dk1"/>
                </a:solidFill>
                <a:highlight>
                  <a:srgbClr val="FFFFFF"/>
                </a:highlight>
                <a:latin typeface="Courier New"/>
                <a:ea typeface="Courier New"/>
                <a:cs typeface="Courier New"/>
                <a:sym typeface="Courier New"/>
              </a:rPr>
              <a:t> %&gt;  </a:t>
            </a:r>
            <a:endParaRPr b="1" sz="1400">
              <a:solidFill>
                <a:schemeClr val="dk1"/>
              </a:solidFill>
              <a:highlight>
                <a:srgbClr val="FFFFFF"/>
              </a:highlight>
              <a:latin typeface="Courier New"/>
              <a:ea typeface="Courier New"/>
              <a:cs typeface="Courier New"/>
              <a:sym typeface="Courier New"/>
            </a:endParaRPr>
          </a:p>
          <a:p>
            <a:pPr indent="0" lvl="0" marL="0" rtl="0" algn="l">
              <a:spcBef>
                <a:spcPts val="800"/>
              </a:spcBef>
              <a:spcAft>
                <a:spcPts val="0"/>
              </a:spcAft>
              <a:buNone/>
            </a:pPr>
            <a:r>
              <a:rPr b="1" lang="en-IN" sz="1400">
                <a:solidFill>
                  <a:srgbClr val="212121"/>
                </a:solidFill>
                <a:highlight>
                  <a:srgbClr val="FFFFFF"/>
                </a:highlight>
                <a:latin typeface="Arial"/>
                <a:ea typeface="Arial"/>
                <a:cs typeface="Arial"/>
                <a:sym typeface="Arial"/>
              </a:rPr>
              <a:t>Here, in that statement </a:t>
            </a:r>
            <a:r>
              <a:rPr b="1" lang="en-IN" sz="1400">
                <a:solidFill>
                  <a:srgbClr val="0000FF"/>
                </a:solidFill>
                <a:highlight>
                  <a:srgbClr val="FFFFFF"/>
                </a:highlight>
                <a:latin typeface="Arial"/>
                <a:ea typeface="Arial"/>
                <a:cs typeface="Arial"/>
                <a:sym typeface="Arial"/>
              </a:rPr>
              <a:t>Duration</a:t>
            </a:r>
            <a:r>
              <a:rPr b="1" lang="en-IN" sz="1400">
                <a:solidFill>
                  <a:srgbClr val="212121"/>
                </a:solidFill>
                <a:highlight>
                  <a:srgbClr val="FFFFFF"/>
                </a:highlight>
                <a:latin typeface="Arial"/>
                <a:ea typeface="Arial"/>
                <a:cs typeface="Arial"/>
                <a:sym typeface="Arial"/>
              </a:rPr>
              <a:t> and </a:t>
            </a:r>
            <a:r>
              <a:rPr b="1" lang="en-IN" sz="1400">
                <a:solidFill>
                  <a:srgbClr val="0000FF"/>
                </a:solidFill>
                <a:highlight>
                  <a:srgbClr val="FFFFFF"/>
                </a:highlight>
                <a:latin typeface="Arial"/>
                <a:ea typeface="Arial"/>
                <a:cs typeface="Arial"/>
                <a:sym typeface="Arial"/>
              </a:rPr>
              <a:t>VarByParam</a:t>
            </a:r>
            <a:r>
              <a:rPr b="1" lang="en-IN" sz="1400">
                <a:solidFill>
                  <a:srgbClr val="212121"/>
                </a:solidFill>
                <a:highlight>
                  <a:srgbClr val="FFFFFF"/>
                </a:highlight>
                <a:latin typeface="Arial"/>
                <a:ea typeface="Arial"/>
                <a:cs typeface="Arial"/>
                <a:sym typeface="Arial"/>
              </a:rPr>
              <a:t> are the two attributes of the OutputCache directive. Now let's explore how they work</a:t>
            </a:r>
            <a:endParaRPr b="1" sz="1400">
              <a:solidFill>
                <a:srgbClr val="212121"/>
              </a:solidFill>
              <a:highlight>
                <a:srgbClr val="FFFFFF"/>
              </a:highlight>
              <a:latin typeface="Arial"/>
              <a:ea typeface="Arial"/>
              <a:cs typeface="Arial"/>
              <a:sym typeface="Arial"/>
            </a:endParaRPr>
          </a:p>
          <a:p>
            <a:pPr indent="0" lvl="0" marL="0" rtl="0" algn="l">
              <a:spcBef>
                <a:spcPts val="360"/>
              </a:spcBef>
              <a:spcAft>
                <a:spcPts val="0"/>
              </a:spcAft>
              <a:buNone/>
            </a:pPr>
            <a:r>
              <a:rPr b="1" lang="en-IN" sz="1400">
                <a:solidFill>
                  <a:srgbClr val="212121"/>
                </a:solidFill>
                <a:highlight>
                  <a:srgbClr val="FFFFFF"/>
                </a:highlight>
                <a:latin typeface="Arial"/>
                <a:ea typeface="Arial"/>
                <a:cs typeface="Arial"/>
                <a:sym typeface="Arial"/>
              </a:rPr>
              <a:t>. </a:t>
            </a:r>
            <a:endParaRPr b="1" sz="2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1363da3e35d_0_98"/>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IN" sz="2000">
                <a:solidFill>
                  <a:srgbClr val="212121"/>
                </a:solidFill>
                <a:highlight>
                  <a:srgbClr val="FFFFFF"/>
                </a:highlight>
                <a:latin typeface="Arial"/>
                <a:ea typeface="Arial"/>
                <a:cs typeface="Arial"/>
                <a:sym typeface="Arial"/>
              </a:rPr>
              <a:t>Page Caching</a:t>
            </a:r>
            <a:endParaRPr sz="4800"/>
          </a:p>
        </p:txBody>
      </p:sp>
      <p:sp>
        <p:nvSpPr>
          <p:cNvPr id="415" name="Google Shape;415;g1363da3e35d_0_98"/>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lnSpcReduction="10000"/>
          </a:bodyPr>
          <a:lstStyle/>
          <a:p>
            <a:pPr indent="-323850" lvl="0" marL="787400" rtl="0" algn="l">
              <a:lnSpc>
                <a:spcPct val="115000"/>
              </a:lnSpc>
              <a:spcBef>
                <a:spcPts val="1600"/>
              </a:spcBef>
              <a:spcAft>
                <a:spcPts val="0"/>
              </a:spcAft>
              <a:buClr>
                <a:srgbClr val="212121"/>
              </a:buClr>
              <a:buSzPts val="1500"/>
              <a:buFont typeface="Arial"/>
              <a:buChar char="●"/>
            </a:pPr>
            <a:r>
              <a:rPr b="1" lang="en-IN" sz="1500">
                <a:solidFill>
                  <a:srgbClr val="212121"/>
                </a:solidFill>
                <a:highlight>
                  <a:srgbClr val="FFFFFF"/>
                </a:highlight>
                <a:latin typeface="Arial"/>
                <a:ea typeface="Arial"/>
                <a:cs typeface="Arial"/>
                <a:sym typeface="Arial"/>
              </a:rPr>
              <a:t>Duration Attribute</a:t>
            </a:r>
            <a:br>
              <a:rPr b="1" lang="en-IN" sz="1500">
                <a:solidFill>
                  <a:srgbClr val="212121"/>
                </a:solidFill>
                <a:highlight>
                  <a:srgbClr val="FFFFFF"/>
                </a:highlight>
                <a:latin typeface="Arial"/>
                <a:ea typeface="Arial"/>
                <a:cs typeface="Arial"/>
                <a:sym typeface="Arial"/>
              </a:rPr>
            </a:br>
            <a:br>
              <a:rPr b="1" lang="en-IN" sz="1500">
                <a:solidFill>
                  <a:srgbClr val="212121"/>
                </a:solidFill>
                <a:highlight>
                  <a:srgbClr val="FFFFFF"/>
                </a:highlight>
                <a:latin typeface="Arial"/>
                <a:ea typeface="Arial"/>
                <a:cs typeface="Arial"/>
                <a:sym typeface="Arial"/>
              </a:rPr>
            </a:br>
            <a:r>
              <a:rPr lang="en-IN" sz="1500">
                <a:solidFill>
                  <a:srgbClr val="212121"/>
                </a:solidFill>
                <a:highlight>
                  <a:srgbClr val="FFFFFF"/>
                </a:highlight>
                <a:latin typeface="Arial"/>
                <a:ea typeface="Arial"/>
                <a:cs typeface="Arial"/>
                <a:sym typeface="Arial"/>
              </a:rPr>
              <a:t>This attributes represents the time in seconds of how long the output cache should be stored in memory. After the defined duration the content stored in the memory will be cleared automatically.</a:t>
            </a:r>
            <a:br>
              <a:rPr lang="en-IN" sz="1500">
                <a:solidFill>
                  <a:srgbClr val="212121"/>
                </a:solidFill>
                <a:highlight>
                  <a:srgbClr val="FFFFFF"/>
                </a:highlight>
                <a:latin typeface="Arial"/>
                <a:ea typeface="Arial"/>
                <a:cs typeface="Arial"/>
                <a:sym typeface="Arial"/>
              </a:rPr>
            </a:br>
            <a:endParaRPr sz="1500">
              <a:solidFill>
                <a:srgbClr val="212121"/>
              </a:solidFill>
              <a:highlight>
                <a:srgbClr val="FFFFFF"/>
              </a:highlight>
              <a:latin typeface="Arial"/>
              <a:ea typeface="Arial"/>
              <a:cs typeface="Arial"/>
              <a:sym typeface="Arial"/>
            </a:endParaRPr>
          </a:p>
          <a:p>
            <a:pPr indent="-323850" lvl="0" marL="787400" rtl="0" algn="l">
              <a:lnSpc>
                <a:spcPct val="115000"/>
              </a:lnSpc>
              <a:spcBef>
                <a:spcPts val="0"/>
              </a:spcBef>
              <a:spcAft>
                <a:spcPts val="0"/>
              </a:spcAft>
              <a:buClr>
                <a:srgbClr val="212121"/>
              </a:buClr>
              <a:buSzPts val="1500"/>
              <a:buFont typeface="Arial"/>
              <a:buChar char="●"/>
            </a:pPr>
            <a:r>
              <a:rPr b="1" lang="en-IN" sz="1500">
                <a:solidFill>
                  <a:srgbClr val="212121"/>
                </a:solidFill>
                <a:highlight>
                  <a:srgbClr val="FFFFFF"/>
                </a:highlight>
                <a:latin typeface="Arial"/>
                <a:ea typeface="Arial"/>
                <a:cs typeface="Arial"/>
                <a:sym typeface="Arial"/>
              </a:rPr>
              <a:t>VarByParam Attribute</a:t>
            </a:r>
            <a:br>
              <a:rPr b="1" lang="en-IN" sz="1500">
                <a:solidFill>
                  <a:srgbClr val="212121"/>
                </a:solidFill>
                <a:highlight>
                  <a:srgbClr val="FFFFFF"/>
                </a:highlight>
                <a:latin typeface="Arial"/>
                <a:ea typeface="Arial"/>
                <a:cs typeface="Arial"/>
                <a:sym typeface="Arial"/>
              </a:rPr>
            </a:br>
            <a:br>
              <a:rPr b="1" lang="en-IN" sz="1500">
                <a:solidFill>
                  <a:srgbClr val="212121"/>
                </a:solidFill>
                <a:highlight>
                  <a:srgbClr val="FFFFFF"/>
                </a:highlight>
                <a:latin typeface="Arial"/>
                <a:ea typeface="Arial"/>
                <a:cs typeface="Arial"/>
                <a:sym typeface="Arial"/>
              </a:rPr>
            </a:br>
            <a:r>
              <a:rPr lang="en-IN" sz="1500">
                <a:solidFill>
                  <a:srgbClr val="212121"/>
                </a:solidFill>
                <a:highlight>
                  <a:srgbClr val="FFFFFF"/>
                </a:highlight>
                <a:latin typeface="Arial"/>
                <a:ea typeface="Arial"/>
                <a:cs typeface="Arial"/>
                <a:sym typeface="Arial"/>
              </a:rPr>
              <a:t>This is the most important attributes; you can't afford to miss that in the OutputCache directory statement. It generally defines the query string parameters to vary the cache (in memory).</a:t>
            </a:r>
            <a:endParaRPr sz="1500">
              <a:solidFill>
                <a:srgbClr val="212121"/>
              </a:solidFill>
              <a:highlight>
                <a:srgbClr val="FFFFFF"/>
              </a:highlight>
              <a:latin typeface="Arial"/>
              <a:ea typeface="Arial"/>
              <a:cs typeface="Arial"/>
              <a:sym typeface="Arial"/>
            </a:endParaRPr>
          </a:p>
          <a:p>
            <a:pPr indent="0" lvl="0" marL="0" rtl="0" algn="l">
              <a:spcBef>
                <a:spcPts val="16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363da3e35d_0_104"/>
          <p:cNvSpPr txBox="1"/>
          <p:nvPr>
            <p:ph idx="1" type="body"/>
          </p:nvPr>
        </p:nvSpPr>
        <p:spPr>
          <a:xfrm>
            <a:off x="657150" y="1011000"/>
            <a:ext cx="7163700" cy="4821900"/>
          </a:xfrm>
          <a:prstGeom prst="rect">
            <a:avLst/>
          </a:prstGeom>
        </p:spPr>
        <p:txBody>
          <a:bodyPr anchorCtr="0" anchor="t" bIns="45700" lIns="91425" spcFirstLastPara="1" rIns="91425" wrap="square" tIns="45700">
            <a:normAutofit fontScale="77500" lnSpcReduction="20000"/>
          </a:bodyPr>
          <a:lstStyle/>
          <a:p>
            <a:pPr indent="0" lvl="0" marL="0" rtl="0" algn="l">
              <a:lnSpc>
                <a:spcPct val="100000"/>
              </a:lnSpc>
              <a:spcBef>
                <a:spcPts val="1200"/>
              </a:spcBef>
              <a:spcAft>
                <a:spcPts val="0"/>
              </a:spcAft>
              <a:buClr>
                <a:schemeClr val="dk1"/>
              </a:buClr>
              <a:buSzPct val="55104"/>
              <a:buFont typeface="Arial"/>
              <a:buNone/>
            </a:pPr>
            <a:r>
              <a:rPr lang="en-IN" sz="1996">
                <a:solidFill>
                  <a:srgbClr val="212121"/>
                </a:solidFill>
                <a:highlight>
                  <a:srgbClr val="FFFFFF"/>
                </a:highlight>
                <a:latin typeface="Arial"/>
                <a:ea typeface="Arial"/>
                <a:cs typeface="Arial"/>
                <a:sym typeface="Arial"/>
              </a:rPr>
              <a:t>You can also multiple parameter names too, but for that you need to separate them using a semicolon (;).</a:t>
            </a:r>
            <a:endParaRPr sz="1996">
              <a:solidFill>
                <a:srgbClr val="212121"/>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ct val="55104"/>
              <a:buFont typeface="Arial"/>
              <a:buNone/>
            </a:pPr>
            <a:r>
              <a:t/>
            </a:r>
            <a:endParaRPr sz="1996">
              <a:solidFill>
                <a:srgbClr val="212121"/>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ct val="55104"/>
              <a:buFont typeface="Arial"/>
              <a:buNone/>
            </a:pPr>
            <a:r>
              <a:rPr lang="en-IN" sz="1996">
                <a:solidFill>
                  <a:srgbClr val="212121"/>
                </a:solidFill>
                <a:highlight>
                  <a:srgbClr val="FFFFFF"/>
                </a:highlight>
                <a:latin typeface="Arial"/>
                <a:ea typeface="Arial"/>
                <a:cs typeface="Arial"/>
                <a:sym typeface="Arial"/>
              </a:rPr>
              <a:t>You can also specify it as "*". In this case the cached content is varied for all the parameters ed using the querysrting.</a:t>
            </a:r>
            <a:endParaRPr sz="1996">
              <a:solidFill>
                <a:srgbClr val="212121"/>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ct val="55104"/>
              <a:buFont typeface="Arial"/>
              <a:buNone/>
            </a:pPr>
            <a:r>
              <a:t/>
            </a:r>
            <a:endParaRPr sz="1996">
              <a:solidFill>
                <a:srgbClr val="212121"/>
              </a:solidFill>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ct val="55104"/>
              <a:buFont typeface="Arial"/>
              <a:buNone/>
            </a:pPr>
            <a:r>
              <a:rPr lang="en-IN" sz="1996">
                <a:solidFill>
                  <a:srgbClr val="212121"/>
                </a:solidFill>
                <a:highlight>
                  <a:srgbClr val="FFFFFF"/>
                </a:highlight>
                <a:latin typeface="Arial"/>
                <a:ea typeface="Arial"/>
                <a:cs typeface="Arial"/>
                <a:sym typeface="Arial"/>
              </a:rPr>
              <a:t>For example:</a:t>
            </a:r>
            <a:endParaRPr sz="1996">
              <a:solidFill>
                <a:srgbClr val="212121"/>
              </a:solidFill>
              <a:highlight>
                <a:srgbClr val="FFFFFF"/>
              </a:highlight>
              <a:latin typeface="Arial"/>
              <a:ea typeface="Arial"/>
              <a:cs typeface="Arial"/>
              <a:sym typeface="Arial"/>
            </a:endParaRPr>
          </a:p>
          <a:p>
            <a:pPr indent="-326838" lvl="0" marL="787400" rtl="0" algn="l">
              <a:lnSpc>
                <a:spcPct val="100000"/>
              </a:lnSpc>
              <a:spcBef>
                <a:spcPts val="2200"/>
              </a:spcBef>
              <a:spcAft>
                <a:spcPts val="0"/>
              </a:spcAft>
              <a:buClr>
                <a:srgbClr val="5C5C5C"/>
              </a:buClr>
              <a:buSzPct val="100000"/>
              <a:buFont typeface="Courier New"/>
              <a:buChar char="●"/>
            </a:pPr>
            <a:r>
              <a:rPr lang="en-IN" sz="1996">
                <a:solidFill>
                  <a:schemeClr val="dk1"/>
                </a:solidFill>
                <a:highlight>
                  <a:srgbClr val="FFFFFF"/>
                </a:highlight>
                <a:latin typeface="Courier New"/>
                <a:ea typeface="Courier New"/>
                <a:cs typeface="Courier New"/>
                <a:sym typeface="Courier New"/>
              </a:rPr>
              <a:t>&lt;%@ OutputCache Duration = 5 VaryByParam = </a:t>
            </a:r>
            <a:r>
              <a:rPr lang="en-IN" sz="1996">
                <a:solidFill>
                  <a:srgbClr val="0000FF"/>
                </a:solidFill>
                <a:highlight>
                  <a:srgbClr val="FFFFFF"/>
                </a:highlight>
                <a:latin typeface="Courier New"/>
                <a:ea typeface="Courier New"/>
                <a:cs typeface="Courier New"/>
                <a:sym typeface="Courier New"/>
              </a:rPr>
              <a:t>"*"</a:t>
            </a:r>
            <a:r>
              <a:rPr lang="en-IN" sz="1996">
                <a:solidFill>
                  <a:schemeClr val="dk1"/>
                </a:solidFill>
                <a:highlight>
                  <a:srgbClr val="FFFFFF"/>
                </a:highlight>
                <a:latin typeface="Courier New"/>
                <a:ea typeface="Courier New"/>
                <a:cs typeface="Courier New"/>
                <a:sym typeface="Courier New"/>
              </a:rPr>
              <a:t>%&gt;  </a:t>
            </a:r>
            <a:endParaRPr sz="1996">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800"/>
              </a:spcBef>
              <a:spcAft>
                <a:spcPts val="0"/>
              </a:spcAft>
              <a:buClr>
                <a:schemeClr val="dk1"/>
              </a:buClr>
              <a:buSzPct val="55104"/>
              <a:buFont typeface="Arial"/>
              <a:buNone/>
            </a:pPr>
            <a:r>
              <a:rPr lang="en-IN" sz="1996">
                <a:solidFill>
                  <a:srgbClr val="212121"/>
                </a:solidFill>
                <a:highlight>
                  <a:srgbClr val="FFFFFF"/>
                </a:highlight>
                <a:latin typeface="Arial"/>
                <a:ea typeface="Arial"/>
                <a:cs typeface="Arial"/>
                <a:sym typeface="Arial"/>
              </a:rPr>
              <a:t>In case of caching a page, some pages can generate different content for different browsers. In that scenario we need to add an additional attribute to our statement for overcoming the preceding problem.</a:t>
            </a:r>
            <a:endParaRPr sz="1996">
              <a:solidFill>
                <a:srgbClr val="212121"/>
              </a:solidFill>
              <a:highlight>
                <a:srgbClr val="FFFFFF"/>
              </a:highlight>
              <a:latin typeface="Arial"/>
              <a:ea typeface="Arial"/>
              <a:cs typeface="Arial"/>
              <a:sym typeface="Arial"/>
            </a:endParaRPr>
          </a:p>
          <a:p>
            <a:pPr indent="0" lvl="0" marL="0" rtl="0" algn="l">
              <a:lnSpc>
                <a:spcPct val="100000"/>
              </a:lnSpc>
              <a:spcBef>
                <a:spcPts val="360"/>
              </a:spcBef>
              <a:spcAft>
                <a:spcPts val="0"/>
              </a:spcAft>
              <a:buClr>
                <a:schemeClr val="dk1"/>
              </a:buClr>
              <a:buSzPct val="58010"/>
              <a:buFont typeface="Arial"/>
              <a:buNone/>
            </a:pPr>
            <a:r>
              <a:t/>
            </a:r>
            <a:endParaRPr sz="1896">
              <a:solidFill>
                <a:schemeClr val="dk1"/>
              </a:solidFill>
              <a:latin typeface="Arial"/>
              <a:ea typeface="Arial"/>
              <a:cs typeface="Arial"/>
              <a:sym typeface="Arial"/>
            </a:endParaRPr>
          </a:p>
          <a:p>
            <a:pPr indent="0" lvl="0" marL="0" rtl="0" algn="l">
              <a:lnSpc>
                <a:spcPct val="100000"/>
              </a:lnSpc>
              <a:spcBef>
                <a:spcPts val="360"/>
              </a:spcBef>
              <a:spcAft>
                <a:spcPts val="0"/>
              </a:spcAft>
              <a:buClr>
                <a:schemeClr val="dk1"/>
              </a:buClr>
              <a:buSzPct val="55104"/>
              <a:buFont typeface="Arial"/>
              <a:buNone/>
            </a:pPr>
            <a:r>
              <a:rPr lang="en-IN" sz="1996">
                <a:solidFill>
                  <a:srgbClr val="212121"/>
                </a:solidFill>
                <a:highlight>
                  <a:srgbClr val="FFFFFF"/>
                </a:highlight>
                <a:latin typeface="Arial"/>
                <a:ea typeface="Arial"/>
                <a:cs typeface="Arial"/>
                <a:sym typeface="Arial"/>
              </a:rPr>
              <a:t>For example:</a:t>
            </a:r>
            <a:endParaRPr sz="1996">
              <a:solidFill>
                <a:srgbClr val="212121"/>
              </a:solidFill>
              <a:highlight>
                <a:srgbClr val="FFFFFF"/>
              </a:highlight>
              <a:latin typeface="Arial"/>
              <a:ea typeface="Arial"/>
              <a:cs typeface="Arial"/>
              <a:sym typeface="Arial"/>
            </a:endParaRPr>
          </a:p>
          <a:p>
            <a:pPr indent="-326838" lvl="0" marL="787400" rtl="0" algn="l">
              <a:lnSpc>
                <a:spcPct val="100000"/>
              </a:lnSpc>
              <a:spcBef>
                <a:spcPts val="2200"/>
              </a:spcBef>
              <a:spcAft>
                <a:spcPts val="0"/>
              </a:spcAft>
              <a:buClr>
                <a:srgbClr val="5C5C5C"/>
              </a:buClr>
              <a:buSzPct val="100000"/>
              <a:buFont typeface="Courier New"/>
              <a:buChar char="●"/>
            </a:pPr>
            <a:r>
              <a:rPr lang="en-IN" sz="1996">
                <a:solidFill>
                  <a:schemeClr val="dk1"/>
                </a:solidFill>
                <a:highlight>
                  <a:srgbClr val="FFFFFF"/>
                </a:highlight>
                <a:latin typeface="Courier New"/>
                <a:ea typeface="Courier New"/>
                <a:cs typeface="Courier New"/>
                <a:sym typeface="Courier New"/>
              </a:rPr>
              <a:t>&lt;%@ OutputCache Duration = 5 VaryByParam = </a:t>
            </a:r>
            <a:r>
              <a:rPr lang="en-IN" sz="1996">
                <a:solidFill>
                  <a:srgbClr val="0000FF"/>
                </a:solidFill>
                <a:highlight>
                  <a:srgbClr val="FFFFFF"/>
                </a:highlight>
                <a:latin typeface="Courier New"/>
                <a:ea typeface="Courier New"/>
                <a:cs typeface="Courier New"/>
                <a:sym typeface="Courier New"/>
              </a:rPr>
              <a:t>"ID"</a:t>
            </a:r>
            <a:r>
              <a:rPr lang="en-IN" sz="1996">
                <a:solidFill>
                  <a:schemeClr val="dk1"/>
                </a:solidFill>
                <a:highlight>
                  <a:srgbClr val="FFFFFF"/>
                </a:highlight>
                <a:latin typeface="Courier New"/>
                <a:ea typeface="Courier New"/>
                <a:cs typeface="Courier New"/>
                <a:sym typeface="Courier New"/>
              </a:rPr>
              <a:t> VaryByCustom = </a:t>
            </a:r>
            <a:r>
              <a:rPr lang="en-IN" sz="1996">
                <a:solidFill>
                  <a:srgbClr val="0000FF"/>
                </a:solidFill>
                <a:highlight>
                  <a:srgbClr val="FFFFFF"/>
                </a:highlight>
                <a:latin typeface="Courier New"/>
                <a:ea typeface="Courier New"/>
                <a:cs typeface="Courier New"/>
                <a:sym typeface="Courier New"/>
              </a:rPr>
              <a:t>"Browser"</a:t>
            </a:r>
            <a:r>
              <a:rPr lang="en-IN" sz="1996">
                <a:solidFill>
                  <a:schemeClr val="dk1"/>
                </a:solidFill>
                <a:highlight>
                  <a:srgbClr val="FFFFFF"/>
                </a:highlight>
                <a:latin typeface="Courier New"/>
                <a:ea typeface="Courier New"/>
                <a:cs typeface="Courier New"/>
                <a:sym typeface="Courier New"/>
              </a:rPr>
              <a:t> %&gt;  </a:t>
            </a:r>
            <a:endParaRPr sz="1996">
              <a:solidFill>
                <a:schemeClr val="dk1"/>
              </a:solidFill>
              <a:highlight>
                <a:srgbClr val="FFFFFF"/>
              </a:highlight>
              <a:latin typeface="Courier New"/>
              <a:ea typeface="Courier New"/>
              <a:cs typeface="Courier New"/>
              <a:sym typeface="Courier New"/>
            </a:endParaRPr>
          </a:p>
          <a:p>
            <a:pPr indent="0" lvl="0" marL="0" rtl="0" algn="l">
              <a:spcBef>
                <a:spcPts val="8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1363da3e35d_0_11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426" name="Google Shape;426;g1363da3e35d_0_110"/>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Clr>
                <a:schemeClr val="dk1"/>
              </a:buClr>
              <a:buSzPts val="1100"/>
              <a:buFont typeface="Arial"/>
              <a:buNone/>
            </a:pPr>
            <a:r>
              <a:rPr b="1" lang="en-IN" sz="1200">
                <a:solidFill>
                  <a:srgbClr val="212121"/>
                </a:solidFill>
                <a:highlight>
                  <a:srgbClr val="FFFFFF"/>
                </a:highlight>
                <a:latin typeface="Arial"/>
                <a:ea typeface="Arial"/>
                <a:cs typeface="Arial"/>
                <a:sym typeface="Arial"/>
              </a:rPr>
              <a:t>Fragment caching</a:t>
            </a:r>
            <a:endParaRPr b="1"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In some scenarios we only need to cache only a segment of a page. For example a contact us page in a main page will be the same for all the users and for that there is no need to cache the entire page.</a:t>
            </a:r>
            <a:endParaRPr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 </a:t>
            </a:r>
            <a:endParaRPr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So for that we prefer to use fragment caching option.</a:t>
            </a:r>
            <a:endParaRPr sz="1200">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For example:</a:t>
            </a:r>
            <a:endParaRPr sz="1200">
              <a:solidFill>
                <a:srgbClr val="212121"/>
              </a:solidFill>
              <a:highlight>
                <a:srgbClr val="FFFFFF"/>
              </a:highlight>
              <a:latin typeface="Arial"/>
              <a:ea typeface="Arial"/>
              <a:cs typeface="Arial"/>
              <a:sym typeface="Arial"/>
            </a:endParaRPr>
          </a:p>
          <a:p>
            <a:pPr indent="-304800" lvl="0" marL="787400" rtl="0" algn="l">
              <a:lnSpc>
                <a:spcPct val="112500"/>
              </a:lnSpc>
              <a:spcBef>
                <a:spcPts val="2200"/>
              </a:spcBef>
              <a:spcAft>
                <a:spcPts val="0"/>
              </a:spcAft>
              <a:buClr>
                <a:srgbClr val="5C5C5C"/>
              </a:buClr>
              <a:buSzPts val="1200"/>
              <a:buFont typeface="Courier New"/>
              <a:buChar char="●"/>
            </a:pPr>
            <a:r>
              <a:rPr lang="en-IN" sz="1200">
                <a:solidFill>
                  <a:schemeClr val="dk1"/>
                </a:solidFill>
                <a:highlight>
                  <a:srgbClr val="FFFFFF"/>
                </a:highlight>
                <a:latin typeface="Courier New"/>
                <a:ea typeface="Courier New"/>
                <a:cs typeface="Courier New"/>
                <a:sym typeface="Courier New"/>
              </a:rPr>
              <a:t>&lt;%@ OutputCache Duration = 10 VaryByParam = </a:t>
            </a:r>
            <a:r>
              <a:rPr lang="en-IN" sz="1200">
                <a:solidFill>
                  <a:srgbClr val="0000FF"/>
                </a:solidFill>
                <a:highlight>
                  <a:srgbClr val="FFFFFF"/>
                </a:highlight>
                <a:latin typeface="Courier New"/>
                <a:ea typeface="Courier New"/>
                <a:cs typeface="Courier New"/>
                <a:sym typeface="Courier New"/>
              </a:rPr>
              <a:t>"None"</a:t>
            </a:r>
            <a:r>
              <a:rPr lang="en-IN" sz="1200">
                <a:solidFill>
                  <a:schemeClr val="dk1"/>
                </a:solidFill>
                <a:highlight>
                  <a:srgbClr val="FFFFFF"/>
                </a:highlight>
                <a:latin typeface="Courier New"/>
                <a:ea typeface="Courier New"/>
                <a:cs typeface="Courier New"/>
                <a:sym typeface="Courier New"/>
              </a:rPr>
              <a:t> %&gt;  </a:t>
            </a:r>
            <a:endParaRPr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80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Or:</a:t>
            </a:r>
            <a:endParaRPr sz="1200">
              <a:solidFill>
                <a:srgbClr val="212121"/>
              </a:solidFill>
              <a:highlight>
                <a:srgbClr val="FFFFFF"/>
              </a:highlight>
              <a:latin typeface="Arial"/>
              <a:ea typeface="Arial"/>
              <a:cs typeface="Arial"/>
              <a:sym typeface="Arial"/>
            </a:endParaRPr>
          </a:p>
          <a:p>
            <a:pPr indent="-304800" lvl="0" marL="787400" rtl="0" algn="l">
              <a:lnSpc>
                <a:spcPct val="112500"/>
              </a:lnSpc>
              <a:spcBef>
                <a:spcPts val="2200"/>
              </a:spcBef>
              <a:spcAft>
                <a:spcPts val="0"/>
              </a:spcAft>
              <a:buClr>
                <a:srgbClr val="5C5C5C"/>
              </a:buClr>
              <a:buSzPts val="1200"/>
              <a:buFont typeface="Courier New"/>
              <a:buChar char="●"/>
            </a:pPr>
            <a:r>
              <a:rPr lang="en-IN" sz="1200">
                <a:solidFill>
                  <a:schemeClr val="dk1"/>
                </a:solidFill>
                <a:highlight>
                  <a:srgbClr val="FFFFFF"/>
                </a:highlight>
                <a:latin typeface="Courier New"/>
                <a:ea typeface="Courier New"/>
                <a:cs typeface="Courier New"/>
                <a:sym typeface="Courier New"/>
              </a:rPr>
              <a:t>&lt;%@ OutputCache Duration = 5 VaryByParam = </a:t>
            </a:r>
            <a:r>
              <a:rPr lang="en-IN" sz="1200">
                <a:solidFill>
                  <a:srgbClr val="0000FF"/>
                </a:solidFill>
                <a:highlight>
                  <a:srgbClr val="FFFFFF"/>
                </a:highlight>
                <a:latin typeface="Courier New"/>
                <a:ea typeface="Courier New"/>
                <a:cs typeface="Courier New"/>
                <a:sym typeface="Courier New"/>
              </a:rPr>
              <a:t>"None"</a:t>
            </a:r>
            <a:r>
              <a:rPr lang="en-IN" sz="1200">
                <a:solidFill>
                  <a:schemeClr val="dk1"/>
                </a:solidFill>
                <a:highlight>
                  <a:srgbClr val="FFFFFF"/>
                </a:highlight>
                <a:latin typeface="Courier New"/>
                <a:ea typeface="Courier New"/>
                <a:cs typeface="Courier New"/>
                <a:sym typeface="Courier New"/>
              </a:rPr>
              <a:t> VaryByCustom = </a:t>
            </a:r>
            <a:r>
              <a:rPr lang="en-IN" sz="1200">
                <a:solidFill>
                  <a:srgbClr val="0000FF"/>
                </a:solidFill>
                <a:highlight>
                  <a:srgbClr val="FFFFFF"/>
                </a:highlight>
                <a:latin typeface="Courier New"/>
                <a:ea typeface="Courier New"/>
                <a:cs typeface="Courier New"/>
                <a:sym typeface="Courier New"/>
              </a:rPr>
              <a:t>"Browser"</a:t>
            </a:r>
            <a:r>
              <a:rPr lang="en-IN" sz="1200">
                <a:solidFill>
                  <a:schemeClr val="dk1"/>
                </a:solidFill>
                <a:highlight>
                  <a:srgbClr val="FFFFFF"/>
                </a:highlight>
                <a:latin typeface="Courier New"/>
                <a:ea typeface="Courier New"/>
                <a:cs typeface="Courier New"/>
                <a:sym typeface="Courier New"/>
              </a:rPr>
              <a:t> %&gt;  </a:t>
            </a:r>
            <a:endParaRPr sz="1200">
              <a:solidFill>
                <a:schemeClr val="dk1"/>
              </a:solidFill>
              <a:highlight>
                <a:srgbClr val="FFFFFF"/>
              </a:highlight>
              <a:latin typeface="Courier New"/>
              <a:ea typeface="Courier New"/>
              <a:cs typeface="Courier New"/>
              <a:sym typeface="Courier New"/>
            </a:endParaRPr>
          </a:p>
          <a:p>
            <a:pPr indent="0" lvl="0" marL="0" rtl="0" algn="l">
              <a:spcBef>
                <a:spcPts val="8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1363da3e35d_0_116"/>
          <p:cNvSpPr txBox="1"/>
          <p:nvPr>
            <p:ph idx="1" type="body"/>
          </p:nvPr>
        </p:nvSpPr>
        <p:spPr>
          <a:xfrm>
            <a:off x="690850" y="1179500"/>
            <a:ext cx="7130100" cy="46533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chemeClr val="dk1"/>
              </a:buClr>
              <a:buSzPct val="66473"/>
              <a:buFont typeface="Arial"/>
              <a:buNone/>
            </a:pPr>
            <a:r>
              <a:rPr b="1" lang="en-IN" sz="1654">
                <a:solidFill>
                  <a:srgbClr val="212121"/>
                </a:solidFill>
                <a:highlight>
                  <a:srgbClr val="FFFFFF"/>
                </a:highlight>
                <a:latin typeface="Arial"/>
                <a:ea typeface="Arial"/>
                <a:cs typeface="Arial"/>
                <a:sym typeface="Arial"/>
              </a:rPr>
              <a:t>Data Caching</a:t>
            </a:r>
            <a:endParaRPr b="1" sz="1654">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ct val="70749"/>
              <a:buFont typeface="Arial"/>
              <a:buNone/>
            </a:pPr>
            <a:r>
              <a:t/>
            </a:r>
            <a:endParaRPr sz="1554">
              <a:solidFill>
                <a:schemeClr val="dk1"/>
              </a:solidFill>
              <a:latin typeface="Arial"/>
              <a:ea typeface="Arial"/>
              <a:cs typeface="Arial"/>
              <a:sym typeface="Arial"/>
            </a:endParaRPr>
          </a:p>
          <a:p>
            <a:pPr indent="0" lvl="0" marL="0" rtl="0" algn="l">
              <a:spcBef>
                <a:spcPts val="36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Data caching is slightly different from the 2 other caching types. It's much more interesting to see how data caching actually works.</a:t>
            </a:r>
            <a:endParaRPr sz="1654">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70749"/>
              <a:buFont typeface="Arial"/>
              <a:buNone/>
            </a:pPr>
            <a:r>
              <a:t/>
            </a:r>
            <a:endParaRPr sz="1554">
              <a:solidFill>
                <a:schemeClr val="dk1"/>
              </a:solidFill>
              <a:latin typeface="Arial"/>
              <a:ea typeface="Arial"/>
              <a:cs typeface="Arial"/>
              <a:sym typeface="Arial"/>
            </a:endParaRPr>
          </a:p>
          <a:p>
            <a:pPr indent="0" lvl="0" marL="0" rtl="0" algn="l">
              <a:spcBef>
                <a:spcPts val="36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As we know in C# everything is about classes and objects. So ASP.NET supports data caching by treating them as small sets of objects. We can store objects in memory very easily and use them depending on our functionality and needs, anywhere across the page.</a:t>
            </a:r>
            <a:endParaRPr sz="1654">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70749"/>
              <a:buFont typeface="Arial"/>
              <a:buNone/>
            </a:pPr>
            <a:r>
              <a:t/>
            </a:r>
            <a:endParaRPr sz="1554">
              <a:solidFill>
                <a:schemeClr val="dk1"/>
              </a:solidFill>
              <a:latin typeface="Arial"/>
              <a:ea typeface="Arial"/>
              <a:cs typeface="Arial"/>
              <a:sym typeface="Arial"/>
            </a:endParaRPr>
          </a:p>
          <a:p>
            <a:pPr indent="0" lvl="0" marL="0" rtl="0" algn="l">
              <a:spcBef>
                <a:spcPts val="36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Now you must be thinking </a:t>
            </a:r>
            <a:r>
              <a:rPr b="1" lang="en-IN" sz="1654">
                <a:solidFill>
                  <a:srgbClr val="212121"/>
                </a:solidFill>
                <a:highlight>
                  <a:srgbClr val="FFFFFF"/>
                </a:highlight>
                <a:latin typeface="Arial"/>
                <a:ea typeface="Arial"/>
                <a:cs typeface="Arial"/>
                <a:sym typeface="Arial"/>
              </a:rPr>
              <a:t>where is the class in that entire scenario</a:t>
            </a:r>
            <a:r>
              <a:rPr lang="en-IN" sz="1654">
                <a:solidFill>
                  <a:srgbClr val="212121"/>
                </a:solidFill>
                <a:highlight>
                  <a:srgbClr val="FFFFFF"/>
                </a:highlight>
                <a:latin typeface="Arial"/>
                <a:ea typeface="Arial"/>
                <a:cs typeface="Arial"/>
                <a:sym typeface="Arial"/>
              </a:rPr>
              <a:t>?</a:t>
            </a:r>
            <a:endParaRPr sz="1654">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70749"/>
              <a:buFont typeface="Arial"/>
              <a:buNone/>
            </a:pPr>
            <a:r>
              <a:t/>
            </a:r>
            <a:endParaRPr sz="1554">
              <a:solidFill>
                <a:schemeClr val="dk1"/>
              </a:solidFill>
              <a:latin typeface="Arial"/>
              <a:ea typeface="Arial"/>
              <a:cs typeface="Arial"/>
              <a:sym typeface="Arial"/>
            </a:endParaRPr>
          </a:p>
          <a:p>
            <a:pPr indent="0" lvl="0" marL="0" rtl="0" algn="l">
              <a:spcBef>
                <a:spcPts val="36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Actually, this feature is implemented using the Cache class and data is treated as its object. Let's see how it works using a demo.</a:t>
            </a:r>
            <a:endParaRPr sz="1654">
              <a:solidFill>
                <a:srgbClr val="212121"/>
              </a:solidFill>
              <a:highlight>
                <a:srgbClr val="FFFFFF"/>
              </a:highlight>
              <a:latin typeface="Arial"/>
              <a:ea typeface="Arial"/>
              <a:cs typeface="Arial"/>
              <a:sym typeface="Arial"/>
            </a:endParaRPr>
          </a:p>
          <a:p>
            <a:pPr indent="0" lvl="0" marL="0" rtl="0" algn="l">
              <a:spcBef>
                <a:spcPts val="360"/>
              </a:spcBef>
              <a:spcAft>
                <a:spcPts val="0"/>
              </a:spcAft>
              <a:buClr>
                <a:schemeClr val="dk1"/>
              </a:buClr>
              <a:buSzPct val="70749"/>
              <a:buFont typeface="Arial"/>
              <a:buNone/>
            </a:pPr>
            <a:r>
              <a:t/>
            </a:r>
            <a:endParaRPr sz="1554">
              <a:solidFill>
                <a:schemeClr val="dk1"/>
              </a:solidFill>
              <a:latin typeface="Arial"/>
              <a:ea typeface="Arial"/>
              <a:cs typeface="Arial"/>
              <a:sym typeface="Arial"/>
            </a:endParaRPr>
          </a:p>
          <a:p>
            <a:pPr indent="0" lvl="0" marL="0" rtl="0" algn="l">
              <a:spcBef>
                <a:spcPts val="36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I am inserting a string value in the cache as:</a:t>
            </a:r>
            <a:endParaRPr sz="1654">
              <a:solidFill>
                <a:srgbClr val="212121"/>
              </a:solidFill>
              <a:highlight>
                <a:srgbClr val="FFFFFF"/>
              </a:highlight>
              <a:latin typeface="Arial"/>
              <a:ea typeface="Arial"/>
              <a:cs typeface="Arial"/>
              <a:sym typeface="Arial"/>
            </a:endParaRPr>
          </a:p>
          <a:p>
            <a:pPr indent="-302155" lvl="0" marL="787400" rtl="0" algn="l">
              <a:lnSpc>
                <a:spcPct val="112500"/>
              </a:lnSpc>
              <a:spcBef>
                <a:spcPts val="2200"/>
              </a:spcBef>
              <a:spcAft>
                <a:spcPts val="0"/>
              </a:spcAft>
              <a:buClr>
                <a:srgbClr val="5C5C5C"/>
              </a:buClr>
              <a:buSzPct val="100000"/>
              <a:buFont typeface="Courier New"/>
              <a:buChar char="●"/>
            </a:pPr>
            <a:r>
              <a:rPr lang="en-IN" sz="1654">
                <a:solidFill>
                  <a:schemeClr val="dk1"/>
                </a:solidFill>
                <a:highlight>
                  <a:srgbClr val="FFFFFF"/>
                </a:highlight>
                <a:latin typeface="Courier New"/>
                <a:ea typeface="Courier New"/>
                <a:cs typeface="Courier New"/>
                <a:sym typeface="Courier New"/>
              </a:rPr>
              <a:t>Cache[</a:t>
            </a:r>
            <a:r>
              <a:rPr lang="en-IN" sz="1654">
                <a:solidFill>
                  <a:srgbClr val="0000FF"/>
                </a:solidFill>
                <a:highlight>
                  <a:srgbClr val="FFFFFF"/>
                </a:highlight>
                <a:latin typeface="Courier New"/>
                <a:ea typeface="Courier New"/>
                <a:cs typeface="Courier New"/>
                <a:sym typeface="Courier New"/>
              </a:rPr>
              <a:t>"Website"</a:t>
            </a:r>
            <a:r>
              <a:rPr lang="en-IN" sz="1654">
                <a:solidFill>
                  <a:schemeClr val="dk1"/>
                </a:solidFill>
                <a:highlight>
                  <a:srgbClr val="FFFFFF"/>
                </a:highlight>
                <a:latin typeface="Courier New"/>
                <a:ea typeface="Courier New"/>
                <a:cs typeface="Courier New"/>
                <a:sym typeface="Courier New"/>
              </a:rPr>
              <a:t>] = </a:t>
            </a:r>
            <a:r>
              <a:rPr lang="en-IN" sz="1654">
                <a:solidFill>
                  <a:srgbClr val="0000FF"/>
                </a:solidFill>
                <a:highlight>
                  <a:srgbClr val="FFFFFF"/>
                </a:highlight>
                <a:latin typeface="Courier New"/>
                <a:ea typeface="Courier New"/>
                <a:cs typeface="Courier New"/>
                <a:sym typeface="Courier New"/>
              </a:rPr>
              <a:t>"CSharpCorner"</a:t>
            </a:r>
            <a:r>
              <a:rPr lang="en-IN" sz="1654">
                <a:solidFill>
                  <a:schemeClr val="dk1"/>
                </a:solidFill>
                <a:highlight>
                  <a:srgbClr val="FFFFFF"/>
                </a:highlight>
                <a:latin typeface="Courier New"/>
                <a:ea typeface="Courier New"/>
                <a:cs typeface="Courier New"/>
                <a:sym typeface="Courier New"/>
              </a:rPr>
              <a:t>;  </a:t>
            </a:r>
            <a:endParaRPr sz="1654">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800"/>
              </a:spcBef>
              <a:spcAft>
                <a:spcPts val="0"/>
              </a:spcAft>
              <a:buClr>
                <a:schemeClr val="dk1"/>
              </a:buClr>
              <a:buSzPct val="66473"/>
              <a:buFont typeface="Arial"/>
              <a:buNone/>
            </a:pPr>
            <a:r>
              <a:rPr lang="en-IN" sz="1654">
                <a:solidFill>
                  <a:srgbClr val="212121"/>
                </a:solidFill>
                <a:highlight>
                  <a:srgbClr val="FFFFFF"/>
                </a:highlight>
                <a:latin typeface="Arial"/>
                <a:ea typeface="Arial"/>
                <a:cs typeface="Arial"/>
                <a:sym typeface="Arial"/>
              </a:rPr>
              <a:t>Now, for inserting the cache into the objects, the insert method of the Cache class can be used. This insert method is used as follows:</a:t>
            </a:r>
            <a:endParaRPr sz="1654">
              <a:solidFill>
                <a:srgbClr val="212121"/>
              </a:solidFill>
              <a:highlight>
                <a:srgbClr val="FFFFFF"/>
              </a:highlight>
              <a:latin typeface="Arial"/>
              <a:ea typeface="Arial"/>
              <a:cs typeface="Arial"/>
              <a:sym typeface="Arial"/>
            </a:endParaRPr>
          </a:p>
          <a:p>
            <a:pPr indent="-302155" lvl="0" marL="787400" rtl="0" algn="l">
              <a:lnSpc>
                <a:spcPct val="112500"/>
              </a:lnSpc>
              <a:spcBef>
                <a:spcPts val="2200"/>
              </a:spcBef>
              <a:spcAft>
                <a:spcPts val="0"/>
              </a:spcAft>
              <a:buClr>
                <a:srgbClr val="5C5C5C"/>
              </a:buClr>
              <a:buSzPct val="100000"/>
              <a:buFont typeface="Courier New"/>
              <a:buChar char="●"/>
            </a:pPr>
            <a:r>
              <a:rPr lang="en-IN" sz="1654">
                <a:solidFill>
                  <a:schemeClr val="dk1"/>
                </a:solidFill>
                <a:highlight>
                  <a:srgbClr val="FFFFFF"/>
                </a:highlight>
                <a:latin typeface="Courier New"/>
                <a:ea typeface="Courier New"/>
                <a:cs typeface="Courier New"/>
                <a:sym typeface="Courier New"/>
              </a:rPr>
              <a:t>Cache.Insert(</a:t>
            </a:r>
            <a:r>
              <a:rPr lang="en-IN" sz="1654">
                <a:solidFill>
                  <a:srgbClr val="0000FF"/>
                </a:solidFill>
                <a:highlight>
                  <a:srgbClr val="FFFFFF"/>
                </a:highlight>
                <a:latin typeface="Courier New"/>
                <a:ea typeface="Courier New"/>
                <a:cs typeface="Courier New"/>
                <a:sym typeface="Courier New"/>
              </a:rPr>
              <a:t>"Website"</a:t>
            </a:r>
            <a:r>
              <a:rPr lang="en-IN" sz="1654">
                <a:solidFill>
                  <a:schemeClr val="dk1"/>
                </a:solidFill>
                <a:highlight>
                  <a:srgbClr val="FFFFFF"/>
                </a:highlight>
                <a:latin typeface="Courier New"/>
                <a:ea typeface="Courier New"/>
                <a:cs typeface="Courier New"/>
                <a:sym typeface="Courier New"/>
              </a:rPr>
              <a:t>, strName,  </a:t>
            </a:r>
            <a:endParaRPr sz="1654">
              <a:solidFill>
                <a:schemeClr val="dk1"/>
              </a:solidFill>
              <a:highlight>
                <a:srgbClr val="FFFFFF"/>
              </a:highlight>
              <a:latin typeface="Courier New"/>
              <a:ea typeface="Courier New"/>
              <a:cs typeface="Courier New"/>
              <a:sym typeface="Courier New"/>
            </a:endParaRPr>
          </a:p>
          <a:p>
            <a:pPr indent="-281940" lvl="0" marL="787400" rtl="0" algn="l">
              <a:lnSpc>
                <a:spcPct val="112500"/>
              </a:lnSpc>
              <a:spcBef>
                <a:spcPts val="0"/>
              </a:spcBef>
              <a:spcAft>
                <a:spcPts val="0"/>
              </a:spcAft>
              <a:buClr>
                <a:srgbClr val="5C5C5C"/>
              </a:buClr>
              <a:buSzPct val="72516"/>
              <a:buFont typeface="Courier New"/>
              <a:buChar char="●"/>
            </a:pPr>
            <a:r>
              <a:rPr b="1" lang="en-IN" sz="1654">
                <a:solidFill>
                  <a:srgbClr val="006699"/>
                </a:solidFill>
                <a:highlight>
                  <a:srgbClr val="F8F8F8"/>
                </a:highlight>
                <a:latin typeface="Courier New"/>
                <a:ea typeface="Courier New"/>
                <a:cs typeface="Courier New"/>
                <a:sym typeface="Courier New"/>
              </a:rPr>
              <a:t>new</a:t>
            </a:r>
            <a:r>
              <a:rPr lang="en-IN" sz="1654">
                <a:solidFill>
                  <a:schemeClr val="dk1"/>
                </a:solidFill>
                <a:highlight>
                  <a:srgbClr val="F8F8F8"/>
                </a:highlight>
                <a:latin typeface="Courier New"/>
                <a:ea typeface="Courier New"/>
                <a:cs typeface="Courier New"/>
                <a:sym typeface="Courier New"/>
              </a:rPr>
              <a:t> CacheDependency(Sever.MapPath(</a:t>
            </a:r>
            <a:r>
              <a:rPr lang="en-IN" sz="1654">
                <a:solidFill>
                  <a:srgbClr val="0000FF"/>
                </a:solidFill>
                <a:highlight>
                  <a:srgbClr val="F8F8F8"/>
                </a:highlight>
                <a:latin typeface="Courier New"/>
                <a:ea typeface="Courier New"/>
                <a:cs typeface="Courier New"/>
                <a:sym typeface="Courier New"/>
              </a:rPr>
              <a:t>"Website.txt"</a:t>
            </a:r>
            <a:r>
              <a:rPr lang="en-IN" sz="1654">
                <a:solidFill>
                  <a:schemeClr val="dk1"/>
                </a:solidFill>
                <a:highlight>
                  <a:srgbClr val="F8F8F8"/>
                </a:highlight>
                <a:latin typeface="Courier New"/>
                <a:ea typeface="Courier New"/>
                <a:cs typeface="Courier New"/>
                <a:sym typeface="Courier New"/>
              </a:rPr>
              <a:t>));</a:t>
            </a:r>
            <a:r>
              <a:rPr lang="en-IN" sz="1200">
                <a:solidFill>
                  <a:schemeClr val="dk1"/>
                </a:solidFill>
                <a:highlight>
                  <a:srgbClr val="F8F8F8"/>
                </a:highlight>
                <a:latin typeface="Courier New"/>
                <a:ea typeface="Courier New"/>
                <a:cs typeface="Courier New"/>
                <a:sym typeface="Courier New"/>
              </a:rPr>
              <a:t>  </a:t>
            </a:r>
            <a:endParaRPr sz="1200">
              <a:solidFill>
                <a:schemeClr val="dk1"/>
              </a:solidFill>
              <a:highlight>
                <a:srgbClr val="F8F8F8"/>
              </a:highlight>
              <a:latin typeface="Courier New"/>
              <a:ea typeface="Courier New"/>
              <a:cs typeface="Courier New"/>
              <a:sym typeface="Courier New"/>
            </a:endParaRPr>
          </a:p>
          <a:p>
            <a:pPr indent="0" lvl="0" marL="0" rtl="0" algn="l">
              <a:spcBef>
                <a:spcPts val="8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1363da3e35d_0_122"/>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437" name="Google Shape;437;g1363da3e35d_0_122"/>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t/>
            </a:r>
            <a:endParaRPr b="1" sz="1200">
              <a:solidFill>
                <a:srgbClr val="212121"/>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IN" sz="1200">
                <a:solidFill>
                  <a:srgbClr val="212121"/>
                </a:solidFill>
                <a:highlight>
                  <a:srgbClr val="FFFFFF"/>
                </a:highlight>
                <a:latin typeface="Arial"/>
                <a:ea typeface="Arial"/>
                <a:cs typeface="Arial"/>
                <a:sym typeface="Arial"/>
              </a:rPr>
              <a:t>We missed the Time for the cache (don't forget to use it), let's provide it:</a:t>
            </a:r>
            <a:endParaRPr sz="1200">
              <a:solidFill>
                <a:srgbClr val="212121"/>
              </a:solidFill>
              <a:highlight>
                <a:srgbClr val="FFFFFF"/>
              </a:highlight>
              <a:latin typeface="Arial"/>
              <a:ea typeface="Arial"/>
              <a:cs typeface="Arial"/>
              <a:sym typeface="Arial"/>
            </a:endParaRPr>
          </a:p>
          <a:p>
            <a:pPr indent="-304800" lvl="0" marL="787400" rtl="0" algn="l">
              <a:lnSpc>
                <a:spcPct val="112500"/>
              </a:lnSpc>
              <a:spcBef>
                <a:spcPts val="2200"/>
              </a:spcBef>
              <a:spcAft>
                <a:spcPts val="0"/>
              </a:spcAft>
              <a:buClr>
                <a:srgbClr val="5C5C5C"/>
              </a:buClr>
              <a:buSzPts val="1200"/>
              <a:buFont typeface="Courier New"/>
              <a:buChar char="●"/>
            </a:pPr>
            <a:r>
              <a:rPr lang="en-IN" sz="1200">
                <a:solidFill>
                  <a:schemeClr val="dk1"/>
                </a:solidFill>
                <a:highlight>
                  <a:srgbClr val="FFFFFF"/>
                </a:highlight>
                <a:latin typeface="Courier New"/>
                <a:ea typeface="Courier New"/>
                <a:cs typeface="Courier New"/>
                <a:sym typeface="Courier New"/>
              </a:rPr>
              <a:t>Cache.Insert(</a:t>
            </a:r>
            <a:r>
              <a:rPr lang="en-IN" sz="1200">
                <a:solidFill>
                  <a:srgbClr val="0000FF"/>
                </a:solidFill>
                <a:highlight>
                  <a:srgbClr val="FFFFFF"/>
                </a:highlight>
                <a:latin typeface="Courier New"/>
                <a:ea typeface="Courier New"/>
                <a:cs typeface="Courier New"/>
                <a:sym typeface="Courier New"/>
              </a:rPr>
              <a:t>"Website"</a:t>
            </a:r>
            <a:r>
              <a:rPr lang="en-IN" sz="1200">
                <a:solidFill>
                  <a:schemeClr val="dk1"/>
                </a:solidFill>
                <a:highlight>
                  <a:srgbClr val="FFFFFF"/>
                </a:highlight>
                <a:latin typeface="Courier New"/>
                <a:ea typeface="Courier New"/>
                <a:cs typeface="Courier New"/>
                <a:sym typeface="Courier New"/>
              </a:rPr>
              <a:t>, strName,  </a:t>
            </a:r>
            <a:endParaRPr sz="1200">
              <a:solidFill>
                <a:schemeClr val="dk1"/>
              </a:solidFill>
              <a:highlight>
                <a:srgbClr val="FFFFFF"/>
              </a:highlight>
              <a:latin typeface="Courier New"/>
              <a:ea typeface="Courier New"/>
              <a:cs typeface="Courier New"/>
              <a:sym typeface="Courier New"/>
            </a:endParaRPr>
          </a:p>
          <a:p>
            <a:pPr indent="-304800" lvl="0" marL="787400" rtl="0" algn="l">
              <a:lnSpc>
                <a:spcPct val="112500"/>
              </a:lnSpc>
              <a:spcBef>
                <a:spcPts val="0"/>
              </a:spcBef>
              <a:spcAft>
                <a:spcPts val="0"/>
              </a:spcAft>
              <a:buClr>
                <a:srgbClr val="5C5C5C"/>
              </a:buClr>
              <a:buSzPts val="1200"/>
              <a:buFont typeface="Courier New"/>
              <a:buChar char="●"/>
            </a:pPr>
            <a:r>
              <a:rPr b="1" lang="en-IN" sz="1200">
                <a:solidFill>
                  <a:srgbClr val="006699"/>
                </a:solidFill>
                <a:highlight>
                  <a:srgbClr val="F8F8F8"/>
                </a:highlight>
                <a:latin typeface="Courier New"/>
                <a:ea typeface="Courier New"/>
                <a:cs typeface="Courier New"/>
                <a:sym typeface="Courier New"/>
              </a:rPr>
              <a:t>new</a:t>
            </a:r>
            <a:r>
              <a:rPr lang="en-IN" sz="1200">
                <a:solidFill>
                  <a:schemeClr val="dk1"/>
                </a:solidFill>
                <a:highlight>
                  <a:srgbClr val="F8F8F8"/>
                </a:highlight>
                <a:latin typeface="Courier New"/>
                <a:ea typeface="Courier New"/>
                <a:cs typeface="Courier New"/>
                <a:sym typeface="Courier New"/>
              </a:rPr>
              <a:t> CacheDependency(Sever.MapPath(</a:t>
            </a:r>
            <a:r>
              <a:rPr lang="en-IN" sz="1200">
                <a:solidFill>
                  <a:srgbClr val="0000FF"/>
                </a:solidFill>
                <a:highlight>
                  <a:srgbClr val="F8F8F8"/>
                </a:highlight>
                <a:latin typeface="Courier New"/>
                <a:ea typeface="Courier New"/>
                <a:cs typeface="Courier New"/>
                <a:sym typeface="Courier New"/>
              </a:rPr>
              <a:t>"Website.txt"</a:t>
            </a:r>
            <a:r>
              <a:rPr lang="en-IN" sz="1200">
                <a:solidFill>
                  <a:schemeClr val="dk1"/>
                </a:solidFill>
                <a:highlight>
                  <a:srgbClr val="F8F8F8"/>
                </a:highlight>
                <a:latin typeface="Courier New"/>
                <a:ea typeface="Courier New"/>
                <a:cs typeface="Courier New"/>
                <a:sym typeface="Courier New"/>
              </a:rPr>
              <a:t>)  </a:t>
            </a:r>
            <a:endParaRPr sz="1200">
              <a:solidFill>
                <a:schemeClr val="dk1"/>
              </a:solidFill>
              <a:highlight>
                <a:srgbClr val="F8F8F8"/>
              </a:highlight>
              <a:latin typeface="Courier New"/>
              <a:ea typeface="Courier New"/>
              <a:cs typeface="Courier New"/>
              <a:sym typeface="Courier New"/>
            </a:endParaRPr>
          </a:p>
          <a:p>
            <a:pPr indent="-304800" lvl="0" marL="787400" rtl="0" algn="l">
              <a:lnSpc>
                <a:spcPct val="112500"/>
              </a:lnSpc>
              <a:spcBef>
                <a:spcPts val="0"/>
              </a:spcBef>
              <a:spcAft>
                <a:spcPts val="0"/>
              </a:spcAft>
              <a:buClr>
                <a:srgbClr val="5C5C5C"/>
              </a:buClr>
              <a:buSzPts val="1200"/>
              <a:buFont typeface="Courier New"/>
              <a:buChar char="●"/>
            </a:pPr>
            <a:r>
              <a:rPr lang="en-IN" sz="1200">
                <a:solidFill>
                  <a:schemeClr val="dk1"/>
                </a:solidFill>
                <a:highlight>
                  <a:srgbClr val="FFFFFF"/>
                </a:highlight>
                <a:latin typeface="Courier New"/>
                <a:ea typeface="Courier New"/>
                <a:cs typeface="Courier New"/>
                <a:sym typeface="Courier New"/>
              </a:rPr>
              <a:t>DateTime.Now.Addminutes(5), TimeSpan.Zero); </a:t>
            </a:r>
            <a:endParaRPr sz="1200">
              <a:solidFill>
                <a:schemeClr val="dk1"/>
              </a:solidFill>
              <a:highlight>
                <a:srgbClr val="FFFFFF"/>
              </a:highlight>
              <a:latin typeface="Courier New"/>
              <a:ea typeface="Courier New"/>
              <a:cs typeface="Courier New"/>
              <a:sym typeface="Courier New"/>
            </a:endParaRPr>
          </a:p>
          <a:p>
            <a:pPr indent="0" lvl="0" marL="0" rtl="0" algn="l">
              <a:spcBef>
                <a:spcPts val="8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13a9ba11011_0_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15000"/>
              </a:lnSpc>
              <a:spcBef>
                <a:spcPts val="4800"/>
              </a:spcBef>
              <a:spcAft>
                <a:spcPts val="2400"/>
              </a:spcAft>
              <a:buClr>
                <a:schemeClr val="dk1"/>
              </a:buClr>
              <a:buSzPts val="1100"/>
              <a:buFont typeface="Arial"/>
              <a:buNone/>
            </a:pPr>
            <a:r>
              <a:rPr lang="en-IN" sz="1700">
                <a:solidFill>
                  <a:schemeClr val="dk1"/>
                </a:solidFill>
                <a:highlight>
                  <a:srgbClr val="FFFFFF"/>
                </a:highlight>
                <a:latin typeface="Roboto"/>
                <a:ea typeface="Roboto"/>
                <a:cs typeface="Roboto"/>
                <a:sym typeface="Roboto"/>
              </a:rPr>
              <a:t>What Is AJAX in ASP.net</a:t>
            </a:r>
            <a:endParaRPr/>
          </a:p>
        </p:txBody>
      </p:sp>
      <p:sp>
        <p:nvSpPr>
          <p:cNvPr id="443" name="Google Shape;443;g13a9ba11011_0_0"/>
          <p:cNvSpPr txBox="1"/>
          <p:nvPr>
            <p:ph idx="1" type="body"/>
          </p:nvPr>
        </p:nvSpPr>
        <p:spPr>
          <a:xfrm>
            <a:off x="1043497" y="2323650"/>
            <a:ext cx="4492500" cy="3509100"/>
          </a:xfrm>
          <a:prstGeom prst="rect">
            <a:avLst/>
          </a:prstGeom>
        </p:spPr>
        <p:txBody>
          <a:bodyPr anchorCtr="0" anchor="t" bIns="45700" lIns="91425" spcFirstLastPara="1" rIns="91425" wrap="square" tIns="45700">
            <a:normAutofit fontScale="77500" lnSpcReduction="20000"/>
          </a:bodyPr>
          <a:lstStyle/>
          <a:p>
            <a:pPr indent="-365553" lvl="0" marL="457200" rtl="0" algn="just">
              <a:lnSpc>
                <a:spcPct val="100000"/>
              </a:lnSpc>
              <a:spcBef>
                <a:spcPts val="4800"/>
              </a:spcBef>
              <a:spcAft>
                <a:spcPts val="0"/>
              </a:spcAft>
              <a:buClr>
                <a:srgbClr val="000000"/>
              </a:buClr>
              <a:buSzPct val="193891"/>
              <a:buFont typeface="Times New Roman"/>
              <a:buChar char="❖"/>
            </a:pPr>
            <a:r>
              <a:rPr lang="en-IN" sz="1435">
                <a:solidFill>
                  <a:schemeClr val="dk1"/>
                </a:solidFill>
                <a:latin typeface="Times New Roman"/>
                <a:ea typeface="Times New Roman"/>
                <a:cs typeface="Times New Roman"/>
                <a:sym typeface="Times New Roman"/>
              </a:rPr>
              <a:t>The usage of AJAX in ASP.net is fast growing these days as it helps you to create more dynamic, responsive, and better web applications. By using AJAX in ASP.net, the performance of an application is highly increased as the response time is reduced and the traffic between the server and the client is reduced as well. </a:t>
            </a:r>
            <a:endParaRPr sz="1435">
              <a:solidFill>
                <a:schemeClr val="dk1"/>
              </a:solidFill>
              <a:latin typeface="Times New Roman"/>
              <a:ea typeface="Times New Roman"/>
              <a:cs typeface="Times New Roman"/>
              <a:sym typeface="Times New Roman"/>
            </a:endParaRPr>
          </a:p>
          <a:p>
            <a:pPr indent="-382678" lvl="0" marL="457200" rtl="0" algn="just">
              <a:lnSpc>
                <a:spcPct val="100000"/>
              </a:lnSpc>
              <a:spcBef>
                <a:spcPts val="0"/>
              </a:spcBef>
              <a:spcAft>
                <a:spcPts val="0"/>
              </a:spcAft>
              <a:buClr>
                <a:srgbClr val="000000"/>
              </a:buClr>
              <a:buSzPct val="218135"/>
              <a:buFont typeface="Times New Roman"/>
              <a:buChar char="❖"/>
            </a:pPr>
            <a:r>
              <a:rPr lang="en-IN" sz="1435">
                <a:solidFill>
                  <a:schemeClr val="dk1"/>
                </a:solidFill>
                <a:latin typeface="Times New Roman"/>
                <a:ea typeface="Times New Roman"/>
                <a:cs typeface="Times New Roman"/>
                <a:sym typeface="Times New Roman"/>
              </a:rPr>
              <a:t>AJAX stands for Asynchronous JavaScript and XML. This is a cross platform technology which speeds up response time. The AJAX server controls add script to the page which is executed and processed by the browser.</a:t>
            </a:r>
            <a:endParaRPr sz="1435">
              <a:solidFill>
                <a:schemeClr val="dk1"/>
              </a:solidFill>
              <a:latin typeface="Times New Roman"/>
              <a:ea typeface="Times New Roman"/>
              <a:cs typeface="Times New Roman"/>
              <a:sym typeface="Times New Roman"/>
            </a:endParaRPr>
          </a:p>
          <a:p>
            <a:pPr indent="-382678" lvl="0" marL="457200" rtl="0" algn="just">
              <a:lnSpc>
                <a:spcPct val="100000"/>
              </a:lnSpc>
              <a:spcBef>
                <a:spcPts val="0"/>
              </a:spcBef>
              <a:spcAft>
                <a:spcPts val="0"/>
              </a:spcAft>
              <a:buClr>
                <a:srgbClr val="000000"/>
              </a:buClr>
              <a:buSzPct val="218135"/>
              <a:buFont typeface="Times New Roman"/>
              <a:buChar char="❖"/>
            </a:pPr>
            <a:r>
              <a:rPr lang="en-IN" sz="1435">
                <a:solidFill>
                  <a:schemeClr val="dk1"/>
                </a:solidFill>
                <a:latin typeface="Times New Roman"/>
                <a:ea typeface="Times New Roman"/>
                <a:cs typeface="Times New Roman"/>
                <a:sym typeface="Times New Roman"/>
              </a:rPr>
              <a:t>However like other ASP.NET server controls, these AJAX server controls also can have methods and event handlers associated with them, which are processed on the server side.</a:t>
            </a:r>
            <a:endParaRPr sz="1435">
              <a:solidFill>
                <a:schemeClr val="dk1"/>
              </a:solidFill>
              <a:latin typeface="Times New Roman"/>
              <a:ea typeface="Times New Roman"/>
              <a:cs typeface="Times New Roman"/>
              <a:sym typeface="Times New Roman"/>
            </a:endParaRPr>
          </a:p>
          <a:p>
            <a:pPr indent="-382678" lvl="0" marL="457200" rtl="0" algn="just">
              <a:lnSpc>
                <a:spcPct val="100000"/>
              </a:lnSpc>
              <a:spcBef>
                <a:spcPts val="0"/>
              </a:spcBef>
              <a:spcAft>
                <a:spcPts val="0"/>
              </a:spcAft>
              <a:buClr>
                <a:srgbClr val="000000"/>
              </a:buClr>
              <a:buSzPct val="218135"/>
              <a:buFont typeface="Times New Roman"/>
              <a:buChar char="❖"/>
            </a:pPr>
            <a:r>
              <a:rPr lang="en-IN" sz="1435">
                <a:solidFill>
                  <a:schemeClr val="dk1"/>
                </a:solidFill>
                <a:latin typeface="Times New Roman"/>
                <a:ea typeface="Times New Roman"/>
                <a:cs typeface="Times New Roman"/>
                <a:sym typeface="Times New Roman"/>
              </a:rPr>
              <a:t>The control toolbox in the Visual Studio IDE contains a group of controls called the 'AJAX Extensions'</a:t>
            </a:r>
            <a:endParaRPr sz="2830">
              <a:solidFill>
                <a:srgbClr val="000000"/>
              </a:solidFill>
              <a:latin typeface="Times New Roman"/>
              <a:ea typeface="Times New Roman"/>
              <a:cs typeface="Times New Roman"/>
              <a:sym typeface="Times New Roman"/>
            </a:endParaRPr>
          </a:p>
          <a:p>
            <a:pPr indent="-356335" lvl="0" marL="457200" rtl="0" algn="just">
              <a:lnSpc>
                <a:spcPct val="100000"/>
              </a:lnSpc>
              <a:spcBef>
                <a:spcPts val="0"/>
              </a:spcBef>
              <a:spcAft>
                <a:spcPts val="0"/>
              </a:spcAft>
              <a:buClr>
                <a:srgbClr val="000000"/>
              </a:buClr>
              <a:buSzPct val="100000"/>
              <a:buFont typeface="Nunito"/>
              <a:buChar char="❖"/>
            </a:pPr>
            <a:r>
              <a:t/>
            </a:r>
            <a:endParaRPr sz="2595">
              <a:solidFill>
                <a:srgbClr val="000000"/>
              </a:solidFill>
              <a:latin typeface="Nunito"/>
              <a:ea typeface="Nunito"/>
              <a:cs typeface="Nunito"/>
              <a:sym typeface="Nunito"/>
            </a:endParaRPr>
          </a:p>
          <a:p>
            <a:pPr indent="0" lvl="0" marL="0" rtl="0" algn="l">
              <a:spcBef>
                <a:spcPts val="700"/>
              </a:spcBef>
              <a:spcAft>
                <a:spcPts val="0"/>
              </a:spcAft>
              <a:buNone/>
            </a:pPr>
            <a:r>
              <a:t/>
            </a:r>
            <a:endParaRPr/>
          </a:p>
        </p:txBody>
      </p:sp>
      <p:pic>
        <p:nvPicPr>
          <p:cNvPr id="444" name="Google Shape;444;g13a9ba11011_0_0"/>
          <p:cNvPicPr preferRelativeResize="0"/>
          <p:nvPr/>
        </p:nvPicPr>
        <p:blipFill>
          <a:blip r:embed="rId3">
            <a:alphaModFix/>
          </a:blip>
          <a:stretch>
            <a:fillRect/>
          </a:stretch>
        </p:blipFill>
        <p:spPr>
          <a:xfrm>
            <a:off x="5688397" y="2323064"/>
            <a:ext cx="1724025" cy="1457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13a9ba11011_0_6"/>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450" name="Google Shape;450;g13a9ba11011_0_6"/>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25000"/>
              </a:lnSpc>
              <a:spcBef>
                <a:spcPts val="1800"/>
              </a:spcBef>
              <a:spcAft>
                <a:spcPts val="0"/>
              </a:spcAft>
              <a:buClr>
                <a:schemeClr val="dk1"/>
              </a:buClr>
              <a:buSzPts val="1100"/>
              <a:buFont typeface="Arial"/>
              <a:buNone/>
            </a:pPr>
            <a:r>
              <a:rPr lang="en-IN" sz="1750">
                <a:solidFill>
                  <a:srgbClr val="171717"/>
                </a:solidFill>
                <a:latin typeface="Arial"/>
                <a:ea typeface="Arial"/>
                <a:cs typeface="Arial"/>
                <a:sym typeface="Arial"/>
              </a:rPr>
              <a:t>The ScriptManager Control</a:t>
            </a:r>
            <a:endParaRPr sz="1750">
              <a:solidFill>
                <a:srgbClr val="171717"/>
              </a:solidFill>
              <a:latin typeface="Arial"/>
              <a:ea typeface="Arial"/>
              <a:cs typeface="Arial"/>
              <a:sym typeface="Arial"/>
            </a:endParaRPr>
          </a:p>
          <a:p>
            <a:pPr indent="0" lvl="0" marL="0" rtl="0" algn="just">
              <a:lnSpc>
                <a:spcPct val="160000"/>
              </a:lnSpc>
              <a:spcBef>
                <a:spcPts val="6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The ScriptManager control is the most important control and must be present on the page for other controls to work.</a:t>
            </a:r>
            <a:endParaRPr sz="1200">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It has the basic syntax:</a:t>
            </a:r>
            <a:endParaRPr sz="1200">
              <a:solidFill>
                <a:srgbClr val="171717"/>
              </a:solidFill>
              <a:latin typeface="Nunito"/>
              <a:ea typeface="Nunito"/>
              <a:cs typeface="Nunito"/>
              <a:sym typeface="Nunito"/>
            </a:endParaRPr>
          </a:p>
          <a:p>
            <a:pPr indent="0" lvl="0" marL="0" rtl="0" algn="l">
              <a:spcBef>
                <a:spcPts val="700"/>
              </a:spcBef>
              <a:spcAft>
                <a:spcPts val="0"/>
              </a:spcAft>
              <a:buNone/>
            </a:pPr>
            <a:r>
              <a:rPr lang="en-IN" sz="1150">
                <a:solidFill>
                  <a:srgbClr val="000088"/>
                </a:solidFill>
                <a:highlight>
                  <a:srgbClr val="EEEEEE"/>
                </a:highlight>
                <a:latin typeface="Arial"/>
                <a:ea typeface="Arial"/>
                <a:cs typeface="Arial"/>
                <a:sym typeface="Arial"/>
              </a:rPr>
              <a:t>&lt;asp:ScriptManager</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ID</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"ScriptManager1"</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runat</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"server"</a:t>
            </a:r>
            <a:r>
              <a:rPr lang="en-IN" sz="1150">
                <a:solidFill>
                  <a:srgbClr val="000088"/>
                </a:solidFill>
                <a:highlight>
                  <a:srgbClr val="EEEEEE"/>
                </a:highlight>
                <a:latin typeface="Arial"/>
                <a:ea typeface="Arial"/>
                <a:cs typeface="Arial"/>
                <a:sym typeface="Arial"/>
              </a:rPr>
              <a:t>&gt;</a:t>
            </a:r>
            <a:endParaRPr sz="1150">
              <a:solidFill>
                <a:schemeClr val="dk1"/>
              </a:solidFill>
              <a:highlight>
                <a:srgbClr val="EEEEEE"/>
              </a:highlight>
              <a:latin typeface="Arial"/>
              <a:ea typeface="Arial"/>
              <a:cs typeface="Arial"/>
              <a:sym typeface="Arial"/>
            </a:endParaRPr>
          </a:p>
          <a:p>
            <a:pPr indent="0" lvl="0" marL="25400" marR="25400" rtl="0" algn="l">
              <a:lnSpc>
                <a:spcPct val="115000"/>
              </a:lnSpc>
              <a:spcBef>
                <a:spcPts val="0"/>
              </a:spcBef>
              <a:spcAft>
                <a:spcPts val="0"/>
              </a:spcAft>
              <a:buClr>
                <a:schemeClr val="dk1"/>
              </a:buClr>
              <a:buSzPts val="1100"/>
              <a:buFont typeface="Arial"/>
              <a:buNone/>
            </a:pPr>
            <a:r>
              <a:rPr lang="en-IN" sz="1150">
                <a:solidFill>
                  <a:srgbClr val="000088"/>
                </a:solidFill>
                <a:highlight>
                  <a:srgbClr val="EEEEEE"/>
                </a:highlight>
                <a:latin typeface="Arial"/>
                <a:ea typeface="Arial"/>
                <a:cs typeface="Arial"/>
                <a:sym typeface="Arial"/>
              </a:rPr>
              <a:t>&lt;/asp:ScriptManager&gt;</a:t>
            </a:r>
            <a:endParaRPr sz="1150">
              <a:solidFill>
                <a:srgbClr val="000088"/>
              </a:solidFill>
              <a:highlight>
                <a:srgbClr val="EEEEEE"/>
              </a:highlight>
              <a:latin typeface="Arial"/>
              <a:ea typeface="Arial"/>
              <a:cs typeface="Arial"/>
              <a:sym typeface="Arial"/>
            </a:endParaRPr>
          </a:p>
          <a:p>
            <a:pPr indent="0" lvl="0" marL="0" rtl="0" algn="just">
              <a:lnSpc>
                <a:spcPct val="160000"/>
              </a:lnSpc>
              <a:spcBef>
                <a:spcPts val="6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If you create an 'Ajax Enabled site' or add an 'AJAX Web Form' from the 'Add Item' dialog box, the web form automatically contains the script manager control. The ScriptManager control takes care of the client-side script for all the server side controls.</a:t>
            </a:r>
            <a:endParaRPr sz="1200">
              <a:solidFill>
                <a:schemeClr val="dk1"/>
              </a:solidFill>
              <a:latin typeface="Nunito"/>
              <a:ea typeface="Nunito"/>
              <a:cs typeface="Nunito"/>
              <a:sym typeface="Nunito"/>
            </a:endParaRPr>
          </a:p>
          <a:p>
            <a:pPr indent="0" lvl="0" marL="0" rtl="0" algn="l">
              <a:spcBef>
                <a:spcPts val="7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13a9ba11011_0_16"/>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25000"/>
              </a:lnSpc>
              <a:spcBef>
                <a:spcPts val="1800"/>
              </a:spcBef>
              <a:spcAft>
                <a:spcPts val="400"/>
              </a:spcAft>
              <a:buClr>
                <a:schemeClr val="dk1"/>
              </a:buClr>
              <a:buSzPts val="1100"/>
              <a:buFont typeface="Arial"/>
              <a:buNone/>
            </a:pPr>
            <a:r>
              <a:rPr lang="en-IN" sz="1750">
                <a:solidFill>
                  <a:schemeClr val="dk1"/>
                </a:solidFill>
                <a:latin typeface="Arial"/>
                <a:ea typeface="Arial"/>
                <a:cs typeface="Arial"/>
                <a:sym typeface="Arial"/>
              </a:rPr>
              <a:t>The UpdatePanel Control</a:t>
            </a:r>
            <a:endParaRPr/>
          </a:p>
        </p:txBody>
      </p:sp>
      <p:sp>
        <p:nvSpPr>
          <p:cNvPr id="456" name="Google Shape;456;g13a9ba11011_0_16"/>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92500" lnSpcReduction="10000"/>
          </a:bodyPr>
          <a:lstStyle/>
          <a:p>
            <a:pPr indent="0" lvl="0" marL="0" rtl="0" algn="l">
              <a:lnSpc>
                <a:spcPct val="125000"/>
              </a:lnSpc>
              <a:spcBef>
                <a:spcPts val="1800"/>
              </a:spcBef>
              <a:spcAft>
                <a:spcPts val="0"/>
              </a:spcAft>
              <a:buClr>
                <a:schemeClr val="dk1"/>
              </a:buClr>
              <a:buSzPct val="62857"/>
              <a:buFont typeface="Arial"/>
              <a:buNone/>
            </a:pPr>
            <a:r>
              <a:t/>
            </a:r>
            <a:endParaRPr sz="1750">
              <a:solidFill>
                <a:schemeClr val="dk1"/>
              </a:solidFill>
              <a:latin typeface="Arial"/>
              <a:ea typeface="Arial"/>
              <a:cs typeface="Arial"/>
              <a:sym typeface="Arial"/>
            </a:endParaRPr>
          </a:p>
          <a:p>
            <a:pPr indent="0" lvl="0" marL="0" rtl="0" algn="just">
              <a:lnSpc>
                <a:spcPct val="160000"/>
              </a:lnSpc>
              <a:spcBef>
                <a:spcPts val="600"/>
              </a:spcBef>
              <a:spcAft>
                <a:spcPts val="0"/>
              </a:spcAft>
              <a:buClr>
                <a:schemeClr val="dk1"/>
              </a:buClr>
              <a:buSzPct val="91666"/>
              <a:buFont typeface="Arial"/>
              <a:buNone/>
            </a:pPr>
            <a:r>
              <a:rPr lang="en-IN" sz="1200">
                <a:solidFill>
                  <a:schemeClr val="dk1"/>
                </a:solidFill>
                <a:latin typeface="Times New Roman"/>
                <a:ea typeface="Times New Roman"/>
                <a:cs typeface="Times New Roman"/>
                <a:sym typeface="Times New Roman"/>
              </a:rPr>
              <a:t>The UpdatePanel control is a container control and derives from the Control class. It acts as a container for the child controls within it and does not have its own interface. When a control inside it triggers a post back, the UpdatePanel intervenes to initiate the post asynchronously and update just that portion of the page.</a:t>
            </a:r>
            <a:endParaRPr sz="1200">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None/>
            </a:pPr>
            <a:r>
              <a:rPr lang="en-IN" sz="1200">
                <a:solidFill>
                  <a:schemeClr val="dk1"/>
                </a:solidFill>
                <a:latin typeface="Times New Roman"/>
                <a:ea typeface="Times New Roman"/>
                <a:cs typeface="Times New Roman"/>
                <a:sym typeface="Times New Roman"/>
              </a:rPr>
              <a:t>For example, if a button control is inside the update panel and it is clicked, only the controls within the update panel will be affected, the controls on the other parts of the page will not be affected. This is called the partial post back or the asynchronous post back.</a:t>
            </a:r>
            <a:endParaRPr sz="1200">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None/>
            </a:pPr>
            <a:r>
              <a:rPr lang="en-IN" sz="1200">
                <a:solidFill>
                  <a:schemeClr val="dk1"/>
                </a:solidFill>
                <a:latin typeface="Times New Roman"/>
                <a:ea typeface="Times New Roman"/>
                <a:cs typeface="Times New Roman"/>
                <a:sym typeface="Times New Roman"/>
              </a:rPr>
              <a:t>Note:</a:t>
            </a:r>
            <a:r>
              <a:rPr lang="en-IN" sz="1500">
                <a:solidFill>
                  <a:srgbClr val="FF0000"/>
                </a:solidFill>
                <a:latin typeface="Times New Roman"/>
                <a:ea typeface="Times New Roman"/>
                <a:cs typeface="Times New Roman"/>
                <a:sym typeface="Times New Roman"/>
              </a:rPr>
              <a:t>synchronous postback renders the entire page for any postback</a:t>
            </a:r>
            <a:endParaRPr sz="1500">
              <a:solidFill>
                <a:srgbClr val="FF0000"/>
              </a:solidFill>
              <a:latin typeface="Times New Roman"/>
              <a:ea typeface="Times New Roman"/>
              <a:cs typeface="Times New Roman"/>
              <a:sym typeface="Times New Roman"/>
            </a:endParaRPr>
          </a:p>
          <a:p>
            <a:pPr indent="0" lvl="0" marL="0" rtl="0" algn="just">
              <a:lnSpc>
                <a:spcPct val="160000"/>
              </a:lnSpc>
              <a:spcBef>
                <a:spcPts val="700"/>
              </a:spcBef>
              <a:spcAft>
                <a:spcPts val="0"/>
              </a:spcAft>
              <a:buClr>
                <a:schemeClr val="dk1"/>
              </a:buClr>
              <a:buSzPct val="73333"/>
              <a:buFont typeface="Arial"/>
              <a:buNone/>
            </a:pPr>
            <a:r>
              <a:rPr lang="en-IN" sz="1500">
                <a:solidFill>
                  <a:srgbClr val="FF0000"/>
                </a:solidFill>
                <a:latin typeface="Times New Roman"/>
                <a:ea typeface="Times New Roman"/>
                <a:cs typeface="Times New Roman"/>
                <a:sym typeface="Times New Roman"/>
              </a:rPr>
              <a:t>Asynchronous postback executes only one postback at a time, that is, if you have two buttons doing asynchronous postback, the actions will be performed one by one.</a:t>
            </a:r>
            <a:endParaRPr sz="1500">
              <a:solidFill>
                <a:srgbClr val="FF0000"/>
              </a:solidFill>
              <a:latin typeface="Times New Roman"/>
              <a:ea typeface="Times New Roman"/>
              <a:cs typeface="Times New Roman"/>
              <a:sym typeface="Times New Roman"/>
            </a:endParaRPr>
          </a:p>
          <a:p>
            <a:pPr indent="0" lvl="0" marL="0" rtl="0" algn="l">
              <a:spcBef>
                <a:spcPts val="700"/>
              </a:spcBef>
              <a:spcAft>
                <a:spcPts val="0"/>
              </a:spcAft>
              <a:buNone/>
            </a:pPr>
            <a:r>
              <a:t/>
            </a:r>
            <a:endParaRPr sz="1200">
              <a:solidFill>
                <a:srgbClr val="FF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13a9ba11011_0_24"/>
          <p:cNvSpPr txBox="1"/>
          <p:nvPr>
            <p:ph type="title"/>
          </p:nvPr>
        </p:nvSpPr>
        <p:spPr>
          <a:xfrm>
            <a:off x="771300" y="991525"/>
            <a:ext cx="7296900" cy="4299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SzPts val="990"/>
              <a:buNone/>
            </a:pPr>
            <a:r>
              <a:rPr lang="en-IN" sz="2400">
                <a:solidFill>
                  <a:srgbClr val="FF0000"/>
                </a:solidFill>
              </a:rPr>
              <a:t>Web application to create an image slider using ajax</a:t>
            </a:r>
            <a:endParaRPr sz="2400">
              <a:solidFill>
                <a:srgbClr val="FF0000"/>
              </a:solidFill>
            </a:endParaRPr>
          </a:p>
        </p:txBody>
      </p:sp>
      <p:sp>
        <p:nvSpPr>
          <p:cNvPr id="462" name="Google Shape;462;g13a9ba11011_0_24"/>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463" name="Google Shape;463;g13a9ba11011_0_24"/>
          <p:cNvPicPr preferRelativeResize="0"/>
          <p:nvPr/>
        </p:nvPicPr>
        <p:blipFill>
          <a:blip r:embed="rId3">
            <a:alphaModFix/>
          </a:blip>
          <a:stretch>
            <a:fillRect/>
          </a:stretch>
        </p:blipFill>
        <p:spPr>
          <a:xfrm>
            <a:off x="1043500" y="1490709"/>
            <a:ext cx="7297001" cy="461034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13a9ba11011_0_30"/>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25000"/>
              </a:lnSpc>
              <a:spcBef>
                <a:spcPts val="1800"/>
              </a:spcBef>
              <a:spcAft>
                <a:spcPts val="400"/>
              </a:spcAft>
              <a:buClr>
                <a:schemeClr val="dk1"/>
              </a:buClr>
              <a:buSzPts val="1100"/>
              <a:buFont typeface="Arial"/>
              <a:buNone/>
            </a:pPr>
            <a:r>
              <a:rPr lang="en-IN" sz="1750">
                <a:solidFill>
                  <a:schemeClr val="dk1"/>
                </a:solidFill>
                <a:latin typeface="Arial"/>
                <a:ea typeface="Arial"/>
                <a:cs typeface="Arial"/>
                <a:sym typeface="Arial"/>
              </a:rPr>
              <a:t>The Timer Control</a:t>
            </a:r>
            <a:endParaRPr/>
          </a:p>
        </p:txBody>
      </p:sp>
      <p:sp>
        <p:nvSpPr>
          <p:cNvPr id="469" name="Google Shape;469;g13a9ba11011_0_30"/>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25000"/>
              </a:lnSpc>
              <a:spcBef>
                <a:spcPts val="1800"/>
              </a:spcBef>
              <a:spcAft>
                <a:spcPts val="0"/>
              </a:spcAft>
              <a:buClr>
                <a:schemeClr val="dk1"/>
              </a:buClr>
              <a:buSzPts val="1100"/>
              <a:buFont typeface="Arial"/>
              <a:buNone/>
            </a:pPr>
            <a:r>
              <a:t/>
            </a:r>
            <a:endParaRPr sz="2050">
              <a:solidFill>
                <a:schemeClr val="dk1"/>
              </a:solidFill>
              <a:latin typeface="Arial"/>
              <a:ea typeface="Arial"/>
              <a:cs typeface="Arial"/>
              <a:sym typeface="Arial"/>
            </a:endParaRPr>
          </a:p>
          <a:p>
            <a:pPr indent="0" lvl="0" marL="0" rtl="0" algn="just">
              <a:lnSpc>
                <a:spcPct val="160000"/>
              </a:lnSpc>
              <a:spcBef>
                <a:spcPts val="600"/>
              </a:spcBef>
              <a:spcAft>
                <a:spcPts val="0"/>
              </a:spcAft>
              <a:buClr>
                <a:schemeClr val="dk1"/>
              </a:buClr>
              <a:buSzPts val="1100"/>
              <a:buFont typeface="Arial"/>
              <a:buNone/>
            </a:pPr>
            <a:r>
              <a:rPr lang="en-IN" sz="1500">
                <a:solidFill>
                  <a:schemeClr val="dk1"/>
                </a:solidFill>
                <a:latin typeface="Nunito"/>
                <a:ea typeface="Nunito"/>
                <a:cs typeface="Nunito"/>
                <a:sym typeface="Nunito"/>
              </a:rPr>
              <a:t>The timer control is used to initiate the post back automatically. This could be done in two ways:</a:t>
            </a:r>
            <a:endParaRPr sz="1500">
              <a:solidFill>
                <a:schemeClr val="dk1"/>
              </a:solidFill>
              <a:latin typeface="Nunito"/>
              <a:ea typeface="Nunito"/>
              <a:cs typeface="Nunito"/>
              <a:sym typeface="Nunito"/>
            </a:endParaRPr>
          </a:p>
          <a:p>
            <a:pPr indent="0" lvl="0" marL="0" rtl="0" algn="just">
              <a:lnSpc>
                <a:spcPct val="160000"/>
              </a:lnSpc>
              <a:spcBef>
                <a:spcPts val="700"/>
              </a:spcBef>
              <a:spcAft>
                <a:spcPts val="0"/>
              </a:spcAft>
              <a:buClr>
                <a:schemeClr val="dk1"/>
              </a:buClr>
              <a:buSzPts val="1100"/>
              <a:buFont typeface="Arial"/>
              <a:buNone/>
            </a:pPr>
            <a:r>
              <a:rPr lang="en-IN" sz="1500">
                <a:solidFill>
                  <a:schemeClr val="dk1"/>
                </a:solidFill>
                <a:latin typeface="Nunito"/>
                <a:ea typeface="Nunito"/>
                <a:cs typeface="Nunito"/>
                <a:sym typeface="Nunito"/>
              </a:rPr>
              <a:t>(1) Setting the Triggers property of the UpdatePanel control:</a:t>
            </a:r>
            <a:endParaRPr sz="1500">
              <a:solidFill>
                <a:schemeClr val="dk1"/>
              </a:solidFill>
              <a:latin typeface="Nunito"/>
              <a:ea typeface="Nunito"/>
              <a:cs typeface="Nunito"/>
              <a:sym typeface="Nunito"/>
            </a:endParaRPr>
          </a:p>
          <a:p>
            <a:pPr indent="0" lvl="0" marL="0" rtl="0" algn="l">
              <a:spcBef>
                <a:spcPts val="700"/>
              </a:spcBef>
              <a:spcAft>
                <a:spcPts val="0"/>
              </a:spcAft>
              <a:buNone/>
            </a:pPr>
            <a:r>
              <a:rPr lang="en-IN" sz="1450">
                <a:solidFill>
                  <a:srgbClr val="000088"/>
                </a:solidFill>
                <a:highlight>
                  <a:srgbClr val="EEEEEE"/>
                </a:highlight>
                <a:latin typeface="Arial"/>
                <a:ea typeface="Arial"/>
                <a:cs typeface="Arial"/>
                <a:sym typeface="Arial"/>
              </a:rPr>
              <a:t>&lt;Triggers&gt;</a:t>
            </a:r>
            <a:r>
              <a:rPr lang="en-IN" sz="1450">
                <a:solidFill>
                  <a:schemeClr val="dk1"/>
                </a:solidFill>
                <a:highlight>
                  <a:srgbClr val="EEEEEE"/>
                </a:highlight>
                <a:latin typeface="Arial"/>
                <a:ea typeface="Arial"/>
                <a:cs typeface="Arial"/>
                <a:sym typeface="Arial"/>
              </a:rPr>
              <a:t> </a:t>
            </a:r>
            <a:endParaRPr sz="14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450">
                <a:solidFill>
                  <a:schemeClr val="dk1"/>
                </a:solidFill>
                <a:highlight>
                  <a:srgbClr val="EEEEEE"/>
                </a:highlight>
                <a:latin typeface="Arial"/>
                <a:ea typeface="Arial"/>
                <a:cs typeface="Arial"/>
                <a:sym typeface="Arial"/>
              </a:rPr>
              <a:t>   </a:t>
            </a:r>
            <a:r>
              <a:rPr lang="en-IN" sz="1450">
                <a:solidFill>
                  <a:srgbClr val="000088"/>
                </a:solidFill>
                <a:highlight>
                  <a:srgbClr val="EEEEEE"/>
                </a:highlight>
                <a:latin typeface="Arial"/>
                <a:ea typeface="Arial"/>
                <a:cs typeface="Arial"/>
                <a:sym typeface="Arial"/>
              </a:rPr>
              <a:t>&lt;asp:AsyncPostBackTrigger</a:t>
            </a:r>
            <a:r>
              <a:rPr lang="en-IN" sz="1450">
                <a:solidFill>
                  <a:schemeClr val="dk1"/>
                </a:solidFill>
                <a:highlight>
                  <a:srgbClr val="EEEEEE"/>
                </a:highlight>
                <a:latin typeface="Arial"/>
                <a:ea typeface="Arial"/>
                <a:cs typeface="Arial"/>
                <a:sym typeface="Arial"/>
              </a:rPr>
              <a:t> </a:t>
            </a:r>
            <a:r>
              <a:rPr lang="en-IN" sz="1450">
                <a:solidFill>
                  <a:srgbClr val="660066"/>
                </a:solidFill>
                <a:highlight>
                  <a:srgbClr val="EEEEEE"/>
                </a:highlight>
                <a:latin typeface="Arial"/>
                <a:ea typeface="Arial"/>
                <a:cs typeface="Arial"/>
                <a:sym typeface="Arial"/>
              </a:rPr>
              <a:t>ControlID</a:t>
            </a:r>
            <a:r>
              <a:rPr lang="en-IN" sz="1450">
                <a:solidFill>
                  <a:srgbClr val="666600"/>
                </a:solidFill>
                <a:highlight>
                  <a:srgbClr val="EEEEEE"/>
                </a:highlight>
                <a:latin typeface="Arial"/>
                <a:ea typeface="Arial"/>
                <a:cs typeface="Arial"/>
                <a:sym typeface="Arial"/>
              </a:rPr>
              <a:t>=</a:t>
            </a:r>
            <a:r>
              <a:rPr lang="en-IN" sz="1450">
                <a:solidFill>
                  <a:srgbClr val="008800"/>
                </a:solidFill>
                <a:highlight>
                  <a:srgbClr val="EEEEEE"/>
                </a:highlight>
                <a:latin typeface="Arial"/>
                <a:ea typeface="Arial"/>
                <a:cs typeface="Arial"/>
                <a:sym typeface="Arial"/>
              </a:rPr>
              <a:t>"btnpanel2"</a:t>
            </a:r>
            <a:r>
              <a:rPr lang="en-IN" sz="1450">
                <a:solidFill>
                  <a:schemeClr val="dk1"/>
                </a:solidFill>
                <a:highlight>
                  <a:srgbClr val="EEEEEE"/>
                </a:highlight>
                <a:latin typeface="Arial"/>
                <a:ea typeface="Arial"/>
                <a:cs typeface="Arial"/>
                <a:sym typeface="Arial"/>
              </a:rPr>
              <a:t> </a:t>
            </a:r>
            <a:r>
              <a:rPr lang="en-IN" sz="1450">
                <a:solidFill>
                  <a:srgbClr val="660066"/>
                </a:solidFill>
                <a:highlight>
                  <a:srgbClr val="EEEEEE"/>
                </a:highlight>
                <a:latin typeface="Arial"/>
                <a:ea typeface="Arial"/>
                <a:cs typeface="Arial"/>
                <a:sym typeface="Arial"/>
              </a:rPr>
              <a:t>EventName</a:t>
            </a:r>
            <a:r>
              <a:rPr lang="en-IN" sz="1450">
                <a:solidFill>
                  <a:srgbClr val="666600"/>
                </a:solidFill>
                <a:highlight>
                  <a:srgbClr val="EEEEEE"/>
                </a:highlight>
                <a:latin typeface="Arial"/>
                <a:ea typeface="Arial"/>
                <a:cs typeface="Arial"/>
                <a:sym typeface="Arial"/>
              </a:rPr>
              <a:t>=</a:t>
            </a:r>
            <a:r>
              <a:rPr lang="en-IN" sz="1450">
                <a:solidFill>
                  <a:srgbClr val="008800"/>
                </a:solidFill>
                <a:highlight>
                  <a:srgbClr val="EEEEEE"/>
                </a:highlight>
                <a:latin typeface="Arial"/>
                <a:ea typeface="Arial"/>
                <a:cs typeface="Arial"/>
                <a:sym typeface="Arial"/>
              </a:rPr>
              <a:t>"Click"</a:t>
            </a:r>
            <a:r>
              <a:rPr lang="en-IN" sz="1450">
                <a:solidFill>
                  <a:schemeClr val="dk1"/>
                </a:solidFill>
                <a:highlight>
                  <a:srgbClr val="EEEEEE"/>
                </a:highlight>
                <a:latin typeface="Arial"/>
                <a:ea typeface="Arial"/>
                <a:cs typeface="Arial"/>
                <a:sym typeface="Arial"/>
              </a:rPr>
              <a:t> </a:t>
            </a:r>
            <a:r>
              <a:rPr lang="en-IN" sz="1450">
                <a:solidFill>
                  <a:srgbClr val="000088"/>
                </a:solidFill>
                <a:highlight>
                  <a:srgbClr val="EEEEEE"/>
                </a:highlight>
                <a:latin typeface="Arial"/>
                <a:ea typeface="Arial"/>
                <a:cs typeface="Arial"/>
                <a:sym typeface="Arial"/>
              </a:rPr>
              <a:t>/&gt;</a:t>
            </a:r>
            <a:endParaRPr sz="1450">
              <a:solidFill>
                <a:schemeClr val="dk1"/>
              </a:solidFill>
              <a:highlight>
                <a:srgbClr val="EEEEEE"/>
              </a:highlight>
              <a:latin typeface="Arial"/>
              <a:ea typeface="Arial"/>
              <a:cs typeface="Arial"/>
              <a:sym typeface="Arial"/>
            </a:endParaRPr>
          </a:p>
          <a:p>
            <a:pPr indent="0" lvl="0" marL="25400" marR="25400" rtl="0" algn="l">
              <a:lnSpc>
                <a:spcPct val="115000"/>
              </a:lnSpc>
              <a:spcBef>
                <a:spcPts val="0"/>
              </a:spcBef>
              <a:spcAft>
                <a:spcPts val="0"/>
              </a:spcAft>
              <a:buClr>
                <a:schemeClr val="dk1"/>
              </a:buClr>
              <a:buSzPts val="1100"/>
              <a:buFont typeface="Arial"/>
              <a:buNone/>
            </a:pPr>
            <a:r>
              <a:rPr lang="en-IN" sz="1450">
                <a:solidFill>
                  <a:srgbClr val="000088"/>
                </a:solidFill>
                <a:highlight>
                  <a:srgbClr val="EEEEEE"/>
                </a:highlight>
                <a:latin typeface="Arial"/>
                <a:ea typeface="Arial"/>
                <a:cs typeface="Arial"/>
                <a:sym typeface="Arial"/>
              </a:rPr>
              <a:t>&lt;/Triggers&gt;</a:t>
            </a:r>
            <a:endParaRPr sz="1450">
              <a:solidFill>
                <a:srgbClr val="000088"/>
              </a:solidFill>
              <a:highlight>
                <a:srgbClr val="EEEEEE"/>
              </a:highlight>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13a9ba11011_0_41"/>
          <p:cNvSpPr txBox="1"/>
          <p:nvPr>
            <p:ph type="title"/>
          </p:nvPr>
        </p:nvSpPr>
        <p:spPr>
          <a:xfrm>
            <a:off x="1043490" y="1027664"/>
            <a:ext cx="7024800" cy="1143000"/>
          </a:xfrm>
          <a:prstGeom prst="rect">
            <a:avLst/>
          </a:prstGeom>
        </p:spPr>
        <p:txBody>
          <a:bodyPr anchorCtr="0" anchor="b" bIns="45700" lIns="91425" spcFirstLastPara="1" rIns="91425" wrap="square" tIns="45700">
            <a:noAutofit/>
          </a:bodyPr>
          <a:lstStyle/>
          <a:p>
            <a:pPr indent="0" lvl="0" marL="0" rtl="0" algn="just">
              <a:lnSpc>
                <a:spcPct val="160000"/>
              </a:lnSpc>
              <a:spcBef>
                <a:spcPts val="600"/>
              </a:spcBef>
              <a:spcAft>
                <a:spcPts val="700"/>
              </a:spcAft>
              <a:buClr>
                <a:schemeClr val="dk1"/>
              </a:buClr>
              <a:buSzPts val="1100"/>
              <a:buFont typeface="Arial"/>
              <a:buNone/>
            </a:pPr>
            <a:r>
              <a:rPr lang="en-IN" sz="1800">
                <a:solidFill>
                  <a:schemeClr val="dk1"/>
                </a:solidFill>
                <a:latin typeface="Nunito"/>
                <a:ea typeface="Nunito"/>
                <a:cs typeface="Nunito"/>
                <a:sym typeface="Nunito"/>
              </a:rPr>
              <a:t>(2) Placing a timer control directly inside the UpdatePanel to act as a child control trigger. A single timer can be the trigger for multiple UpdatePanels.</a:t>
            </a:r>
            <a:endParaRPr sz="4600"/>
          </a:p>
        </p:txBody>
      </p:sp>
      <p:sp>
        <p:nvSpPr>
          <p:cNvPr id="475" name="Google Shape;475;g13a9ba11011_0_41"/>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60000"/>
              </a:lnSpc>
              <a:spcBef>
                <a:spcPts val="600"/>
              </a:spcBef>
              <a:spcAft>
                <a:spcPts val="0"/>
              </a:spcAft>
              <a:buClr>
                <a:schemeClr val="dk1"/>
              </a:buClr>
              <a:buSzPts val="1100"/>
              <a:buFont typeface="Arial"/>
              <a:buNone/>
            </a:pPr>
            <a:r>
              <a:t/>
            </a:r>
            <a:endParaRPr sz="1200">
              <a:solidFill>
                <a:schemeClr val="dk1"/>
              </a:solidFill>
              <a:latin typeface="Nunito"/>
              <a:ea typeface="Nunito"/>
              <a:cs typeface="Nunito"/>
              <a:sym typeface="Nunito"/>
            </a:endParaRPr>
          </a:p>
          <a:p>
            <a:pPr indent="0" lvl="0" marL="0" rtl="0" algn="l">
              <a:spcBef>
                <a:spcPts val="700"/>
              </a:spcBef>
              <a:spcAft>
                <a:spcPts val="0"/>
              </a:spcAft>
              <a:buNone/>
            </a:pPr>
            <a:r>
              <a:rPr lang="en-IN" sz="1150">
                <a:solidFill>
                  <a:srgbClr val="000088"/>
                </a:solidFill>
                <a:highlight>
                  <a:srgbClr val="EEEEEE"/>
                </a:highlight>
                <a:latin typeface="Arial"/>
                <a:ea typeface="Arial"/>
                <a:cs typeface="Arial"/>
                <a:sym typeface="Arial"/>
              </a:rPr>
              <a:t>&lt;asp:UpdatePanel</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ID</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"UpdatePanel1"</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runat</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"server"</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UpdateMode</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"Always"</a:t>
            </a:r>
            <a:r>
              <a:rPr lang="en-IN" sz="1150">
                <a:solidFill>
                  <a:srgbClr val="000088"/>
                </a:solidFill>
                <a:highlight>
                  <a:srgbClr val="EEEEEE"/>
                </a:highlight>
                <a:latin typeface="Arial"/>
                <a:ea typeface="Arial"/>
                <a:cs typeface="Arial"/>
                <a:sym typeface="Arial"/>
              </a:rPr>
              <a:t>&gt;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&lt;ContentTemplate&gt;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&lt;asp:Timer</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ID</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"Timer1"</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runat</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"server"</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Interval</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"1000"</a:t>
            </a:r>
            <a:r>
              <a:rPr lang="en-IN" sz="1150">
                <a:solidFill>
                  <a:srgbClr val="000088"/>
                </a:solidFill>
                <a:highlight>
                  <a:srgbClr val="EEEEEE"/>
                </a:highlight>
                <a:latin typeface="Arial"/>
                <a:ea typeface="Arial"/>
                <a:cs typeface="Arial"/>
                <a:sym typeface="Arial"/>
              </a:rPr>
              <a:t>&gt;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&lt;/asp:Timer&gt;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&lt;asp:Label</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ID</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"Label1"</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runat</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"server"</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Height</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"101px"</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style</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a:t>
            </a:r>
            <a:r>
              <a:rPr lang="en-IN" sz="1150">
                <a:solidFill>
                  <a:schemeClr val="dk1"/>
                </a:solidFill>
                <a:highlight>
                  <a:srgbClr val="EEEEEE"/>
                </a:highlight>
                <a:latin typeface="Arial"/>
                <a:ea typeface="Arial"/>
                <a:cs typeface="Arial"/>
                <a:sym typeface="Arial"/>
              </a:rPr>
              <a:t>width</a:t>
            </a:r>
            <a:r>
              <a:rPr lang="en-IN" sz="1150">
                <a:solidFill>
                  <a:srgbClr val="666600"/>
                </a:solidFill>
                <a:highlight>
                  <a:srgbClr val="EEEEEE"/>
                </a:highlight>
                <a:latin typeface="Arial"/>
                <a:ea typeface="Arial"/>
                <a:cs typeface="Arial"/>
                <a:sym typeface="Arial"/>
              </a:rPr>
              <a:t>:</a:t>
            </a:r>
            <a:r>
              <a:rPr lang="en-IN" sz="1150">
                <a:solidFill>
                  <a:srgbClr val="006666"/>
                </a:solidFill>
                <a:highlight>
                  <a:srgbClr val="EEEEEE"/>
                </a:highlight>
                <a:latin typeface="Arial"/>
                <a:ea typeface="Arial"/>
                <a:cs typeface="Arial"/>
                <a:sym typeface="Arial"/>
              </a:rPr>
              <a:t>304px</a:t>
            </a:r>
            <a:r>
              <a:rPr lang="en-IN" sz="1150">
                <a:solidFill>
                  <a:srgbClr val="008800"/>
                </a:solidFill>
                <a:highlight>
                  <a:srgbClr val="EEEEEE"/>
                </a:highlight>
                <a:latin typeface="Arial"/>
                <a:ea typeface="Arial"/>
                <a:cs typeface="Arial"/>
                <a:sym typeface="Arial"/>
              </a:rPr>
              <a:t>"</a:t>
            </a: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&lt;/asp:Label&gt;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r>
              <a:rPr lang="en-IN" sz="1150">
                <a:solidFill>
                  <a:srgbClr val="000088"/>
                </a:solidFill>
                <a:highlight>
                  <a:srgbClr val="EEEEEE"/>
                </a:highlight>
                <a:latin typeface="Arial"/>
                <a:ea typeface="Arial"/>
                <a:cs typeface="Arial"/>
                <a:sym typeface="Arial"/>
              </a:rPr>
              <a:t>&lt;/ContentTemplate&gt;</a:t>
            </a:r>
            <a:endParaRPr sz="1150">
              <a:solidFill>
                <a:schemeClr val="dk1"/>
              </a:solidFill>
              <a:highlight>
                <a:srgbClr val="EEEEEE"/>
              </a:highlight>
              <a:latin typeface="Arial"/>
              <a:ea typeface="Arial"/>
              <a:cs typeface="Arial"/>
              <a:sym typeface="Arial"/>
            </a:endParaRPr>
          </a:p>
          <a:p>
            <a:pPr indent="0" lvl="0" marL="0" rtl="0" algn="l">
              <a:spcBef>
                <a:spcPts val="360"/>
              </a:spcBef>
              <a:spcAft>
                <a:spcPts val="0"/>
              </a:spcAft>
              <a:buNone/>
            </a:pPr>
            <a:r>
              <a:rPr lang="en-IN" sz="1150">
                <a:solidFill>
                  <a:schemeClr val="dk1"/>
                </a:solidFill>
                <a:highlight>
                  <a:srgbClr val="EEEEEE"/>
                </a:highlight>
                <a:latin typeface="Arial"/>
                <a:ea typeface="Arial"/>
                <a:cs typeface="Arial"/>
                <a:sym typeface="Arial"/>
              </a:rPr>
              <a:t>   </a:t>
            </a:r>
            <a:endParaRPr sz="1150">
              <a:solidFill>
                <a:schemeClr val="dk1"/>
              </a:solidFill>
              <a:highlight>
                <a:srgbClr val="EEEEEE"/>
              </a:highlight>
              <a:latin typeface="Arial"/>
              <a:ea typeface="Arial"/>
              <a:cs typeface="Arial"/>
              <a:sym typeface="Arial"/>
            </a:endParaRPr>
          </a:p>
          <a:p>
            <a:pPr indent="0" lvl="0" marL="25400" marR="25400" rtl="0" algn="l">
              <a:lnSpc>
                <a:spcPct val="115000"/>
              </a:lnSpc>
              <a:spcBef>
                <a:spcPts val="0"/>
              </a:spcBef>
              <a:spcAft>
                <a:spcPts val="0"/>
              </a:spcAft>
              <a:buClr>
                <a:schemeClr val="dk1"/>
              </a:buClr>
              <a:buSzPts val="1100"/>
              <a:buFont typeface="Arial"/>
              <a:buNone/>
            </a:pPr>
            <a:r>
              <a:rPr lang="en-IN" sz="1150">
                <a:solidFill>
                  <a:srgbClr val="000088"/>
                </a:solidFill>
                <a:highlight>
                  <a:srgbClr val="EEEEEE"/>
                </a:highlight>
                <a:latin typeface="Arial"/>
                <a:ea typeface="Arial"/>
                <a:cs typeface="Arial"/>
                <a:sym typeface="Arial"/>
              </a:rPr>
              <a:t>&lt;/asp:UpdatePanel&gt;</a:t>
            </a:r>
            <a:endParaRPr sz="1150">
              <a:solidFill>
                <a:srgbClr val="000088"/>
              </a:solidFill>
              <a:highlight>
                <a:srgbClr val="EEEEEE"/>
              </a:highlight>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13a9ba11011_0_47"/>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IN"/>
              <a:t>Web services</a:t>
            </a:r>
            <a:endParaRPr/>
          </a:p>
        </p:txBody>
      </p:sp>
      <p:sp>
        <p:nvSpPr>
          <p:cNvPr id="481" name="Google Shape;481;g13a9ba11011_0_47"/>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60000"/>
              </a:lnSpc>
              <a:spcBef>
                <a:spcPts val="600"/>
              </a:spcBef>
              <a:spcAft>
                <a:spcPts val="0"/>
              </a:spcAft>
              <a:buClr>
                <a:schemeClr val="dk1"/>
              </a:buClr>
              <a:buSzPts val="1100"/>
              <a:buFont typeface="Arial"/>
              <a:buNone/>
            </a:pPr>
            <a:r>
              <a:rPr lang="en-IN" sz="1500">
                <a:solidFill>
                  <a:schemeClr val="dk1"/>
                </a:solidFill>
                <a:latin typeface="Times New Roman"/>
                <a:ea typeface="Times New Roman"/>
                <a:cs typeface="Times New Roman"/>
                <a:sym typeface="Times New Roman"/>
              </a:rPr>
              <a:t>A web service is a web-based functionality accessed using the protocols of the web to be used by the web applications. There are three aspects of web service development:</a:t>
            </a:r>
            <a:endParaRPr sz="1500">
              <a:solidFill>
                <a:schemeClr val="dk1"/>
              </a:solidFill>
              <a:latin typeface="Times New Roman"/>
              <a:ea typeface="Times New Roman"/>
              <a:cs typeface="Times New Roman"/>
              <a:sym typeface="Times New Roman"/>
            </a:endParaRPr>
          </a:p>
          <a:p>
            <a:pPr indent="-323850" lvl="0" marL="889000" rtl="0" algn="l">
              <a:lnSpc>
                <a:spcPct val="150000"/>
              </a:lnSpc>
              <a:spcBef>
                <a:spcPts val="70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Creating the web service</a:t>
            </a:r>
            <a:endParaRPr sz="1500">
              <a:solidFill>
                <a:schemeClr val="dk1"/>
              </a:solidFill>
              <a:latin typeface="Times New Roman"/>
              <a:ea typeface="Times New Roman"/>
              <a:cs typeface="Times New Roman"/>
              <a:sym typeface="Times New Roman"/>
            </a:endParaRPr>
          </a:p>
          <a:p>
            <a:pPr indent="-323850" lvl="0" marL="889000" rtl="0" algn="l">
              <a:lnSpc>
                <a:spcPct val="150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Creating a proxy</a:t>
            </a:r>
            <a:endParaRPr sz="1500">
              <a:solidFill>
                <a:schemeClr val="dk1"/>
              </a:solidFill>
              <a:latin typeface="Times New Roman"/>
              <a:ea typeface="Times New Roman"/>
              <a:cs typeface="Times New Roman"/>
              <a:sym typeface="Times New Roman"/>
            </a:endParaRPr>
          </a:p>
          <a:p>
            <a:pPr indent="-323850" lvl="0" marL="889000" rtl="0" algn="l">
              <a:lnSpc>
                <a:spcPct val="150000"/>
              </a:lnSpc>
              <a:spcBef>
                <a:spcPts val="0"/>
              </a:spcBef>
              <a:spcAft>
                <a:spcPts val="0"/>
              </a:spcAft>
              <a:buClr>
                <a:schemeClr val="dk1"/>
              </a:buClr>
              <a:buSzPts val="1500"/>
              <a:buFont typeface="Times New Roman"/>
              <a:buChar char="●"/>
            </a:pPr>
            <a:r>
              <a:rPr lang="en-IN" sz="1500">
                <a:solidFill>
                  <a:schemeClr val="dk1"/>
                </a:solidFill>
                <a:latin typeface="Times New Roman"/>
                <a:ea typeface="Times New Roman"/>
                <a:cs typeface="Times New Roman"/>
                <a:sym typeface="Times New Roman"/>
              </a:rPr>
              <a:t>Consuming the web service</a:t>
            </a:r>
            <a:endParaRPr sz="1500">
              <a:solidFill>
                <a:schemeClr val="dk1"/>
              </a:solidFill>
              <a:latin typeface="Times New Roman"/>
              <a:ea typeface="Times New Roman"/>
              <a:cs typeface="Times New Roman"/>
              <a:sym typeface="Times New Roman"/>
            </a:endParaRPr>
          </a:p>
          <a:p>
            <a:pPr indent="0" lvl="0" marL="0" rtl="0" algn="l">
              <a:spcBef>
                <a:spcPts val="30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13a9ba11011_0_53"/>
          <p:cNvSpPr txBox="1"/>
          <p:nvPr>
            <p:ph idx="1" type="body"/>
          </p:nvPr>
        </p:nvSpPr>
        <p:spPr>
          <a:xfrm>
            <a:off x="1043500" y="1189824"/>
            <a:ext cx="6777300" cy="4642800"/>
          </a:xfrm>
          <a:prstGeom prst="rect">
            <a:avLst/>
          </a:prstGeom>
        </p:spPr>
        <p:txBody>
          <a:bodyPr anchorCtr="0" anchor="t" bIns="45700" lIns="91425" spcFirstLastPara="1" rIns="91425" wrap="square" tIns="45700">
            <a:normAutofit lnSpcReduction="20000"/>
          </a:bodyPr>
          <a:lstStyle/>
          <a:p>
            <a:pPr indent="0" lvl="0" marL="0" rtl="0" algn="l">
              <a:lnSpc>
                <a:spcPct val="125000"/>
              </a:lnSpc>
              <a:spcBef>
                <a:spcPts val="1800"/>
              </a:spcBef>
              <a:spcAft>
                <a:spcPts val="0"/>
              </a:spcAft>
              <a:buClr>
                <a:schemeClr val="dk1"/>
              </a:buClr>
              <a:buSzPts val="1100"/>
              <a:buFont typeface="Arial"/>
              <a:buNone/>
            </a:pPr>
            <a:r>
              <a:rPr lang="en-IN" sz="2104">
                <a:solidFill>
                  <a:schemeClr val="dk1"/>
                </a:solidFill>
                <a:latin typeface="Times New Roman"/>
                <a:ea typeface="Times New Roman"/>
                <a:cs typeface="Times New Roman"/>
                <a:sym typeface="Times New Roman"/>
              </a:rPr>
              <a:t>Creating a Web Service</a:t>
            </a:r>
            <a:endParaRPr sz="2104">
              <a:solidFill>
                <a:schemeClr val="dk1"/>
              </a:solidFill>
              <a:latin typeface="Times New Roman"/>
              <a:ea typeface="Times New Roman"/>
              <a:cs typeface="Times New Roman"/>
              <a:sym typeface="Times New Roman"/>
            </a:endParaRPr>
          </a:p>
          <a:p>
            <a:pPr indent="0" lvl="0" marL="0" rtl="0" algn="just">
              <a:lnSpc>
                <a:spcPct val="160000"/>
              </a:lnSpc>
              <a:spcBef>
                <a:spcPts val="600"/>
              </a:spcBef>
              <a:spcAft>
                <a:spcPts val="0"/>
              </a:spcAft>
              <a:buClr>
                <a:schemeClr val="dk1"/>
              </a:buClr>
              <a:buSzPts val="1100"/>
              <a:buFont typeface="Arial"/>
              <a:buNone/>
            </a:pPr>
            <a:r>
              <a:rPr lang="en-IN" sz="1554">
                <a:solidFill>
                  <a:schemeClr val="dk1"/>
                </a:solidFill>
                <a:latin typeface="Times New Roman"/>
                <a:ea typeface="Times New Roman"/>
                <a:cs typeface="Times New Roman"/>
                <a:sym typeface="Times New Roman"/>
              </a:rPr>
              <a:t>A web service is a web application which is basically a class consisting of methods that could be used by other applications. It also follows a code-behind architecture such as the ASP.NET web pages, although it does not have a user interface.</a:t>
            </a:r>
            <a:endParaRPr sz="1554">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Clr>
                <a:schemeClr val="dk1"/>
              </a:buClr>
              <a:buSzPts val="1100"/>
              <a:buFont typeface="Arial"/>
              <a:buNone/>
            </a:pPr>
            <a:r>
              <a:rPr lang="en-IN" sz="1554">
                <a:solidFill>
                  <a:schemeClr val="dk1"/>
                </a:solidFill>
                <a:latin typeface="Times New Roman"/>
                <a:ea typeface="Times New Roman"/>
                <a:cs typeface="Times New Roman"/>
                <a:sym typeface="Times New Roman"/>
              </a:rPr>
              <a:t>To understand the concept let us create a web service to provide stock price information. The clients can query about the name and price of a stock based on the stock symbol. To keep this example simple, the values are hardcoded in a two-dimensional array. This web service has three methods:</a:t>
            </a:r>
            <a:endParaRPr sz="1554">
              <a:solidFill>
                <a:schemeClr val="dk1"/>
              </a:solidFill>
              <a:latin typeface="Times New Roman"/>
              <a:ea typeface="Times New Roman"/>
              <a:cs typeface="Times New Roman"/>
              <a:sym typeface="Times New Roman"/>
            </a:endParaRPr>
          </a:p>
          <a:p>
            <a:pPr indent="-327329" lvl="0" marL="889000" rtl="0" algn="l">
              <a:lnSpc>
                <a:spcPct val="150000"/>
              </a:lnSpc>
              <a:spcBef>
                <a:spcPts val="700"/>
              </a:spcBef>
              <a:spcAft>
                <a:spcPts val="0"/>
              </a:spcAft>
              <a:buClr>
                <a:schemeClr val="dk1"/>
              </a:buClr>
              <a:buSzPts val="1555"/>
              <a:buFont typeface="Times New Roman"/>
              <a:buChar char="●"/>
            </a:pPr>
            <a:r>
              <a:rPr lang="en-IN" sz="1554">
                <a:solidFill>
                  <a:schemeClr val="dk1"/>
                </a:solidFill>
                <a:latin typeface="Times New Roman"/>
                <a:ea typeface="Times New Roman"/>
                <a:cs typeface="Times New Roman"/>
                <a:sym typeface="Times New Roman"/>
              </a:rPr>
              <a:t>A default HelloWorld method</a:t>
            </a:r>
            <a:endParaRPr sz="1554">
              <a:solidFill>
                <a:schemeClr val="dk1"/>
              </a:solidFill>
              <a:latin typeface="Times New Roman"/>
              <a:ea typeface="Times New Roman"/>
              <a:cs typeface="Times New Roman"/>
              <a:sym typeface="Times New Roman"/>
            </a:endParaRPr>
          </a:p>
          <a:p>
            <a:pPr indent="-327329" lvl="0" marL="889000" rtl="0" algn="l">
              <a:lnSpc>
                <a:spcPct val="150000"/>
              </a:lnSpc>
              <a:spcBef>
                <a:spcPts val="0"/>
              </a:spcBef>
              <a:spcAft>
                <a:spcPts val="0"/>
              </a:spcAft>
              <a:buClr>
                <a:schemeClr val="dk1"/>
              </a:buClr>
              <a:buSzPts val="1555"/>
              <a:buFont typeface="Times New Roman"/>
              <a:buChar char="●"/>
            </a:pPr>
            <a:r>
              <a:rPr lang="en-IN" sz="1554">
                <a:solidFill>
                  <a:schemeClr val="dk1"/>
                </a:solidFill>
                <a:latin typeface="Times New Roman"/>
                <a:ea typeface="Times New Roman"/>
                <a:cs typeface="Times New Roman"/>
                <a:sym typeface="Times New Roman"/>
              </a:rPr>
              <a:t>A GetName Method</a:t>
            </a:r>
            <a:endParaRPr sz="1554">
              <a:solidFill>
                <a:schemeClr val="dk1"/>
              </a:solidFill>
              <a:latin typeface="Times New Roman"/>
              <a:ea typeface="Times New Roman"/>
              <a:cs typeface="Times New Roman"/>
              <a:sym typeface="Times New Roman"/>
            </a:endParaRPr>
          </a:p>
          <a:p>
            <a:pPr indent="-327329" lvl="0" marL="889000" rtl="0" algn="l">
              <a:lnSpc>
                <a:spcPct val="150000"/>
              </a:lnSpc>
              <a:spcBef>
                <a:spcPts val="0"/>
              </a:spcBef>
              <a:spcAft>
                <a:spcPts val="0"/>
              </a:spcAft>
              <a:buClr>
                <a:schemeClr val="dk1"/>
              </a:buClr>
              <a:buSzPts val="1555"/>
              <a:buFont typeface="Times New Roman"/>
              <a:buChar char="●"/>
            </a:pPr>
            <a:r>
              <a:rPr lang="en-IN" sz="1554">
                <a:solidFill>
                  <a:schemeClr val="dk1"/>
                </a:solidFill>
                <a:latin typeface="Times New Roman"/>
                <a:ea typeface="Times New Roman"/>
                <a:cs typeface="Times New Roman"/>
                <a:sym typeface="Times New Roman"/>
              </a:rPr>
              <a:t>A GetPrice Method</a:t>
            </a:r>
            <a:endParaRPr sz="1554">
              <a:solidFill>
                <a:schemeClr val="dk1"/>
              </a:solidFill>
              <a:latin typeface="Times New Roman"/>
              <a:ea typeface="Times New Roman"/>
              <a:cs typeface="Times New Roman"/>
              <a:sym typeface="Times New Roman"/>
            </a:endParaRPr>
          </a:p>
          <a:p>
            <a:pPr indent="0" lvl="0" marL="0" rtl="0" algn="l">
              <a:spcBef>
                <a:spcPts val="30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13a9ba11011_0_59"/>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492" name="Google Shape;492;g13a9ba11011_0_59"/>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fontScale="92500"/>
          </a:bodyPr>
          <a:lstStyle/>
          <a:p>
            <a:pPr indent="0" lvl="0" marL="0" rtl="0" algn="just">
              <a:lnSpc>
                <a:spcPct val="160000"/>
              </a:lnSpc>
              <a:spcBef>
                <a:spcPts val="600"/>
              </a:spcBef>
              <a:spcAft>
                <a:spcPts val="0"/>
              </a:spcAft>
              <a:buClr>
                <a:schemeClr val="dk1"/>
              </a:buClr>
              <a:buSzPct val="91666"/>
              <a:buFont typeface="Arial"/>
              <a:buNone/>
            </a:pPr>
            <a:r>
              <a:rPr lang="en-IN" sz="1200">
                <a:solidFill>
                  <a:schemeClr val="dk1"/>
                </a:solidFill>
                <a:latin typeface="Nunito"/>
                <a:ea typeface="Nunito"/>
                <a:cs typeface="Nunito"/>
                <a:sym typeface="Nunito"/>
              </a:rPr>
              <a:t>Take the following steps to create the web service:</a:t>
            </a:r>
            <a:endParaRPr sz="1200">
              <a:solidFill>
                <a:schemeClr val="dk1"/>
              </a:solidFill>
              <a:latin typeface="Nunito"/>
              <a:ea typeface="Nunito"/>
              <a:cs typeface="Nunito"/>
              <a:sym typeface="Nunito"/>
            </a:endParaRPr>
          </a:p>
          <a:p>
            <a:pPr indent="0" lvl="0" marL="0" rtl="0" algn="just">
              <a:lnSpc>
                <a:spcPct val="160000"/>
              </a:lnSpc>
              <a:spcBef>
                <a:spcPts val="700"/>
              </a:spcBef>
              <a:spcAft>
                <a:spcPts val="0"/>
              </a:spcAft>
              <a:buClr>
                <a:schemeClr val="dk1"/>
              </a:buClr>
              <a:buSzPct val="91666"/>
              <a:buFont typeface="Arial"/>
              <a:buNone/>
            </a:pPr>
            <a:r>
              <a:rPr lang="en-IN" sz="1200">
                <a:solidFill>
                  <a:schemeClr val="dk1"/>
                </a:solidFill>
                <a:latin typeface="Nunito"/>
                <a:ea typeface="Nunito"/>
                <a:cs typeface="Nunito"/>
                <a:sym typeface="Nunito"/>
              </a:rPr>
              <a:t>Step (1) : Select File -&gt; New -&gt; Web Site in Visual Studio, and then select ASP.NET Web Service.</a:t>
            </a:r>
            <a:endParaRPr sz="1200">
              <a:solidFill>
                <a:schemeClr val="dk1"/>
              </a:solidFill>
              <a:latin typeface="Nunito"/>
              <a:ea typeface="Nunito"/>
              <a:cs typeface="Nunito"/>
              <a:sym typeface="Nunito"/>
            </a:endParaRPr>
          </a:p>
          <a:p>
            <a:pPr indent="0" lvl="0" marL="0" rtl="0" algn="just">
              <a:lnSpc>
                <a:spcPct val="160000"/>
              </a:lnSpc>
              <a:spcBef>
                <a:spcPts val="700"/>
              </a:spcBef>
              <a:spcAft>
                <a:spcPts val="0"/>
              </a:spcAft>
              <a:buClr>
                <a:schemeClr val="dk1"/>
              </a:buClr>
              <a:buSzPct val="91666"/>
              <a:buFont typeface="Arial"/>
              <a:buNone/>
            </a:pPr>
            <a:r>
              <a:rPr lang="en-IN" sz="1200">
                <a:solidFill>
                  <a:schemeClr val="dk1"/>
                </a:solidFill>
                <a:latin typeface="Nunito"/>
                <a:ea typeface="Nunito"/>
                <a:cs typeface="Nunito"/>
                <a:sym typeface="Nunito"/>
              </a:rPr>
              <a:t>Step (2) : A web service file called Service.asmx and its code behind file, Service.cs is created in the App_Code directory of the project.</a:t>
            </a:r>
            <a:endParaRPr sz="1200">
              <a:solidFill>
                <a:schemeClr val="dk1"/>
              </a:solidFill>
              <a:latin typeface="Nunito"/>
              <a:ea typeface="Nunito"/>
              <a:cs typeface="Nunito"/>
              <a:sym typeface="Nunito"/>
            </a:endParaRPr>
          </a:p>
          <a:p>
            <a:pPr indent="0" lvl="0" marL="0" rtl="0" algn="just">
              <a:lnSpc>
                <a:spcPct val="160000"/>
              </a:lnSpc>
              <a:spcBef>
                <a:spcPts val="700"/>
              </a:spcBef>
              <a:spcAft>
                <a:spcPts val="0"/>
              </a:spcAft>
              <a:buClr>
                <a:schemeClr val="dk1"/>
              </a:buClr>
              <a:buSzPct val="91666"/>
              <a:buFont typeface="Arial"/>
              <a:buNone/>
            </a:pPr>
            <a:r>
              <a:rPr lang="en-IN" sz="1200">
                <a:solidFill>
                  <a:schemeClr val="dk1"/>
                </a:solidFill>
                <a:latin typeface="Nunito"/>
                <a:ea typeface="Nunito"/>
                <a:cs typeface="Nunito"/>
                <a:sym typeface="Nunito"/>
              </a:rPr>
              <a:t>Step (3) : Change the names of the files to StockService.asmx and StockService.cs.</a:t>
            </a:r>
            <a:endParaRPr sz="1200">
              <a:solidFill>
                <a:schemeClr val="dk1"/>
              </a:solidFill>
              <a:latin typeface="Nunito"/>
              <a:ea typeface="Nunito"/>
              <a:cs typeface="Nunito"/>
              <a:sym typeface="Nunito"/>
            </a:endParaRPr>
          </a:p>
          <a:p>
            <a:pPr indent="0" lvl="0" marL="0" rtl="0" algn="just">
              <a:lnSpc>
                <a:spcPct val="160000"/>
              </a:lnSpc>
              <a:spcBef>
                <a:spcPts val="700"/>
              </a:spcBef>
              <a:spcAft>
                <a:spcPts val="0"/>
              </a:spcAft>
              <a:buClr>
                <a:schemeClr val="dk1"/>
              </a:buClr>
              <a:buSzPct val="91666"/>
              <a:buFont typeface="Arial"/>
              <a:buNone/>
            </a:pPr>
            <a:r>
              <a:rPr lang="en-IN" sz="1200">
                <a:solidFill>
                  <a:schemeClr val="dk1"/>
                </a:solidFill>
                <a:latin typeface="Nunito"/>
                <a:ea typeface="Nunito"/>
                <a:cs typeface="Nunito"/>
                <a:sym typeface="Nunito"/>
              </a:rPr>
              <a:t>Step (4) : The .asmx file has simply a WebService directive on it:</a:t>
            </a:r>
            <a:endParaRPr sz="1200">
              <a:solidFill>
                <a:schemeClr val="dk1"/>
              </a:solidFill>
              <a:latin typeface="Nunito"/>
              <a:ea typeface="Nunito"/>
              <a:cs typeface="Nunito"/>
              <a:sym typeface="Nunito"/>
            </a:endParaRPr>
          </a:p>
          <a:p>
            <a:pPr indent="0" lvl="0" marL="25400" marR="25400" rtl="0" algn="l">
              <a:lnSpc>
                <a:spcPct val="115000"/>
              </a:lnSpc>
              <a:spcBef>
                <a:spcPts val="700"/>
              </a:spcBef>
              <a:spcAft>
                <a:spcPts val="0"/>
              </a:spcAft>
              <a:buClr>
                <a:schemeClr val="dk1"/>
              </a:buClr>
              <a:buSzPct val="95652"/>
              <a:buFont typeface="Arial"/>
              <a:buNone/>
            </a:pPr>
            <a:r>
              <a:rPr lang="en-IN" sz="1150">
                <a:solidFill>
                  <a:srgbClr val="666600"/>
                </a:solidFill>
                <a:highlight>
                  <a:srgbClr val="EEEEEE"/>
                </a:highlight>
                <a:latin typeface="Arial"/>
                <a:ea typeface="Arial"/>
                <a:cs typeface="Arial"/>
                <a:sym typeface="Arial"/>
              </a:rPr>
              <a:t>&lt;%@</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WebService</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Language</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"C#"</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CodeBehind</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"~/App_Code/StockService.cs"</a:t>
            </a:r>
            <a:r>
              <a:rPr lang="en-IN" sz="1150">
                <a:solidFill>
                  <a:schemeClr val="dk1"/>
                </a:solidFill>
                <a:highlight>
                  <a:srgbClr val="EEEEEE"/>
                </a:highlight>
                <a:latin typeface="Arial"/>
                <a:ea typeface="Arial"/>
                <a:cs typeface="Arial"/>
                <a:sym typeface="Arial"/>
              </a:rPr>
              <a:t> </a:t>
            </a:r>
            <a:r>
              <a:rPr lang="en-IN" sz="1150">
                <a:solidFill>
                  <a:srgbClr val="660066"/>
                </a:solidFill>
                <a:highlight>
                  <a:srgbClr val="EEEEEE"/>
                </a:highlight>
                <a:latin typeface="Arial"/>
                <a:ea typeface="Arial"/>
                <a:cs typeface="Arial"/>
                <a:sym typeface="Arial"/>
              </a:rPr>
              <a:t>Class</a:t>
            </a:r>
            <a:r>
              <a:rPr lang="en-IN" sz="1150">
                <a:solidFill>
                  <a:srgbClr val="666600"/>
                </a:solidFill>
                <a:highlight>
                  <a:srgbClr val="EEEEEE"/>
                </a:highlight>
                <a:latin typeface="Arial"/>
                <a:ea typeface="Arial"/>
                <a:cs typeface="Arial"/>
                <a:sym typeface="Arial"/>
              </a:rPr>
              <a:t>=</a:t>
            </a:r>
            <a:r>
              <a:rPr lang="en-IN" sz="1150">
                <a:solidFill>
                  <a:srgbClr val="008800"/>
                </a:solidFill>
                <a:highlight>
                  <a:srgbClr val="EEEEEE"/>
                </a:highlight>
                <a:latin typeface="Arial"/>
                <a:ea typeface="Arial"/>
                <a:cs typeface="Arial"/>
                <a:sym typeface="Arial"/>
              </a:rPr>
              <a:t>"StockService"</a:t>
            </a:r>
            <a:r>
              <a:rPr lang="en-IN" sz="1150">
                <a:solidFill>
                  <a:schemeClr val="dk1"/>
                </a:solidFill>
                <a:highlight>
                  <a:srgbClr val="EEEEEE"/>
                </a:highlight>
                <a:latin typeface="Arial"/>
                <a:ea typeface="Arial"/>
                <a:cs typeface="Arial"/>
                <a:sym typeface="Arial"/>
              </a:rPr>
              <a:t> %&gt;</a:t>
            </a:r>
            <a:endParaRPr sz="1150">
              <a:solidFill>
                <a:schemeClr val="dk1"/>
              </a:solidFill>
              <a:highlight>
                <a:srgbClr val="EEEEEE"/>
              </a:highlight>
              <a:latin typeface="Arial"/>
              <a:ea typeface="Arial"/>
              <a:cs typeface="Arial"/>
              <a:sym typeface="Arial"/>
            </a:endParaRPr>
          </a:p>
          <a:p>
            <a:pPr indent="0" lvl="0" marL="0" rtl="0" algn="just">
              <a:lnSpc>
                <a:spcPct val="160000"/>
              </a:lnSpc>
              <a:spcBef>
                <a:spcPts val="600"/>
              </a:spcBef>
              <a:spcAft>
                <a:spcPts val="0"/>
              </a:spcAft>
              <a:buClr>
                <a:schemeClr val="dk1"/>
              </a:buClr>
              <a:buSzPct val="91666"/>
              <a:buFont typeface="Arial"/>
              <a:buNone/>
            </a:pPr>
            <a:r>
              <a:rPr lang="en-IN" sz="1200">
                <a:solidFill>
                  <a:schemeClr val="dk1"/>
                </a:solidFill>
                <a:latin typeface="Nunito"/>
                <a:ea typeface="Nunito"/>
                <a:cs typeface="Nunito"/>
                <a:sym typeface="Nunito"/>
              </a:rPr>
              <a:t>Step (5) : Open the StockService.cs file, the code generated in it is the basic Hello World service. The default web service code behind file looks like the following:</a:t>
            </a:r>
            <a:endParaRPr sz="1200">
              <a:solidFill>
                <a:schemeClr val="dk1"/>
              </a:solidFill>
              <a:latin typeface="Nunito"/>
              <a:ea typeface="Nunito"/>
              <a:cs typeface="Nunito"/>
              <a:sym typeface="Nunito"/>
            </a:endParaRPr>
          </a:p>
          <a:p>
            <a:pPr indent="0" lvl="0" marL="0" rtl="0" algn="l">
              <a:spcBef>
                <a:spcPts val="7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13a9ba11011_0_78"/>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498" name="Google Shape;498;g13a9ba11011_0_78"/>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IN" sz="1200">
                <a:solidFill>
                  <a:schemeClr val="dk1"/>
                </a:solidFill>
                <a:highlight>
                  <a:srgbClr val="FFFFFF"/>
                </a:highlight>
                <a:latin typeface="Nunito"/>
                <a:ea typeface="Nunito"/>
                <a:cs typeface="Nunito"/>
                <a:sym typeface="Nunito"/>
              </a:rPr>
              <a:t>Step (6) : Change the code behind file to add the two dimensional array of strings for stock symbol, name and price and two web methods for getting the stock information.</a:t>
            </a:r>
            <a:endParaRPr sz="1200">
              <a:solidFill>
                <a:schemeClr val="dk1"/>
              </a:solidFill>
              <a:highlight>
                <a:srgbClr val="FFFFFF"/>
              </a:highlight>
              <a:latin typeface="Nunito"/>
              <a:ea typeface="Nunito"/>
              <a:cs typeface="Nunito"/>
              <a:sym typeface="Nunito"/>
            </a:endParaRPr>
          </a:p>
          <a:p>
            <a:pPr indent="0" lvl="0" marL="0" rtl="0" algn="l">
              <a:spcBef>
                <a:spcPts val="360"/>
              </a:spcBef>
              <a:spcAft>
                <a:spcPts val="0"/>
              </a:spcAft>
              <a:buNone/>
            </a:pPr>
            <a:r>
              <a:rPr lang="en-IN" sz="1200">
                <a:solidFill>
                  <a:schemeClr val="dk1"/>
                </a:solidFill>
                <a:highlight>
                  <a:srgbClr val="FFFFFF"/>
                </a:highlight>
                <a:latin typeface="Nunito"/>
                <a:ea typeface="Nunito"/>
                <a:cs typeface="Nunito"/>
                <a:sym typeface="Nunito"/>
              </a:rPr>
              <a:t>Step (7) : Running the web service application gives a web service test page, which allows testing the service methods.</a:t>
            </a:r>
            <a:endParaRPr sz="1200">
              <a:solidFill>
                <a:schemeClr val="dk1"/>
              </a:solidFill>
              <a:highlight>
                <a:srgbClr val="FFFFFF"/>
              </a:highlight>
              <a:latin typeface="Nunito"/>
              <a:ea typeface="Nunito"/>
              <a:cs typeface="Nunito"/>
              <a:sym typeface="Nunito"/>
            </a:endParaRPr>
          </a:p>
          <a:p>
            <a:pPr indent="0" lvl="0" marL="0" rtl="0" algn="l">
              <a:spcBef>
                <a:spcPts val="360"/>
              </a:spcBef>
              <a:spcAft>
                <a:spcPts val="0"/>
              </a:spcAft>
              <a:buNone/>
            </a:pPr>
            <a:r>
              <a:rPr lang="en-IN" sz="1200">
                <a:solidFill>
                  <a:schemeClr val="dk1"/>
                </a:solidFill>
                <a:highlight>
                  <a:srgbClr val="FFFFFF"/>
                </a:highlight>
                <a:latin typeface="Nunito"/>
                <a:ea typeface="Nunito"/>
                <a:cs typeface="Nunito"/>
                <a:sym typeface="Nunito"/>
              </a:rPr>
              <a:t>Step (8) : Click on a method name, and check whether it runs properly.</a:t>
            </a:r>
            <a:endParaRPr sz="1200">
              <a:solidFill>
                <a:schemeClr val="dk1"/>
              </a:solidFill>
              <a:highlight>
                <a:srgbClr val="FFFFFF"/>
              </a:highlight>
              <a:latin typeface="Nunito"/>
              <a:ea typeface="Nunito"/>
              <a:cs typeface="Nunito"/>
              <a:sym typeface="Nunito"/>
            </a:endParaRPr>
          </a:p>
          <a:p>
            <a:pPr indent="0" lvl="0" marL="0" rtl="0" algn="l">
              <a:spcBef>
                <a:spcPts val="360"/>
              </a:spcBef>
              <a:spcAft>
                <a:spcPts val="0"/>
              </a:spcAft>
              <a:buNone/>
            </a:pPr>
            <a:r>
              <a:rPr lang="en-IN" sz="1200">
                <a:solidFill>
                  <a:schemeClr val="dk1"/>
                </a:solidFill>
                <a:highlight>
                  <a:srgbClr val="FFFFFF"/>
                </a:highlight>
                <a:latin typeface="Nunito"/>
                <a:ea typeface="Nunito"/>
                <a:cs typeface="Nunito"/>
                <a:sym typeface="Nunito"/>
              </a:rPr>
              <a:t>Step (9) : For testing the GetName method, provide one of the stock symbols, which are hard coded, it returns the name of the stock</a:t>
            </a:r>
            <a:endParaRPr sz="1200">
              <a:solidFill>
                <a:schemeClr val="dk1"/>
              </a:solidFill>
              <a:highlight>
                <a:srgbClr val="FFFFFF"/>
              </a:highlight>
              <a:latin typeface="Nunito"/>
              <a:ea typeface="Nunito"/>
              <a:cs typeface="Nunito"/>
              <a:sym typeface="Nuni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13a9ba11011_0_87"/>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lnSpc>
                <a:spcPct val="125000"/>
              </a:lnSpc>
              <a:spcBef>
                <a:spcPts val="1800"/>
              </a:spcBef>
              <a:spcAft>
                <a:spcPts val="400"/>
              </a:spcAft>
              <a:buClr>
                <a:schemeClr val="dk1"/>
              </a:buClr>
              <a:buSzPts val="1100"/>
              <a:buFont typeface="Arial"/>
              <a:buNone/>
            </a:pPr>
            <a:r>
              <a:rPr lang="en-IN" sz="1750">
                <a:solidFill>
                  <a:schemeClr val="dk1"/>
                </a:solidFill>
                <a:latin typeface="Arial"/>
                <a:ea typeface="Arial"/>
                <a:cs typeface="Arial"/>
                <a:sym typeface="Arial"/>
              </a:rPr>
              <a:t>Consuming the Web Service</a:t>
            </a:r>
            <a:endParaRPr/>
          </a:p>
        </p:txBody>
      </p:sp>
      <p:sp>
        <p:nvSpPr>
          <p:cNvPr id="504" name="Google Shape;504;g13a9ba11011_0_87"/>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lnSpc>
                <a:spcPct val="125000"/>
              </a:lnSpc>
              <a:spcBef>
                <a:spcPts val="1800"/>
              </a:spcBef>
              <a:spcAft>
                <a:spcPts val="0"/>
              </a:spcAft>
              <a:buClr>
                <a:schemeClr val="dk1"/>
              </a:buClr>
              <a:buSzPts val="1100"/>
              <a:buFont typeface="Arial"/>
              <a:buNone/>
            </a:pPr>
            <a:r>
              <a:t/>
            </a:r>
            <a:endParaRPr sz="1950">
              <a:solidFill>
                <a:schemeClr val="dk1"/>
              </a:solidFill>
              <a:latin typeface="Times New Roman"/>
              <a:ea typeface="Times New Roman"/>
              <a:cs typeface="Times New Roman"/>
              <a:sym typeface="Times New Roman"/>
            </a:endParaRPr>
          </a:p>
          <a:p>
            <a:pPr indent="0" lvl="0" marL="0" rtl="0" algn="just">
              <a:lnSpc>
                <a:spcPct val="160000"/>
              </a:lnSpc>
              <a:spcBef>
                <a:spcPts val="600"/>
              </a:spcBef>
              <a:spcAft>
                <a:spcPts val="0"/>
              </a:spcAft>
              <a:buNone/>
            </a:pPr>
            <a:r>
              <a:rPr lang="en-IN" sz="1400">
                <a:solidFill>
                  <a:schemeClr val="dk1"/>
                </a:solidFill>
                <a:latin typeface="Times New Roman"/>
                <a:ea typeface="Times New Roman"/>
                <a:cs typeface="Times New Roman"/>
                <a:sym typeface="Times New Roman"/>
              </a:rPr>
              <a:t>For using the web service, create a web site under the same solution. This could be done by right clicking on the Solution name in the Solution Explorer. T</a:t>
            </a:r>
            <a:endParaRPr sz="1400">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Clr>
                <a:schemeClr val="dk1"/>
              </a:buClr>
              <a:buSzPts val="1100"/>
              <a:buFont typeface="Arial"/>
              <a:buNone/>
            </a:pPr>
            <a:r>
              <a:rPr lang="en-IN" sz="1400">
                <a:solidFill>
                  <a:schemeClr val="dk1"/>
                </a:solidFill>
                <a:latin typeface="Times New Roman"/>
                <a:ea typeface="Times New Roman"/>
                <a:cs typeface="Times New Roman"/>
                <a:sym typeface="Times New Roman"/>
              </a:rPr>
              <a:t>he web page calling the web service should have a label control to display the returned results and two button controls one for post back and another for calling the service.</a:t>
            </a:r>
            <a:endParaRPr sz="1400">
              <a:solidFill>
                <a:schemeClr val="dk1"/>
              </a:solidFill>
              <a:latin typeface="Times New Roman"/>
              <a:ea typeface="Times New Roman"/>
              <a:cs typeface="Times New Roman"/>
              <a:sym typeface="Times New Roman"/>
            </a:endParaRPr>
          </a:p>
          <a:p>
            <a:pPr indent="0" lvl="0" marL="0" rtl="0" algn="l">
              <a:spcBef>
                <a:spcPts val="7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13a9ba11011_0_93"/>
          <p:cNvSpPr txBox="1"/>
          <p:nvPr>
            <p:ph type="title"/>
          </p:nvPr>
        </p:nvSpPr>
        <p:spPr>
          <a:xfrm>
            <a:off x="1043490" y="1027664"/>
            <a:ext cx="7024800" cy="1143000"/>
          </a:xfrm>
          <a:prstGeom prst="rect">
            <a:avLst/>
          </a:prstGeom>
        </p:spPr>
        <p:txBody>
          <a:bodyPr anchorCtr="0" anchor="b" bIns="45700" lIns="91425" spcFirstLastPara="1" rIns="91425" wrap="square" tIns="45700">
            <a:normAutofit fontScale="90000"/>
          </a:bodyPr>
          <a:lstStyle/>
          <a:p>
            <a:pPr indent="0" lvl="0" marL="0" rtl="0" algn="l">
              <a:lnSpc>
                <a:spcPct val="125000"/>
              </a:lnSpc>
              <a:spcBef>
                <a:spcPts val="1800"/>
              </a:spcBef>
              <a:spcAft>
                <a:spcPts val="0"/>
              </a:spcAft>
              <a:buClr>
                <a:schemeClr val="dk1"/>
              </a:buClr>
              <a:buSzPct val="39053"/>
              <a:buFont typeface="Arial"/>
              <a:buNone/>
            </a:pPr>
            <a:r>
              <a:rPr lang="en-IN" sz="2816">
                <a:solidFill>
                  <a:schemeClr val="dk1"/>
                </a:solidFill>
                <a:latin typeface="Arial"/>
                <a:ea typeface="Arial"/>
                <a:cs typeface="Arial"/>
                <a:sym typeface="Arial"/>
              </a:rPr>
              <a:t>Creating the Proxy</a:t>
            </a:r>
            <a:endParaRPr sz="2816">
              <a:solidFill>
                <a:schemeClr val="dk1"/>
              </a:solidFill>
              <a:latin typeface="Arial"/>
              <a:ea typeface="Arial"/>
              <a:cs typeface="Arial"/>
              <a:sym typeface="Arial"/>
            </a:endParaRPr>
          </a:p>
          <a:p>
            <a:pPr indent="0" lvl="0" marL="0" rtl="0" algn="l">
              <a:spcBef>
                <a:spcPts val="400"/>
              </a:spcBef>
              <a:spcAft>
                <a:spcPts val="0"/>
              </a:spcAft>
              <a:buNone/>
            </a:pPr>
            <a:r>
              <a:t/>
            </a:r>
            <a:endParaRPr/>
          </a:p>
        </p:txBody>
      </p:sp>
      <p:sp>
        <p:nvSpPr>
          <p:cNvPr id="510" name="Google Shape;510;g13a9ba11011_0_93"/>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IN" sz="1600">
                <a:solidFill>
                  <a:schemeClr val="dk1"/>
                </a:solidFill>
                <a:highlight>
                  <a:srgbClr val="FFFFFF"/>
                </a:highlight>
                <a:latin typeface="Times New Roman"/>
                <a:ea typeface="Times New Roman"/>
                <a:cs typeface="Times New Roman"/>
                <a:sym typeface="Times New Roman"/>
              </a:rPr>
              <a:t>A proxy is a stand-in for the web service codes. Before using the web service, a proxy must be created. The proxy is registered with the client application. Then the client application makes the calls to the web service as it were using a local method.</a:t>
            </a:r>
            <a:endParaRPr sz="1600">
              <a:solidFill>
                <a:schemeClr val="dk1"/>
              </a:solidFill>
              <a:highlight>
                <a:srgbClr val="FFFFFF"/>
              </a:highlight>
              <a:latin typeface="Times New Roman"/>
              <a:ea typeface="Times New Roman"/>
              <a:cs typeface="Times New Roman"/>
              <a:sym typeface="Times New Roman"/>
            </a:endParaRPr>
          </a:p>
          <a:p>
            <a:pPr indent="0" lvl="0" marL="0" rtl="0" algn="l">
              <a:spcBef>
                <a:spcPts val="360"/>
              </a:spcBef>
              <a:spcAft>
                <a:spcPts val="0"/>
              </a:spcAft>
              <a:buNone/>
            </a:pPr>
            <a:r>
              <a:rPr lang="en-IN" sz="1600">
                <a:solidFill>
                  <a:schemeClr val="dk1"/>
                </a:solidFill>
                <a:highlight>
                  <a:srgbClr val="FFFFFF"/>
                </a:highlight>
                <a:latin typeface="Times New Roman"/>
                <a:ea typeface="Times New Roman"/>
                <a:cs typeface="Times New Roman"/>
                <a:sym typeface="Times New Roman"/>
              </a:rPr>
              <a:t>The proxy takes the calls, wraps it in proper format and sends it as a SOAP request to the server. SOAP stands for Simple Object Access Protocol. This protocol is used for exchanging web service data.</a:t>
            </a:r>
            <a:endParaRPr sz="1600">
              <a:solidFill>
                <a:schemeClr val="dk1"/>
              </a:solidFill>
              <a:highlight>
                <a:srgbClr val="FFFFFF"/>
              </a:highlight>
              <a:latin typeface="Times New Roman"/>
              <a:ea typeface="Times New Roman"/>
              <a:cs typeface="Times New Roman"/>
              <a:sym typeface="Times New Roman"/>
            </a:endParaRPr>
          </a:p>
          <a:p>
            <a:pPr indent="0" lvl="0" marL="0" rtl="0" algn="l">
              <a:spcBef>
                <a:spcPts val="360"/>
              </a:spcBef>
              <a:spcAft>
                <a:spcPts val="0"/>
              </a:spcAft>
              <a:buNone/>
            </a:pPr>
            <a:r>
              <a:rPr lang="en-IN" sz="1600">
                <a:solidFill>
                  <a:schemeClr val="dk1"/>
                </a:solidFill>
                <a:highlight>
                  <a:srgbClr val="FFFFFF"/>
                </a:highlight>
                <a:latin typeface="Times New Roman"/>
                <a:ea typeface="Times New Roman"/>
                <a:cs typeface="Times New Roman"/>
                <a:sym typeface="Times New Roman"/>
              </a:rPr>
              <a:t>When the server returns the SOAP package to the client, the proxy decodes everything and presents it to the client application.</a:t>
            </a:r>
            <a:endParaRPr sz="1600">
              <a:solidFill>
                <a:schemeClr val="dk1"/>
              </a:solidFill>
              <a:highlight>
                <a:srgbClr val="FFFFFF"/>
              </a:highlight>
              <a:latin typeface="Times New Roman"/>
              <a:ea typeface="Times New Roman"/>
              <a:cs typeface="Times New Roman"/>
              <a:sym typeface="Times New Roman"/>
            </a:endParaRPr>
          </a:p>
          <a:p>
            <a:pPr indent="0" lvl="0" marL="0" rtl="0" algn="l">
              <a:spcBef>
                <a:spcPts val="360"/>
              </a:spcBef>
              <a:spcAft>
                <a:spcPts val="0"/>
              </a:spcAft>
              <a:buNone/>
            </a:pPr>
            <a:r>
              <a:rPr lang="en-IN" sz="1600">
                <a:solidFill>
                  <a:schemeClr val="dk1"/>
                </a:solidFill>
                <a:highlight>
                  <a:srgbClr val="FFFFFF"/>
                </a:highlight>
                <a:latin typeface="Times New Roman"/>
                <a:ea typeface="Times New Roman"/>
                <a:cs typeface="Times New Roman"/>
                <a:sym typeface="Times New Roman"/>
              </a:rPr>
              <a:t>Before calling the web service using the </a:t>
            </a:r>
            <a:r>
              <a:rPr lang="en-IN" sz="1600">
                <a:solidFill>
                  <a:schemeClr val="dk1"/>
                </a:solidFill>
                <a:highlight>
                  <a:srgbClr val="FFFFFF"/>
                </a:highlight>
                <a:latin typeface="Times New Roman"/>
                <a:ea typeface="Times New Roman"/>
                <a:cs typeface="Times New Roman"/>
                <a:sym typeface="Times New Roman"/>
              </a:rPr>
              <a:t>btnservice</a:t>
            </a:r>
            <a:r>
              <a:rPr lang="en-IN" sz="1600">
                <a:solidFill>
                  <a:schemeClr val="dk1"/>
                </a:solidFill>
                <a:highlight>
                  <a:srgbClr val="FFFFFF"/>
                </a:highlight>
                <a:latin typeface="Times New Roman"/>
                <a:ea typeface="Times New Roman"/>
                <a:cs typeface="Times New Roman"/>
                <a:sym typeface="Times New Roman"/>
              </a:rPr>
              <a:t>_Click, a web reference should be added to the application. This creates a proxy class transparently, which is used by the btnservice_Click event.</a:t>
            </a:r>
            <a:endParaRPr sz="1800">
              <a:solidFill>
                <a:srgbClr val="171717"/>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13a9ba11011_0_103"/>
          <p:cNvSpPr txBox="1"/>
          <p:nvPr>
            <p:ph type="title"/>
          </p:nvPr>
        </p:nvSpPr>
        <p:spPr>
          <a:xfrm>
            <a:off x="1043490" y="1027664"/>
            <a:ext cx="70248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516" name="Google Shape;516;g13a9ba11011_0_103"/>
          <p:cNvSpPr txBox="1"/>
          <p:nvPr>
            <p:ph idx="1" type="body"/>
          </p:nvPr>
        </p:nvSpPr>
        <p:spPr>
          <a:xfrm>
            <a:off x="1043492" y="2323652"/>
            <a:ext cx="6777300" cy="3509100"/>
          </a:xfrm>
          <a:prstGeom prst="rect">
            <a:avLst/>
          </a:prstGeom>
        </p:spPr>
        <p:txBody>
          <a:bodyPr anchorCtr="0" anchor="t" bIns="45700" lIns="91425" spcFirstLastPara="1" rIns="91425" wrap="square" tIns="45700">
            <a:normAutofit/>
          </a:bodyPr>
          <a:lstStyle/>
          <a:p>
            <a:pPr indent="0" lvl="0" marL="0" rtl="0" algn="just">
              <a:lnSpc>
                <a:spcPct val="160000"/>
              </a:lnSpc>
              <a:spcBef>
                <a:spcPts val="6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Take the following steps for creating the proxy:</a:t>
            </a:r>
            <a:endParaRPr sz="1200">
              <a:solidFill>
                <a:schemeClr val="dk1"/>
              </a:solidFill>
              <a:latin typeface="Times New Roman"/>
              <a:ea typeface="Times New Roman"/>
              <a:cs typeface="Times New Roman"/>
              <a:sym typeface="Times New Roman"/>
            </a:endParaRPr>
          </a:p>
          <a:p>
            <a:pPr indent="0" lvl="0" marL="0" rtl="0" algn="just">
              <a:lnSpc>
                <a:spcPct val="160000"/>
              </a:lnSpc>
              <a:spcBef>
                <a:spcPts val="7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Step (1) : Right click on the web application entry in the Solution Explorer and click on 'Add Web Reference'.</a:t>
            </a:r>
            <a:endParaRPr sz="1200">
              <a:solidFill>
                <a:schemeClr val="dk1"/>
              </a:solidFill>
              <a:latin typeface="Times New Roman"/>
              <a:ea typeface="Times New Roman"/>
              <a:cs typeface="Times New Roman"/>
              <a:sym typeface="Times New Roman"/>
            </a:endParaRPr>
          </a:p>
          <a:p>
            <a:pPr indent="0" lvl="0" marL="0" rtl="0" algn="l">
              <a:spcBef>
                <a:spcPts val="700"/>
              </a:spcBef>
              <a:spcAft>
                <a:spcPts val="0"/>
              </a:spcAft>
              <a:buNone/>
            </a:pPr>
            <a:r>
              <a:rPr lang="en-IN" sz="1200">
                <a:solidFill>
                  <a:schemeClr val="dk1"/>
                </a:solidFill>
                <a:highlight>
                  <a:srgbClr val="FFFFFF"/>
                </a:highlight>
                <a:latin typeface="Times New Roman"/>
                <a:ea typeface="Times New Roman"/>
                <a:cs typeface="Times New Roman"/>
                <a:sym typeface="Times New Roman"/>
              </a:rPr>
              <a:t>Step (2) : Select 'Web Services in this solution'. It returns the StockService reference.</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360"/>
              </a:spcBef>
              <a:spcAft>
                <a:spcPts val="0"/>
              </a:spcAft>
              <a:buNone/>
            </a:pPr>
            <a:r>
              <a:rPr lang="en-IN" sz="1200">
                <a:solidFill>
                  <a:schemeClr val="dk1"/>
                </a:solidFill>
                <a:highlight>
                  <a:srgbClr val="FFFFFF"/>
                </a:highlight>
                <a:latin typeface="Times New Roman"/>
                <a:ea typeface="Times New Roman"/>
                <a:cs typeface="Times New Roman"/>
                <a:sym typeface="Times New Roman"/>
              </a:rPr>
              <a:t>Step (3) : Clicking on the service opens the test web page. By default the proxy created is called 'localhost', you can rename it. Click on 'Add Reference' to add the proxy to the client application.</a:t>
            </a:r>
            <a:endParaRPr sz="1200">
              <a:solidFill>
                <a:schemeClr val="dk1"/>
              </a:solidFill>
              <a:highlight>
                <a:srgbClr val="FFFFFF"/>
              </a:highlight>
              <a:latin typeface="Times New Roman"/>
              <a:ea typeface="Times New Roman"/>
              <a:cs typeface="Times New Roman"/>
              <a:sym typeface="Times New Roman"/>
            </a:endParaRPr>
          </a:p>
          <a:p>
            <a:pPr indent="0" lvl="0" marL="0" rtl="0" algn="just">
              <a:lnSpc>
                <a:spcPct val="160000"/>
              </a:lnSpc>
              <a:spcBef>
                <a:spcPts val="60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Include the proxy in the code behind file by adding:</a:t>
            </a:r>
            <a:endParaRPr sz="1200">
              <a:solidFill>
                <a:schemeClr val="dk1"/>
              </a:solidFill>
              <a:latin typeface="Times New Roman"/>
              <a:ea typeface="Times New Roman"/>
              <a:cs typeface="Times New Roman"/>
              <a:sym typeface="Times New Roman"/>
            </a:endParaRPr>
          </a:p>
          <a:p>
            <a:pPr indent="0" lvl="0" marL="25400" marR="25400" rtl="0" algn="l">
              <a:lnSpc>
                <a:spcPct val="115000"/>
              </a:lnSpc>
              <a:spcBef>
                <a:spcPts val="700"/>
              </a:spcBef>
              <a:spcAft>
                <a:spcPts val="0"/>
              </a:spcAft>
              <a:buClr>
                <a:schemeClr val="dk1"/>
              </a:buClr>
              <a:buSzPts val="1100"/>
              <a:buFont typeface="Arial"/>
              <a:buNone/>
            </a:pPr>
            <a:r>
              <a:rPr lang="en-IN" sz="1150">
                <a:solidFill>
                  <a:srgbClr val="000088"/>
                </a:solidFill>
                <a:highlight>
                  <a:srgbClr val="EEEEEE"/>
                </a:highlight>
                <a:latin typeface="Times New Roman"/>
                <a:ea typeface="Times New Roman"/>
                <a:cs typeface="Times New Roman"/>
                <a:sym typeface="Times New Roman"/>
              </a:rPr>
              <a:t>using</a:t>
            </a:r>
            <a:r>
              <a:rPr lang="en-IN" sz="1150">
                <a:solidFill>
                  <a:schemeClr val="dk1"/>
                </a:solidFill>
                <a:highlight>
                  <a:srgbClr val="EEEEEE"/>
                </a:highlight>
                <a:latin typeface="Times New Roman"/>
                <a:ea typeface="Times New Roman"/>
                <a:cs typeface="Times New Roman"/>
                <a:sym typeface="Times New Roman"/>
              </a:rPr>
              <a:t> localhost</a:t>
            </a:r>
            <a:r>
              <a:rPr lang="en-IN" sz="1150">
                <a:solidFill>
                  <a:srgbClr val="666600"/>
                </a:solidFill>
                <a:highlight>
                  <a:srgbClr val="EEEEEE"/>
                </a:highlight>
                <a:latin typeface="Times New Roman"/>
                <a:ea typeface="Times New Roman"/>
                <a:cs typeface="Times New Roman"/>
                <a:sym typeface="Times New Roman"/>
              </a:rPr>
              <a:t>;</a:t>
            </a:r>
            <a:endParaRPr sz="1150">
              <a:solidFill>
                <a:srgbClr val="666600"/>
              </a:solidFill>
              <a:highlight>
                <a:srgbClr val="EEEEEE"/>
              </a:highlight>
              <a:latin typeface="Times New Roman"/>
              <a:ea typeface="Times New Roman"/>
              <a:cs typeface="Times New Roman"/>
              <a:sym typeface="Times New Roman"/>
            </a:endParaRPr>
          </a:p>
          <a:p>
            <a:pPr indent="0" lvl="0" marL="0" rtl="0" algn="l">
              <a:spcBef>
                <a:spcPts val="360"/>
              </a:spcBef>
              <a:spcAft>
                <a:spcPts val="0"/>
              </a:spcAft>
              <a:buNone/>
            </a:pPr>
            <a:r>
              <a:t/>
            </a:r>
            <a:endParaRPr sz="1200">
              <a:solidFill>
                <a:schemeClr val="dk1"/>
              </a:solidFill>
              <a:highlight>
                <a:srgbClr val="FFFFFF"/>
              </a:highlight>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Vaishali</dc:creator>
</cp:coreProperties>
</file>