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59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7/22/2021</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pPr/>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7/22/2021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7/22/2021</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7/22/2021</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33365" y="2362200"/>
            <a:ext cx="3313355" cy="3505200"/>
          </a:xfrm>
        </p:spPr>
        <p:txBody>
          <a:bodyPr/>
          <a:lstStyle/>
          <a:p>
            <a:r>
              <a:rPr lang="en-US" b="1" dirty="0">
                <a:latin typeface="Times New Roman" pitchFamily="18" charset="0"/>
                <a:cs typeface="Times New Roman" pitchFamily="18" charset="0"/>
              </a:rPr>
              <a:t>Module-VI</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ASP.NET MVC</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34083379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r>
              <a:rPr lang="en-IN" b="1" dirty="0" smtClean="0">
                <a:latin typeface="Times New Roman" pitchFamily="18" charset="0"/>
                <a:cs typeface="Times New Roman" pitchFamily="18" charset="0"/>
              </a:rPr>
              <a:t>Model-View-Controlle</a:t>
            </a:r>
            <a:r>
              <a:rPr lang="en-IN" dirty="0" smtClean="0"/>
              <a:t>r</a:t>
            </a:r>
            <a:endParaRPr lang="en-IN" dirty="0"/>
          </a:p>
        </p:txBody>
      </p:sp>
      <p:sp>
        <p:nvSpPr>
          <p:cNvPr id="3" name="Content Placeholder 2"/>
          <p:cNvSpPr>
            <a:spLocks noGrp="1"/>
          </p:cNvSpPr>
          <p:nvPr>
            <p:ph idx="1"/>
          </p:nvPr>
        </p:nvSpPr>
        <p:spPr>
          <a:xfrm>
            <a:off x="533400" y="1371600"/>
            <a:ext cx="8153400" cy="5105400"/>
          </a:xfrm>
        </p:spPr>
        <p:txBody>
          <a:bodyPr>
            <a:normAutofit/>
          </a:bodyPr>
          <a:lstStyle/>
          <a:p>
            <a:pPr marL="68580" indent="0">
              <a:buNone/>
            </a:pPr>
            <a:r>
              <a:rPr lang="en-US" b="1" dirty="0" smtClean="0">
                <a:solidFill>
                  <a:srgbClr val="FF0000"/>
                </a:solidFill>
                <a:latin typeface="Times New Roman" pitchFamily="18" charset="0"/>
                <a:cs typeface="Times New Roman" pitchFamily="18" charset="0"/>
              </a:rPr>
              <a:t>1) Model</a:t>
            </a:r>
            <a:endParaRPr lang="en-US" b="1" dirty="0" smtClean="0">
              <a:solidFill>
                <a:srgbClr val="FF0000"/>
              </a:solidFill>
              <a:latin typeface="Times New Roman" pitchFamily="18" charset="0"/>
              <a:cs typeface="Times New Roman" pitchFamily="18" charset="0"/>
            </a:endParaRPr>
          </a:p>
          <a:p>
            <a:pPr marL="68580" indent="0">
              <a:buNone/>
            </a:pPr>
            <a:r>
              <a:rPr lang="en-IN" sz="1600" dirty="0">
                <a:solidFill>
                  <a:schemeClr val="tx1"/>
                </a:solidFill>
                <a:latin typeface="Times New Roman" pitchFamily="18" charset="0"/>
                <a:cs typeface="Times New Roman" pitchFamily="18" charset="0"/>
              </a:rPr>
              <a:t>The model component stores data and its related logic. It represents data that is being transferred between controller components or any other related business logic. For example, a Controller object will retrieve the customer info from the database. It manipulates data and send back to the database or use it to render the same data</a:t>
            </a:r>
            <a:r>
              <a:rPr lang="en-IN" sz="1600" dirty="0" smtClean="0">
                <a:solidFill>
                  <a:schemeClr val="tx1"/>
                </a:solidFill>
                <a:latin typeface="Times New Roman" pitchFamily="18" charset="0"/>
                <a:cs typeface="Times New Roman" pitchFamily="18" charset="0"/>
              </a:rPr>
              <a:t>.</a:t>
            </a:r>
          </a:p>
          <a:p>
            <a:pPr marL="68580" indent="0">
              <a:buNone/>
            </a:pPr>
            <a:endParaRPr lang="en-US" sz="1600" dirty="0">
              <a:solidFill>
                <a:schemeClr val="tx1"/>
              </a:solidFill>
              <a:latin typeface="Times New Roman" pitchFamily="18" charset="0"/>
              <a:cs typeface="Times New Roman" pitchFamily="18" charset="0"/>
            </a:endParaRPr>
          </a:p>
          <a:p>
            <a:pPr marL="68580" indent="0">
              <a:buNone/>
            </a:pPr>
            <a:r>
              <a:rPr lang="en-IN" sz="1600" dirty="0">
                <a:solidFill>
                  <a:schemeClr val="tx1"/>
                </a:solidFill>
                <a:latin typeface="Times New Roman" pitchFamily="18" charset="0"/>
                <a:cs typeface="Times New Roman" pitchFamily="18" charset="0"/>
              </a:rPr>
              <a:t>It responds to the request from the views and also responds to instructions from the controller to update itself. It is also the lowest level of the pattern which is responsible for maintaining data</a:t>
            </a:r>
            <a:r>
              <a:rPr lang="en-IN" sz="2000" dirty="0" smtClean="0">
                <a:solidFill>
                  <a:schemeClr val="tx1"/>
                </a:solidFill>
                <a:latin typeface="Times New Roman" pitchFamily="18" charset="0"/>
                <a:cs typeface="Times New Roman" pitchFamily="18" charset="0"/>
              </a:rPr>
              <a:t>.</a:t>
            </a:r>
          </a:p>
          <a:p>
            <a:pPr marL="68580" indent="0">
              <a:buNone/>
            </a:pPr>
            <a:r>
              <a:rPr lang="en-US" b="1" dirty="0" smtClean="0">
                <a:solidFill>
                  <a:srgbClr val="FF0000"/>
                </a:solidFill>
                <a:latin typeface="Times New Roman" pitchFamily="18" charset="0"/>
                <a:cs typeface="Times New Roman" pitchFamily="18" charset="0"/>
              </a:rPr>
              <a:t>2) View  </a:t>
            </a:r>
          </a:p>
          <a:p>
            <a:pPr marL="68580" indent="0">
              <a:buNone/>
            </a:pPr>
            <a:r>
              <a:rPr lang="en-IN" sz="1600" dirty="0">
                <a:solidFill>
                  <a:schemeClr val="tx1"/>
                </a:solidFill>
                <a:latin typeface="Times New Roman" pitchFamily="18" charset="0"/>
                <a:cs typeface="Times New Roman" pitchFamily="18" charset="0"/>
              </a:rPr>
              <a:t>A View is that part of the application that represents the presentation of data.</a:t>
            </a:r>
          </a:p>
          <a:p>
            <a:pPr marL="68580" indent="0">
              <a:buNone/>
            </a:pPr>
            <a:endParaRPr lang="en-IN" sz="1600" dirty="0">
              <a:solidFill>
                <a:schemeClr val="tx1"/>
              </a:solidFill>
              <a:latin typeface="Times New Roman" pitchFamily="18" charset="0"/>
              <a:cs typeface="Times New Roman" pitchFamily="18" charset="0"/>
            </a:endParaRPr>
          </a:p>
          <a:p>
            <a:pPr marL="68580" indent="0">
              <a:buNone/>
            </a:pPr>
            <a:r>
              <a:rPr lang="en-IN" sz="1600" dirty="0">
                <a:solidFill>
                  <a:schemeClr val="tx1"/>
                </a:solidFill>
                <a:latin typeface="Times New Roman" pitchFamily="18" charset="0"/>
                <a:cs typeface="Times New Roman" pitchFamily="18" charset="0"/>
              </a:rPr>
              <a:t>Views are created by the data collected from the model data. A view requests the model to give information so that it resents the output presentation to the user.</a:t>
            </a:r>
          </a:p>
          <a:p>
            <a:pPr marL="68580" indent="0">
              <a:buNone/>
            </a:pPr>
            <a:endParaRPr lang="en-IN" sz="1600" dirty="0">
              <a:solidFill>
                <a:schemeClr val="tx1"/>
              </a:solidFill>
              <a:latin typeface="Times New Roman" pitchFamily="18" charset="0"/>
              <a:cs typeface="Times New Roman" pitchFamily="18" charset="0"/>
            </a:endParaRPr>
          </a:p>
          <a:p>
            <a:pPr marL="68580" indent="0">
              <a:buNone/>
            </a:pPr>
            <a:r>
              <a:rPr lang="en-IN" sz="1600" dirty="0">
                <a:solidFill>
                  <a:schemeClr val="tx1"/>
                </a:solidFill>
                <a:latin typeface="Times New Roman" pitchFamily="18" charset="0"/>
                <a:cs typeface="Times New Roman" pitchFamily="18" charset="0"/>
              </a:rPr>
              <a:t>The view also represents the data from chats, diagrams, and table. For example, any customer view will include all the UI components like text boxes, drop downs, etc.</a:t>
            </a:r>
          </a:p>
        </p:txBody>
      </p:sp>
    </p:spTree>
    <p:extLst>
      <p:ext uri="{BB962C8B-B14F-4D97-AF65-F5344CB8AC3E}">
        <p14:creationId xmlns:p14="http://schemas.microsoft.com/office/powerpoint/2010/main" val="37477334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09600"/>
            <a:ext cx="8077200" cy="5791200"/>
          </a:xfrm>
        </p:spPr>
        <p:txBody>
          <a:bodyPr/>
          <a:lstStyle/>
          <a:p>
            <a:pPr marL="68580" indent="0">
              <a:buNone/>
            </a:pPr>
            <a:r>
              <a:rPr lang="en-US" b="1" dirty="0" smtClean="0">
                <a:solidFill>
                  <a:srgbClr val="FF0000"/>
                </a:solidFill>
                <a:latin typeface="Times New Roman" pitchFamily="18" charset="0"/>
                <a:cs typeface="Times New Roman" pitchFamily="18" charset="0"/>
              </a:rPr>
              <a:t>3) Controller</a:t>
            </a:r>
          </a:p>
          <a:p>
            <a:pPr marL="68580" indent="0">
              <a:buNone/>
            </a:pPr>
            <a:r>
              <a:rPr lang="en-IN" sz="1600" dirty="0">
                <a:solidFill>
                  <a:schemeClr val="tx1"/>
                </a:solidFill>
                <a:latin typeface="Times New Roman" pitchFamily="18" charset="0"/>
                <a:cs typeface="Times New Roman" pitchFamily="18" charset="0"/>
              </a:rPr>
              <a:t>The Controller is that part of the application that handles the user interaction</a:t>
            </a:r>
            <a:r>
              <a:rPr lang="en-IN" sz="1600" dirty="0" smtClean="0">
                <a:solidFill>
                  <a:schemeClr val="tx1"/>
                </a:solidFill>
                <a:latin typeface="Times New Roman" pitchFamily="18" charset="0"/>
                <a:cs typeface="Times New Roman" pitchFamily="18" charset="0"/>
              </a:rPr>
              <a:t>.</a:t>
            </a:r>
          </a:p>
          <a:p>
            <a:pPr marL="68580" indent="0">
              <a:buNone/>
            </a:pPr>
            <a:r>
              <a:rPr lang="en-IN" sz="1600" dirty="0">
                <a:solidFill>
                  <a:schemeClr val="tx1"/>
                </a:solidFill>
                <a:latin typeface="Times New Roman" pitchFamily="18" charset="0"/>
                <a:cs typeface="Times New Roman" pitchFamily="18" charset="0"/>
              </a:rPr>
              <a:t>A Controller send's commands to the model to update its state(E.g., Saving a specific document). The controller also sends commands to its associated view to change the view's presentation (For example scrolling a particular document</a:t>
            </a:r>
            <a:r>
              <a:rPr lang="en-IN" sz="1600" dirty="0" smtClean="0">
                <a:solidFill>
                  <a:schemeClr val="tx1"/>
                </a:solidFill>
                <a:latin typeface="Times New Roman" pitchFamily="18" charset="0"/>
                <a:cs typeface="Times New Roman" pitchFamily="18" charset="0"/>
              </a:rPr>
              <a:t>).</a:t>
            </a:r>
          </a:p>
          <a:p>
            <a:pPr marL="68580" indent="0">
              <a:buNone/>
            </a:pPr>
            <a:endParaRPr lang="en-IN" sz="16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514600"/>
            <a:ext cx="6858000" cy="2949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78897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382000" cy="914400"/>
          </a:xfrm>
        </p:spPr>
        <p:txBody>
          <a:bodyPr/>
          <a:lstStyle/>
          <a:p>
            <a:r>
              <a:rPr lang="en-US" b="1" dirty="0" smtClean="0">
                <a:latin typeface="Times New Roman" pitchFamily="18" charset="0"/>
                <a:cs typeface="Times New Roman" pitchFamily="18" charset="0"/>
              </a:rPr>
              <a:t>ASP.NET MVC</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153400" cy="5562600"/>
          </a:xfrm>
        </p:spPr>
        <p:txBody>
          <a:bodyPr>
            <a:normAutofit/>
          </a:bodyPr>
          <a:lstStyle/>
          <a:p>
            <a:pPr marL="68580" indent="0">
              <a:buNone/>
            </a:pPr>
            <a:r>
              <a:rPr lang="en-US" b="1" dirty="0" smtClean="0">
                <a:solidFill>
                  <a:srgbClr val="FF0000"/>
                </a:solidFill>
                <a:latin typeface="Times New Roman" pitchFamily="18" charset="0"/>
                <a:cs typeface="Times New Roman" pitchFamily="18" charset="0"/>
              </a:rPr>
              <a:t>MVC Pattern</a:t>
            </a:r>
          </a:p>
          <a:p>
            <a:pPr marL="68580" indent="0">
              <a:buNone/>
            </a:pPr>
            <a:r>
              <a:rPr lang="en-IN" sz="1400" dirty="0">
                <a:solidFill>
                  <a:schemeClr val="tx1"/>
                </a:solidFill>
                <a:latin typeface="Times New Roman" pitchFamily="18" charset="0"/>
                <a:cs typeface="Times New Roman" pitchFamily="18" charset="0"/>
              </a:rPr>
              <a:t>Normally a user interacts with the view and performs some action on the screen. A request is generated from the view which is handled by the controller. Controller is actually responsible for handling http request. Suppose our application has been hosted on ‘</a:t>
            </a:r>
            <a:r>
              <a:rPr lang="en-IN" sz="1400" dirty="0" err="1">
                <a:solidFill>
                  <a:schemeClr val="tx1"/>
                </a:solidFill>
                <a:latin typeface="Times New Roman" pitchFamily="18" charset="0"/>
                <a:cs typeface="Times New Roman" pitchFamily="18" charset="0"/>
              </a:rPr>
              <a:t>localhost</a:t>
            </a:r>
            <a:r>
              <a:rPr lang="en-IN" sz="1400" dirty="0">
                <a:solidFill>
                  <a:schemeClr val="tx1"/>
                </a:solidFill>
                <a:latin typeface="Times New Roman" pitchFamily="18" charset="0"/>
                <a:cs typeface="Times New Roman" pitchFamily="18" charset="0"/>
              </a:rPr>
              <a:t>’ domain and when we send the request to</a:t>
            </a:r>
          </a:p>
          <a:p>
            <a:pPr marL="68580" indent="0">
              <a:buNone/>
            </a:pPr>
            <a:endParaRPr lang="en-IN" sz="1400" dirty="0">
              <a:solidFill>
                <a:schemeClr val="tx1"/>
              </a:solidFill>
              <a:latin typeface="Times New Roman" pitchFamily="18" charset="0"/>
              <a:cs typeface="Times New Roman" pitchFamily="18" charset="0"/>
            </a:endParaRPr>
          </a:p>
          <a:p>
            <a:pPr marL="68580" indent="0">
              <a:buNone/>
            </a:pPr>
            <a:r>
              <a:rPr lang="en-IN" sz="1400" dirty="0">
                <a:solidFill>
                  <a:schemeClr val="tx1"/>
                </a:solidFill>
                <a:latin typeface="Times New Roman" pitchFamily="18" charset="0"/>
                <a:cs typeface="Times New Roman" pitchFamily="18" charset="0"/>
              </a:rPr>
              <a:t>http://localhost:53456/students</a:t>
            </a:r>
          </a:p>
          <a:p>
            <a:pPr marL="68580" indent="0">
              <a:buNone/>
            </a:pPr>
            <a:endParaRPr lang="en-IN" sz="1400" dirty="0">
              <a:solidFill>
                <a:schemeClr val="tx1"/>
              </a:solidFill>
              <a:latin typeface="Times New Roman" pitchFamily="18" charset="0"/>
              <a:cs typeface="Times New Roman" pitchFamily="18" charset="0"/>
            </a:endParaRPr>
          </a:p>
          <a:p>
            <a:pPr marL="68580" indent="0">
              <a:buNone/>
            </a:pPr>
            <a:r>
              <a:rPr lang="en-IN" sz="1400" dirty="0">
                <a:solidFill>
                  <a:schemeClr val="tx1"/>
                </a:solidFill>
                <a:latin typeface="Times New Roman" pitchFamily="18" charset="0"/>
                <a:cs typeface="Times New Roman" pitchFamily="18" charset="0"/>
              </a:rPr>
              <a:t>a controller will be selected to handle this request. This controller will get all the students from the database and put them into the view and return the view to the client into the browser</a:t>
            </a:r>
            <a:r>
              <a:rPr lang="en-IN" sz="1400" dirty="0" smtClean="0">
                <a:solidFill>
                  <a:schemeClr val="tx1"/>
                </a:solidFill>
                <a:latin typeface="Times New Roman" pitchFamily="18" charset="0"/>
                <a:cs typeface="Times New Roman" pitchFamily="18" charset="0"/>
              </a:rPr>
              <a:t>.</a:t>
            </a:r>
          </a:p>
          <a:p>
            <a:pPr marL="68580" indent="0">
              <a:buNone/>
            </a:pPr>
            <a:r>
              <a:rPr lang="en-IN" sz="1400" dirty="0">
                <a:solidFill>
                  <a:schemeClr val="tx1"/>
                </a:solidFill>
                <a:latin typeface="Times New Roman" pitchFamily="18" charset="0"/>
                <a:cs typeface="Times New Roman" pitchFamily="18" charset="0"/>
              </a:rPr>
              <a:t>We’ve already discussed that when the request comes in then controller handles the request. But there are multiple controllers in the application and it is the responsibility of the Router to match the requested URL from their routes and request a right controller to handle that request.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962400"/>
            <a:ext cx="3829050" cy="204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59105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077200" cy="838200"/>
          </a:xfrm>
        </p:spPr>
        <p:txBody>
          <a:bodyPr/>
          <a:lstStyle/>
          <a:p>
            <a:r>
              <a:rPr lang="en-US" b="1" dirty="0" smtClean="0">
                <a:latin typeface="Times New Roman" pitchFamily="18" charset="0"/>
                <a:cs typeface="Times New Roman" pitchFamily="18" charset="0"/>
              </a:rPr>
              <a:t>HTML helper Methods</a:t>
            </a:r>
            <a:endParaRPr lang="en-IN" b="1"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46143537"/>
              </p:ext>
            </p:extLst>
          </p:nvPr>
        </p:nvGraphicFramePr>
        <p:xfrm>
          <a:off x="533400" y="838200"/>
          <a:ext cx="7996238" cy="6217920"/>
        </p:xfrm>
        <a:graphic>
          <a:graphicData uri="http://schemas.openxmlformats.org/drawingml/2006/table">
            <a:tbl>
              <a:tblPr firstRow="1" bandRow="1">
                <a:tableStyleId>{5C22544A-7EE6-4342-B048-85BDC9FD1C3A}</a:tableStyleId>
              </a:tblPr>
              <a:tblGrid>
                <a:gridCol w="1916174"/>
                <a:gridCol w="6080064"/>
              </a:tblGrid>
              <a:tr h="394789">
                <a:tc>
                  <a:txBody>
                    <a:bodyPr/>
                    <a:lstStyle/>
                    <a:p>
                      <a:r>
                        <a:rPr lang="en-IN" dirty="0" smtClean="0">
                          <a:solidFill>
                            <a:srgbClr val="FF0000"/>
                          </a:solidFill>
                        </a:rPr>
                        <a:t>HTML Element</a:t>
                      </a:r>
                      <a:endParaRPr lang="en-IN" dirty="0">
                        <a:solidFill>
                          <a:srgbClr val="FF0000"/>
                        </a:solidFill>
                      </a:endParaRPr>
                    </a:p>
                  </a:txBody>
                  <a:tcPr/>
                </a:tc>
                <a:tc>
                  <a:txBody>
                    <a:bodyPr/>
                    <a:lstStyle/>
                    <a:p>
                      <a:r>
                        <a:rPr lang="en-IN" dirty="0" smtClean="0">
                          <a:solidFill>
                            <a:srgbClr val="FF0000"/>
                          </a:solidFill>
                        </a:rPr>
                        <a:t>Example</a:t>
                      </a:r>
                      <a:endParaRPr lang="en-IN" dirty="0">
                        <a:solidFill>
                          <a:srgbClr val="FF0000"/>
                        </a:solidFill>
                      </a:endParaRPr>
                    </a:p>
                  </a:txBody>
                  <a:tcPr/>
                </a:tc>
              </a:tr>
              <a:tr h="986971">
                <a:tc>
                  <a:txBody>
                    <a:bodyPr/>
                    <a:lstStyle/>
                    <a:p>
                      <a:r>
                        <a:rPr lang="en-IN" dirty="0" err="1" smtClean="0"/>
                        <a:t>TextBox</a:t>
                      </a:r>
                      <a:endParaRPr lang="en-IN" dirty="0"/>
                    </a:p>
                  </a:txBody>
                  <a:tcPr/>
                </a:tc>
                <a:tc>
                  <a:txBody>
                    <a:bodyPr/>
                    <a:lstStyle/>
                    <a:p>
                      <a:r>
                        <a:rPr lang="en-IN" dirty="0" smtClean="0"/>
                        <a:t>@</a:t>
                      </a:r>
                      <a:r>
                        <a:rPr lang="en-IN" dirty="0" err="1" smtClean="0"/>
                        <a:t>Html.TextBox</a:t>
                      </a:r>
                      <a:r>
                        <a:rPr lang="en-IN" dirty="0" smtClean="0"/>
                        <a:t>("Textbox1", "</a:t>
                      </a:r>
                      <a:r>
                        <a:rPr lang="en-IN" dirty="0" err="1" smtClean="0"/>
                        <a:t>val</a:t>
                      </a:r>
                      <a:r>
                        <a:rPr lang="en-IN" dirty="0" smtClean="0"/>
                        <a:t>") </a:t>
                      </a:r>
                    </a:p>
                    <a:p>
                      <a:r>
                        <a:rPr lang="en-IN" dirty="0" smtClean="0"/>
                        <a:t>Output: &lt;input id="Textbox1" name="Textbox1" type="text" value="</a:t>
                      </a:r>
                      <a:r>
                        <a:rPr lang="en-IN" dirty="0" err="1" smtClean="0"/>
                        <a:t>val</a:t>
                      </a:r>
                      <a:r>
                        <a:rPr lang="en-IN" dirty="0" smtClean="0"/>
                        <a:t>" /&gt;</a:t>
                      </a:r>
                      <a:endParaRPr lang="en-IN" dirty="0"/>
                    </a:p>
                  </a:txBody>
                  <a:tcPr/>
                </a:tc>
              </a:tr>
              <a:tr h="1283063">
                <a:tc>
                  <a:txBody>
                    <a:bodyPr/>
                    <a:lstStyle/>
                    <a:p>
                      <a:r>
                        <a:rPr lang="en-IN" dirty="0" err="1" smtClean="0"/>
                        <a:t>CheckBox</a:t>
                      </a:r>
                      <a:endParaRPr lang="en-IN" dirty="0"/>
                    </a:p>
                  </a:txBody>
                  <a:tcPr/>
                </a:tc>
                <a:tc>
                  <a:txBody>
                    <a:bodyPr/>
                    <a:lstStyle/>
                    <a:p>
                      <a:r>
                        <a:rPr lang="en-IN" dirty="0" smtClean="0"/>
                        <a:t>@</a:t>
                      </a:r>
                      <a:r>
                        <a:rPr lang="en-IN" dirty="0" err="1" smtClean="0"/>
                        <a:t>Html.CheckBox</a:t>
                      </a:r>
                      <a:r>
                        <a:rPr lang="en-IN" dirty="0" smtClean="0"/>
                        <a:t>("Checkbox1", false) </a:t>
                      </a:r>
                    </a:p>
                    <a:p>
                      <a:r>
                        <a:rPr lang="en-IN" dirty="0" smtClean="0"/>
                        <a:t>Output: &lt;input id="Checkbox1" name="Checkbox1" type="checkbox" value="true" /&gt; &lt;input name="</a:t>
                      </a:r>
                      <a:r>
                        <a:rPr lang="en-IN" dirty="0" err="1" smtClean="0"/>
                        <a:t>myCheckbox</a:t>
                      </a:r>
                      <a:r>
                        <a:rPr lang="en-IN" dirty="0" smtClean="0"/>
                        <a:t>" type="hidden" value="false" /&gt;</a:t>
                      </a:r>
                      <a:endParaRPr lang="en-IN" dirty="0"/>
                    </a:p>
                  </a:txBody>
                  <a:tcPr/>
                </a:tc>
              </a:tr>
              <a:tr h="1283063">
                <a:tc>
                  <a:txBody>
                    <a:bodyPr/>
                    <a:lstStyle/>
                    <a:p>
                      <a:r>
                        <a:rPr lang="en-IN" dirty="0" err="1" smtClean="0"/>
                        <a:t>RadioButton</a:t>
                      </a:r>
                      <a:endParaRPr lang="en-IN" dirty="0"/>
                    </a:p>
                  </a:txBody>
                  <a:tcPr/>
                </a:tc>
                <a:tc>
                  <a:txBody>
                    <a:bodyPr/>
                    <a:lstStyle/>
                    <a:p>
                      <a:r>
                        <a:rPr lang="en-IN" dirty="0" smtClean="0"/>
                        <a:t>@</a:t>
                      </a:r>
                      <a:r>
                        <a:rPr lang="en-IN" dirty="0" err="1" smtClean="0"/>
                        <a:t>Html.RadioButton</a:t>
                      </a:r>
                      <a:r>
                        <a:rPr lang="en-IN" dirty="0" smtClean="0"/>
                        <a:t>("Radiobutton1", "</a:t>
                      </a:r>
                      <a:r>
                        <a:rPr lang="en-IN" dirty="0" err="1" smtClean="0"/>
                        <a:t>val</a:t>
                      </a:r>
                      <a:r>
                        <a:rPr lang="en-IN" dirty="0" smtClean="0"/>
                        <a:t>", true) Output: &lt;input checked="checked" id="Radiobutton1" name="Radiobutton1" type="radio" value="</a:t>
                      </a:r>
                      <a:r>
                        <a:rPr lang="en-IN" dirty="0" err="1" smtClean="0"/>
                        <a:t>val</a:t>
                      </a:r>
                      <a:r>
                        <a:rPr lang="en-IN" dirty="0" smtClean="0"/>
                        <a:t>" /&gt;</a:t>
                      </a:r>
                      <a:endParaRPr lang="en-IN" dirty="0"/>
                    </a:p>
                  </a:txBody>
                  <a:tcPr/>
                </a:tc>
              </a:tr>
              <a:tr h="986971">
                <a:tc>
                  <a:txBody>
                    <a:bodyPr/>
                    <a:lstStyle/>
                    <a:p>
                      <a:r>
                        <a:rPr lang="en-IN" dirty="0" err="1" smtClean="0"/>
                        <a:t>TextArea</a:t>
                      </a:r>
                      <a:endParaRPr lang="en-IN" dirty="0"/>
                    </a:p>
                  </a:txBody>
                  <a:tcPr/>
                </a:tc>
                <a:tc>
                  <a:txBody>
                    <a:bodyPr/>
                    <a:lstStyle/>
                    <a:p>
                      <a:r>
                        <a:rPr lang="en-IN" dirty="0" smtClean="0"/>
                        <a:t>@</a:t>
                      </a:r>
                      <a:r>
                        <a:rPr lang="en-IN" dirty="0" err="1" smtClean="0"/>
                        <a:t>Html.TextArea</a:t>
                      </a:r>
                      <a:r>
                        <a:rPr lang="en-IN" dirty="0" smtClean="0"/>
                        <a:t>("Textarea1", "</a:t>
                      </a:r>
                      <a:r>
                        <a:rPr lang="en-IN" dirty="0" err="1" smtClean="0"/>
                        <a:t>val</a:t>
                      </a:r>
                      <a:r>
                        <a:rPr lang="en-IN" dirty="0" smtClean="0"/>
                        <a:t>", 5, 15, null) </a:t>
                      </a:r>
                    </a:p>
                    <a:p>
                      <a:r>
                        <a:rPr lang="en-IN" dirty="0" smtClean="0"/>
                        <a:t>Output: &lt;</a:t>
                      </a:r>
                      <a:r>
                        <a:rPr lang="en-IN" dirty="0" err="1" smtClean="0"/>
                        <a:t>textarea</a:t>
                      </a:r>
                      <a:r>
                        <a:rPr lang="en-IN" dirty="0" smtClean="0"/>
                        <a:t> cols="15" id="Textarea1" name="Textarea1" rows="5"&gt;</a:t>
                      </a:r>
                      <a:r>
                        <a:rPr lang="en-IN" dirty="0" err="1" smtClean="0"/>
                        <a:t>val</a:t>
                      </a:r>
                      <a:r>
                        <a:rPr lang="en-IN" dirty="0" smtClean="0"/>
                        <a:t>&lt;/</a:t>
                      </a:r>
                      <a:r>
                        <a:rPr lang="en-IN" dirty="0" err="1" smtClean="0"/>
                        <a:t>textarea</a:t>
                      </a:r>
                      <a:r>
                        <a:rPr lang="en-IN" dirty="0" smtClean="0"/>
                        <a:t>&gt;</a:t>
                      </a:r>
                      <a:endParaRPr lang="en-IN" dirty="0"/>
                    </a:p>
                  </a:txBody>
                  <a:tcPr/>
                </a:tc>
              </a:tr>
              <a:tr h="1283063">
                <a:tc>
                  <a:txBody>
                    <a:bodyPr/>
                    <a:lstStyle/>
                    <a:p>
                      <a:r>
                        <a:rPr lang="en-IN" dirty="0" smtClean="0"/>
                        <a:t>Drop-down list</a:t>
                      </a:r>
                      <a:endParaRPr lang="en-IN" dirty="0"/>
                    </a:p>
                  </a:txBody>
                  <a:tcPr/>
                </a:tc>
                <a:tc>
                  <a:txBody>
                    <a:bodyPr/>
                    <a:lstStyle/>
                    <a:p>
                      <a:r>
                        <a:rPr lang="en-IN" dirty="0" smtClean="0"/>
                        <a:t>@</a:t>
                      </a:r>
                      <a:r>
                        <a:rPr lang="en-IN" dirty="0" err="1" smtClean="0"/>
                        <a:t>Html.DropDownList</a:t>
                      </a:r>
                      <a:r>
                        <a:rPr lang="en-IN" dirty="0" smtClean="0"/>
                        <a:t> (“DropDownList1”, new </a:t>
                      </a:r>
                      <a:r>
                        <a:rPr lang="en-IN" dirty="0" err="1" smtClean="0"/>
                        <a:t>SelectList</a:t>
                      </a:r>
                      <a:r>
                        <a:rPr lang="en-IN" dirty="0" smtClean="0"/>
                        <a:t>(new [] {"Male", "Female"})) Output: &lt;select id="DropDownList1" name="DropDownList1"&gt; &lt;option&gt;M&lt;/option&gt; &lt;option&gt;F&lt;/option&gt; &lt;/select&gt;</a:t>
                      </a:r>
                      <a:endParaRPr lang="en-IN" dirty="0"/>
                    </a:p>
                  </a:txBody>
                  <a:tcPr/>
                </a:tc>
              </a:tr>
            </a:tbl>
          </a:graphicData>
        </a:graphic>
      </p:graphicFrame>
    </p:spTree>
    <p:extLst>
      <p:ext uri="{BB962C8B-B14F-4D97-AF65-F5344CB8AC3E}">
        <p14:creationId xmlns:p14="http://schemas.microsoft.com/office/powerpoint/2010/main" val="392110370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191</TotalTime>
  <Words>586</Words>
  <Application>Microsoft Office PowerPoint</Application>
  <PresentationFormat>On-screen Show (4:3)</PresentationFormat>
  <Paragraphs>39</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Austin</vt:lpstr>
      <vt:lpstr>Module-VI ASP.NET MVC</vt:lpstr>
      <vt:lpstr>Model-View-Controller</vt:lpstr>
      <vt:lpstr>PowerPoint Presentation</vt:lpstr>
      <vt:lpstr>ASP.NET MVC</vt:lpstr>
      <vt:lpstr>HTML helper Methods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Module-VI ASP.NET MVC</dc:title>
  <dc:creator>Vaishali</dc:creator>
  <cp:lastModifiedBy>Vaishali</cp:lastModifiedBy>
  <cp:revision>5</cp:revision>
  <dcterms:created xsi:type="dcterms:W3CDTF">2006-08-16T00:00:00Z</dcterms:created>
  <dcterms:modified xsi:type="dcterms:W3CDTF">2021-07-22T11:56:51Z</dcterms:modified>
</cp:coreProperties>
</file>